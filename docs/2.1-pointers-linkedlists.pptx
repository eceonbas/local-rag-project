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54"/>
  </p:notesMasterIdLst>
  <p:handoutMasterIdLst>
    <p:handoutMasterId r:id="rId55"/>
  </p:handoutMasterIdLst>
  <p:sldIdLst>
    <p:sldId id="612" r:id="rId2"/>
    <p:sldId id="679" r:id="rId3"/>
    <p:sldId id="616" r:id="rId4"/>
    <p:sldId id="678" r:id="rId5"/>
    <p:sldId id="676" r:id="rId6"/>
    <p:sldId id="613" r:id="rId7"/>
    <p:sldId id="690" r:id="rId8"/>
    <p:sldId id="614" r:id="rId9"/>
    <p:sldId id="680" r:id="rId10"/>
    <p:sldId id="681" r:id="rId11"/>
    <p:sldId id="687" r:id="rId12"/>
    <p:sldId id="615" r:id="rId13"/>
    <p:sldId id="617" r:id="rId14"/>
    <p:sldId id="618" r:id="rId15"/>
    <p:sldId id="688" r:id="rId16"/>
    <p:sldId id="691" r:id="rId17"/>
    <p:sldId id="692" r:id="rId18"/>
    <p:sldId id="693" r:id="rId19"/>
    <p:sldId id="694" r:id="rId20"/>
    <p:sldId id="695" r:id="rId21"/>
    <p:sldId id="696" r:id="rId22"/>
    <p:sldId id="697" r:id="rId23"/>
    <p:sldId id="698" r:id="rId24"/>
    <p:sldId id="699" r:id="rId25"/>
    <p:sldId id="700" r:id="rId26"/>
    <p:sldId id="701" r:id="rId27"/>
    <p:sldId id="702" r:id="rId28"/>
    <p:sldId id="703" r:id="rId29"/>
    <p:sldId id="704" r:id="rId30"/>
    <p:sldId id="705" r:id="rId31"/>
    <p:sldId id="706" r:id="rId32"/>
    <p:sldId id="707" r:id="rId33"/>
    <p:sldId id="708" r:id="rId34"/>
    <p:sldId id="709" r:id="rId35"/>
    <p:sldId id="710" r:id="rId36"/>
    <p:sldId id="711" r:id="rId37"/>
    <p:sldId id="712" r:id="rId38"/>
    <p:sldId id="713" r:id="rId39"/>
    <p:sldId id="714" r:id="rId40"/>
    <p:sldId id="715" r:id="rId41"/>
    <p:sldId id="774" r:id="rId42"/>
    <p:sldId id="776" r:id="rId43"/>
    <p:sldId id="775" r:id="rId44"/>
    <p:sldId id="716" r:id="rId45"/>
    <p:sldId id="717" r:id="rId46"/>
    <p:sldId id="718" r:id="rId47"/>
    <p:sldId id="719" r:id="rId48"/>
    <p:sldId id="720" r:id="rId49"/>
    <p:sldId id="721" r:id="rId50"/>
    <p:sldId id="722" r:id="rId51"/>
    <p:sldId id="723" r:id="rId52"/>
    <p:sldId id="724" r:id="rId53"/>
  </p:sldIdLst>
  <p:sldSz cx="9144000" cy="6858000" type="screen4x3"/>
  <p:notesSz cx="6858000" cy="9117013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CCECFF"/>
    <a:srgbClr val="0000FF"/>
    <a:srgbClr val="0000CC"/>
    <a:srgbClr val="EBE7FF"/>
    <a:srgbClr val="362D6B"/>
    <a:srgbClr val="DC2A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1732" autoAdjust="0"/>
  </p:normalViewPr>
  <p:slideViewPr>
    <p:cSldViewPr>
      <p:cViewPr varScale="1">
        <p:scale>
          <a:sx n="92" d="100"/>
          <a:sy n="92" d="100"/>
        </p:scale>
        <p:origin x="208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257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7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899CAFE-B917-4A28-A2B9-E84CA9558B2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84213"/>
            <a:ext cx="4557712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30700"/>
            <a:ext cx="50292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 smtClean="0"/>
              <a:t>Click to edit Master text styles</a:t>
            </a:r>
          </a:p>
          <a:p>
            <a:pPr lvl="1"/>
            <a:r>
              <a:rPr lang="en-AU" noProof="0" smtClean="0"/>
              <a:t>Second level</a:t>
            </a:r>
          </a:p>
          <a:p>
            <a:pPr lvl="2"/>
            <a:r>
              <a:rPr lang="en-AU" noProof="0" smtClean="0"/>
              <a:t>Third level</a:t>
            </a:r>
          </a:p>
          <a:p>
            <a:pPr lvl="3"/>
            <a:r>
              <a:rPr lang="en-AU" noProof="0" smtClean="0"/>
              <a:t>Fourth level</a:t>
            </a:r>
          </a:p>
          <a:p>
            <a:pPr lvl="4"/>
            <a:r>
              <a:rPr lang="en-AU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5EE3F0B-AB8A-4088-8CA1-EF89A7D77BD7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47C46D-647F-46E7-865B-D8EF526F6063}" type="slidenum">
              <a:rPr lang="en-AU" altLang="tr-TR" sz="1200" smtClean="0"/>
              <a:pPr/>
              <a:t>1</a:t>
            </a:fld>
            <a:endParaRPr lang="en-AU" altLang="tr-TR" sz="1200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39AF28-7743-41E1-8893-3389421DB590}" type="slidenum">
              <a:rPr lang="en-AU" altLang="tr-TR" sz="1200" smtClean="0"/>
              <a:pPr/>
              <a:t>2</a:t>
            </a:fld>
            <a:endParaRPr lang="en-AU" altLang="tr-TR" sz="1200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4F4BBD-7169-47DD-A6E7-5E9651768A00}" type="slidenum">
              <a:rPr lang="en-AU" altLang="tr-TR" sz="1200" smtClean="0"/>
              <a:pPr/>
              <a:t>3</a:t>
            </a:fld>
            <a:endParaRPr lang="en-AU" altLang="tr-TR" sz="1200" smtClean="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594AA4-D42B-41DC-AA0E-59B7F9499386}" type="slidenum">
              <a:rPr lang="en-AU" altLang="tr-TR" sz="1200" smtClean="0"/>
              <a:pPr/>
              <a:t>4</a:t>
            </a:fld>
            <a:endParaRPr lang="en-AU" altLang="tr-TR" sz="1200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04364DF-522B-4D22-BDB5-445319A8A681}" type="slidenum">
              <a:rPr lang="en-AU" altLang="tr-TR" sz="1200" smtClean="0"/>
              <a:pPr/>
              <a:t>5</a:t>
            </a:fld>
            <a:endParaRPr lang="en-AU" altLang="tr-TR" sz="1200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19B74FB-650C-4DE6-9B52-5E91BE36E7D7}" type="slidenum">
              <a:rPr lang="en-AU" altLang="tr-TR" sz="1200" smtClean="0"/>
              <a:pPr/>
              <a:t>6</a:t>
            </a:fld>
            <a:endParaRPr lang="en-AU" altLang="tr-TR" sz="1200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A34E36-4608-4DC2-8A38-045CEEA914CD}" type="slidenum">
              <a:rPr lang="en-AU" altLang="tr-TR" sz="1200" smtClean="0"/>
              <a:pPr/>
              <a:t>7</a:t>
            </a:fld>
            <a:endParaRPr lang="en-AU" altLang="tr-TR" sz="1200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6CA542-590A-41A1-A1DD-957D8F7FD026}" type="slidenum">
              <a:rPr lang="en-AU" altLang="tr-TR" sz="1200" smtClean="0"/>
              <a:pPr/>
              <a:t>8</a:t>
            </a:fld>
            <a:endParaRPr lang="en-AU" altLang="tr-TR" sz="120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61BB29-01D7-49E9-A519-0C8C06032A42}" type="slidenum">
              <a:rPr lang="en-AU" altLang="tr-TR" sz="1200" smtClean="0"/>
              <a:pPr/>
              <a:t>9</a:t>
            </a:fld>
            <a:endParaRPr lang="en-AU" altLang="tr-TR" sz="120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F2F4CD-C99E-461A-ABA2-5BE55C3B79B6}" type="slidenum">
              <a:rPr lang="en-AU" altLang="tr-TR" sz="1200" smtClean="0"/>
              <a:pPr/>
              <a:t>10</a:t>
            </a:fld>
            <a:endParaRPr lang="en-AU" altLang="tr-TR" sz="120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8019D9A-7FCF-459B-BFA4-E6B8701AA573}" type="slidenum">
              <a:rPr lang="en-AU" altLang="tr-TR" sz="1200" smtClean="0"/>
              <a:pPr/>
              <a:t>11</a:t>
            </a:fld>
            <a:endParaRPr lang="en-AU" altLang="tr-TR" sz="120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2C6586D-30CC-4EA8-9FE5-12381DB43780}" type="slidenum">
              <a:rPr lang="en-AU" altLang="tr-TR" sz="1200" smtClean="0"/>
              <a:pPr/>
              <a:t>12</a:t>
            </a:fld>
            <a:endParaRPr lang="en-AU" altLang="tr-TR" sz="120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5D4E367-037B-4A37-9346-E4DABD62BD15}" type="slidenum">
              <a:rPr lang="en-AU" altLang="tr-TR" sz="1200" smtClean="0"/>
              <a:pPr/>
              <a:t>13</a:t>
            </a:fld>
            <a:endParaRPr lang="en-AU" altLang="tr-TR" sz="120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4E78068-B5E9-4C27-BFEA-9654EF5BECCB}" type="slidenum">
              <a:rPr lang="en-AU" altLang="tr-TR" sz="1200" smtClean="0"/>
              <a:pPr/>
              <a:t>14</a:t>
            </a:fld>
            <a:endParaRPr lang="en-AU" altLang="tr-TR" sz="120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1FF6C1-8660-4BEB-BA43-FDB7F9447BC4}" type="slidenum">
              <a:rPr lang="en-AU" altLang="tr-TR" sz="1200" smtClean="0"/>
              <a:pPr/>
              <a:t>15</a:t>
            </a:fld>
            <a:endParaRPr lang="en-AU" altLang="tr-TR" sz="120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68DFFCC-27B5-4A53-B5BB-A2482913DA96}" type="slidenum">
              <a:rPr lang="en-AU" altLang="tr-TR" sz="1200" smtClean="0"/>
              <a:pPr/>
              <a:t>16</a:t>
            </a:fld>
            <a:endParaRPr lang="en-AU" altLang="tr-TR" sz="120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53D7E9-BFA2-4B7D-8274-3C85B62D3151}" type="slidenum">
              <a:rPr lang="en-AU" altLang="tr-TR" sz="1200" smtClean="0"/>
              <a:pPr/>
              <a:t>17</a:t>
            </a:fld>
            <a:endParaRPr lang="en-AU" altLang="tr-TR" sz="1200" smtClean="0"/>
          </a:p>
        </p:txBody>
      </p:sp>
      <p:sp>
        <p:nvSpPr>
          <p:cNvPr id="39939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97320D7-057F-4949-9B91-DE09D7EFA516}" type="slidenum">
              <a:rPr lang="en-AU" altLang="tr-TR" sz="1200" smtClean="0"/>
              <a:pPr/>
              <a:t>18</a:t>
            </a:fld>
            <a:endParaRPr lang="en-AU" altLang="tr-TR" sz="120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D741239-2CEE-4102-8FD4-91FC09F754A6}" type="slidenum">
              <a:rPr lang="en-AU" altLang="tr-TR" sz="1200" smtClean="0"/>
              <a:pPr/>
              <a:t>19</a:t>
            </a:fld>
            <a:endParaRPr lang="en-AU" altLang="tr-TR" sz="1200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64183D5-93CD-48DD-961C-9347116D9A91}" type="slidenum">
              <a:rPr lang="en-AU" altLang="tr-TR" sz="1200" smtClean="0"/>
              <a:pPr/>
              <a:t>20</a:t>
            </a:fld>
            <a:endParaRPr lang="en-AU" altLang="tr-TR" sz="1200" smtClean="0"/>
          </a:p>
        </p:txBody>
      </p:sp>
      <p:sp>
        <p:nvSpPr>
          <p:cNvPr id="46083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F09415-F659-4F8C-9E20-57CD890B1DF6}" type="slidenum">
              <a:rPr lang="en-AU" altLang="tr-TR" sz="1200" smtClean="0"/>
              <a:pPr/>
              <a:t>21</a:t>
            </a:fld>
            <a:endParaRPr lang="en-AU" altLang="tr-TR" sz="120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8F09FB-546F-496F-A71D-7BA237F82541}" type="slidenum">
              <a:rPr lang="en-AU" altLang="tr-TR" sz="1200" smtClean="0"/>
              <a:pPr/>
              <a:t>23</a:t>
            </a:fld>
            <a:endParaRPr lang="en-AU" altLang="tr-TR" sz="120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291720-1B2A-456D-A3BF-FA0461007809}" type="slidenum">
              <a:rPr lang="en-AU" altLang="tr-TR" sz="1200" smtClean="0"/>
              <a:pPr/>
              <a:t>24</a:t>
            </a:fld>
            <a:endParaRPr lang="en-AU" altLang="tr-TR" sz="1200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6540B2-FCB2-4BB2-9412-7B39C242506F}" type="slidenum">
              <a:rPr lang="en-AU" altLang="tr-TR" sz="1200" smtClean="0"/>
              <a:pPr/>
              <a:t>25</a:t>
            </a:fld>
            <a:endParaRPr lang="en-AU" altLang="tr-TR" sz="1200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607ECCF-6E0A-40A4-8A31-688F59C28047}" type="slidenum">
              <a:rPr lang="en-AU" altLang="tr-TR" sz="1200" smtClean="0"/>
              <a:pPr/>
              <a:t>26</a:t>
            </a:fld>
            <a:endParaRPr lang="en-AU" altLang="tr-TR" sz="120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D1D6E9-F216-4C67-A9E8-C6F5EFF46656}" type="slidenum">
              <a:rPr lang="en-AU" altLang="tr-TR" sz="1200" smtClean="0"/>
              <a:pPr/>
              <a:t>27</a:t>
            </a:fld>
            <a:endParaRPr lang="en-AU" altLang="tr-TR" sz="1200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2220505-3ABE-4309-B355-F98F7B99034A}" type="slidenum">
              <a:rPr lang="en-AU" altLang="tr-TR" sz="1200" smtClean="0"/>
              <a:pPr/>
              <a:t>28</a:t>
            </a:fld>
            <a:endParaRPr lang="en-AU" altLang="tr-TR" sz="1200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569AFD-34B8-435F-A3B6-154FDD8C5E1E}" type="slidenum">
              <a:rPr lang="en-AU" altLang="tr-TR" sz="1200" smtClean="0"/>
              <a:pPr/>
              <a:t>29</a:t>
            </a:fld>
            <a:endParaRPr lang="en-AU" altLang="tr-TR" sz="1200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FEA13D3-5ECF-4D96-82F3-9FA787B8D032}" type="slidenum">
              <a:rPr lang="en-AU" altLang="tr-TR" sz="1200" smtClean="0"/>
              <a:pPr/>
              <a:t>30</a:t>
            </a:fld>
            <a:endParaRPr lang="en-AU" altLang="tr-TR" sz="1200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BF4BF5-CE3B-495A-88B1-0198CF9C6E86}" type="slidenum">
              <a:rPr lang="en-AU" altLang="tr-TR" sz="1200" smtClean="0"/>
              <a:pPr/>
              <a:t>31</a:t>
            </a:fld>
            <a:endParaRPr lang="en-AU" altLang="tr-TR" sz="1200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4526EE-A275-4415-853F-7C9F9D753289}" type="slidenum">
              <a:rPr lang="en-AU" altLang="tr-TR" sz="1200" smtClean="0"/>
              <a:pPr/>
              <a:t>32</a:t>
            </a:fld>
            <a:endParaRPr lang="en-AU" altLang="tr-TR" sz="1200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3ADA63-77E7-4D80-882F-CF0DE5BB32D8}" type="slidenum">
              <a:rPr lang="en-AU" altLang="tr-TR" sz="1200" smtClean="0"/>
              <a:pPr/>
              <a:t>33</a:t>
            </a:fld>
            <a:endParaRPr lang="en-AU" altLang="tr-TR" sz="1200" smtClean="0"/>
          </a:p>
        </p:txBody>
      </p:sp>
      <p:sp>
        <p:nvSpPr>
          <p:cNvPr id="716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1910F3-68C4-4B0F-9CAA-4377F609AF08}" type="slidenum">
              <a:rPr lang="en-AU" altLang="tr-TR" sz="1200" smtClean="0"/>
              <a:pPr/>
              <a:t>34</a:t>
            </a:fld>
            <a:endParaRPr lang="en-AU" altLang="tr-TR" sz="1200" smtClean="0"/>
          </a:p>
        </p:txBody>
      </p:sp>
      <p:sp>
        <p:nvSpPr>
          <p:cNvPr id="737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94F3B26-0975-440E-8549-11002ADD50B0}" type="slidenum">
              <a:rPr lang="en-AU" altLang="tr-TR" sz="1200" smtClean="0"/>
              <a:pPr/>
              <a:t>35</a:t>
            </a:fld>
            <a:endParaRPr lang="en-AU" altLang="tr-TR" sz="1200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4D0E8BA-3156-499E-9347-FD3C6950E39E}" type="slidenum">
              <a:rPr lang="en-AU" altLang="tr-TR" sz="1200" smtClean="0"/>
              <a:pPr/>
              <a:t>36</a:t>
            </a:fld>
            <a:endParaRPr lang="en-AU" altLang="tr-TR" sz="1200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dirty="0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8034497-BE9F-47AC-99CD-32BDB4200D54}" type="slidenum">
              <a:rPr lang="en-AU" altLang="tr-TR" sz="1200" smtClean="0"/>
              <a:pPr/>
              <a:t>37</a:t>
            </a:fld>
            <a:endParaRPr lang="en-AU" altLang="tr-TR" sz="1200" smtClean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3D5437C-A62E-46E0-B9A1-D9C78AF01972}" type="slidenum">
              <a:rPr lang="en-AU" altLang="tr-TR" sz="1200" smtClean="0"/>
              <a:pPr/>
              <a:t>38</a:t>
            </a:fld>
            <a:endParaRPr lang="en-AU" altLang="tr-TR" sz="1200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AAD887-E14E-461E-9F72-16A76BB75040}" type="slidenum">
              <a:rPr lang="en-AU" altLang="tr-TR" sz="1200" smtClean="0"/>
              <a:pPr/>
              <a:t>39</a:t>
            </a:fld>
            <a:endParaRPr lang="en-AU" altLang="tr-TR" sz="1200" smtClean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FFA37A-CAC8-425D-B306-1729AF5F95D5}" type="slidenum">
              <a:rPr lang="en-AU" altLang="tr-TR" sz="1200" smtClean="0"/>
              <a:pPr/>
              <a:t>40</a:t>
            </a:fld>
            <a:endParaRPr lang="en-AU" altLang="tr-TR" sz="1200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8C281A-C71F-43BC-9F6F-170076B5E9B5}" type="slidenum">
              <a:rPr lang="en-AU" altLang="tr-TR" sz="1200" smtClean="0"/>
              <a:pPr/>
              <a:t>41</a:t>
            </a:fld>
            <a:endParaRPr lang="en-AU" altLang="tr-TR" sz="1200" smtClean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7B336D6-F454-40DA-AD5D-3E91383D5E40}" type="slidenum">
              <a:rPr lang="en-AU" altLang="tr-TR" sz="1200" smtClean="0"/>
              <a:pPr/>
              <a:t>43</a:t>
            </a:fld>
            <a:endParaRPr lang="en-AU" altLang="tr-TR" sz="1200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F0D9DEE-4C69-4512-97BC-9A1F272D87F4}" type="slidenum">
              <a:rPr lang="en-AU" altLang="tr-TR" sz="1200" smtClean="0"/>
              <a:pPr/>
              <a:t>44</a:t>
            </a:fld>
            <a:endParaRPr lang="en-AU" altLang="tr-TR" sz="1200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dirty="0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286DC1E-1303-426C-946B-231FB02AD192}" type="slidenum">
              <a:rPr lang="en-AU" altLang="tr-TR" sz="1200" smtClean="0"/>
              <a:pPr/>
              <a:t>45</a:t>
            </a:fld>
            <a:endParaRPr lang="en-AU" altLang="tr-TR" sz="1200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578FCB-7951-4BE4-AE10-C48A8C765847}" type="slidenum">
              <a:rPr lang="en-AU" altLang="tr-TR" sz="1200" smtClean="0"/>
              <a:pPr/>
              <a:t>46</a:t>
            </a:fld>
            <a:endParaRPr lang="en-AU" altLang="tr-TR" sz="1200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E7FCC13-211A-43DE-B655-AFF1A23DD1DC}" type="slidenum">
              <a:rPr lang="en-AU" altLang="tr-TR" sz="1200" smtClean="0"/>
              <a:pPr/>
              <a:t>47</a:t>
            </a:fld>
            <a:endParaRPr lang="en-AU" altLang="tr-TR" sz="1200" smtClean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B432D74-D670-4FF0-ADD4-55790309B850}" type="slidenum">
              <a:rPr lang="en-AU" altLang="tr-TR" sz="1200" smtClean="0"/>
              <a:pPr/>
              <a:t>48</a:t>
            </a:fld>
            <a:endParaRPr lang="en-AU" altLang="tr-TR" sz="1200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56B7ADF-2FFD-4A24-86BE-BFA41D2D6E6F}" type="slidenum">
              <a:rPr lang="en-AU" altLang="tr-TR" sz="1200" smtClean="0"/>
              <a:pPr/>
              <a:t>49</a:t>
            </a:fld>
            <a:endParaRPr lang="en-AU" altLang="tr-TR" sz="1200" smtClean="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EAC9841-C0A8-4D20-807C-D1D059AE4D07}" type="slidenum">
              <a:rPr lang="en-AU" altLang="tr-TR" sz="1200" smtClean="0"/>
              <a:pPr/>
              <a:t>50</a:t>
            </a:fld>
            <a:endParaRPr lang="en-AU" altLang="tr-TR" sz="1200" smtClean="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tr-TR" altLang="tr-TR" dirty="0" smtClean="0"/>
              <a:t>DiceDynAlloc.cpp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BCE515B-A5D8-43A8-9F54-507EA9B713A4}" type="slidenum">
              <a:rPr lang="en-AU" altLang="tr-TR" sz="1200" smtClean="0"/>
              <a:pPr/>
              <a:t>51</a:t>
            </a:fld>
            <a:endParaRPr lang="en-AU" altLang="tr-TR" sz="1200" smtClean="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E07D53-5BE1-400B-9425-04F97AEFEE7B}" type="slidenum">
              <a:rPr lang="en-AU" altLang="tr-TR" sz="1200" smtClean="0"/>
              <a:pPr/>
              <a:t>52</a:t>
            </a:fld>
            <a:endParaRPr lang="en-AU" altLang="tr-TR" sz="1200" smtClean="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invGray">
          <a:xfrm>
            <a:off x="8809038" y="0"/>
            <a:ext cx="334962" cy="6858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chemeClr val="hlink"/>
              </a:gs>
              <a:gs pos="100000">
                <a:schemeClr val="accent2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tr-TR"/>
          </a:p>
        </p:txBody>
      </p:sp>
      <p:sp>
        <p:nvSpPr>
          <p:cNvPr id="5" name="Freeform 3"/>
          <p:cNvSpPr>
            <a:spLocks/>
          </p:cNvSpPr>
          <p:nvPr/>
        </p:nvSpPr>
        <p:spPr bwMode="white">
          <a:xfrm>
            <a:off x="-9525" y="4489450"/>
            <a:ext cx="5754688" cy="2368550"/>
          </a:xfrm>
          <a:custGeom>
            <a:avLst/>
            <a:gdLst>
              <a:gd name="T0" fmla="*/ 0 w 3625"/>
              <a:gd name="T1" fmla="*/ 2147483646 h 1492"/>
              <a:gd name="T2" fmla="*/ 0 w 3625"/>
              <a:gd name="T3" fmla="*/ 0 h 1492"/>
              <a:gd name="T4" fmla="*/ 2147483646 w 3625"/>
              <a:gd name="T5" fmla="*/ 2147483646 h 1492"/>
              <a:gd name="T6" fmla="*/ 2147483646 w 3625"/>
              <a:gd name="T7" fmla="*/ 2147483646 h 1492"/>
              <a:gd name="T8" fmla="*/ 2147483646 w 3625"/>
              <a:gd name="T9" fmla="*/ 2147483646 h 1492"/>
              <a:gd name="T10" fmla="*/ 2147483646 w 3625"/>
              <a:gd name="T11" fmla="*/ 2147483646 h 1492"/>
              <a:gd name="T12" fmla="*/ 2147483646 w 3625"/>
              <a:gd name="T13" fmla="*/ 2147483646 h 1492"/>
              <a:gd name="T14" fmla="*/ 2147483646 w 3625"/>
              <a:gd name="T15" fmla="*/ 2147483646 h 1492"/>
              <a:gd name="T16" fmla="*/ 2147483646 w 3625"/>
              <a:gd name="T17" fmla="*/ 2147483646 h 1492"/>
              <a:gd name="T18" fmla="*/ 2147483646 w 3625"/>
              <a:gd name="T19" fmla="*/ 2147483646 h 1492"/>
              <a:gd name="T20" fmla="*/ 2147483646 w 3625"/>
              <a:gd name="T21" fmla="*/ 2147483646 h 1492"/>
              <a:gd name="T22" fmla="*/ 2147483646 w 3625"/>
              <a:gd name="T23" fmla="*/ 2147483646 h 1492"/>
              <a:gd name="T24" fmla="*/ 2147483646 w 3625"/>
              <a:gd name="T25" fmla="*/ 2147483646 h 1492"/>
              <a:gd name="T26" fmla="*/ 2147483646 w 3625"/>
              <a:gd name="T27" fmla="*/ 2147483646 h 1492"/>
              <a:gd name="T28" fmla="*/ 2147483646 w 3625"/>
              <a:gd name="T29" fmla="*/ 2147483646 h 1492"/>
              <a:gd name="T30" fmla="*/ 2147483646 w 3625"/>
              <a:gd name="T31" fmla="*/ 2147483646 h 1492"/>
              <a:gd name="T32" fmla="*/ 2147483646 w 3625"/>
              <a:gd name="T33" fmla="*/ 2147483646 h 1492"/>
              <a:gd name="T34" fmla="*/ 2147483646 w 3625"/>
              <a:gd name="T35" fmla="*/ 2147483646 h 1492"/>
              <a:gd name="T36" fmla="*/ 2147483646 w 3625"/>
              <a:gd name="T37" fmla="*/ 2147483646 h 1492"/>
              <a:gd name="T38" fmla="*/ 2147483646 w 3625"/>
              <a:gd name="T39" fmla="*/ 2147483646 h 1492"/>
              <a:gd name="T40" fmla="*/ 2147483646 w 3625"/>
              <a:gd name="T41" fmla="*/ 2147483646 h 1492"/>
              <a:gd name="T42" fmla="*/ 2147483646 w 3625"/>
              <a:gd name="T43" fmla="*/ 2147483646 h 1492"/>
              <a:gd name="T44" fmla="*/ 2147483646 w 3625"/>
              <a:gd name="T45" fmla="*/ 2147483646 h 1492"/>
              <a:gd name="T46" fmla="*/ 2147483646 w 3625"/>
              <a:gd name="T47" fmla="*/ 2147483646 h 1492"/>
              <a:gd name="T48" fmla="*/ 2147483646 w 3625"/>
              <a:gd name="T49" fmla="*/ 2147483646 h 1492"/>
              <a:gd name="T50" fmla="*/ 2147483646 w 3625"/>
              <a:gd name="T51" fmla="*/ 2147483646 h 1492"/>
              <a:gd name="T52" fmla="*/ 0 w 3625"/>
              <a:gd name="T53" fmla="*/ 2147483646 h 149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3625" h="1492">
                <a:moveTo>
                  <a:pt x="0" y="1491"/>
                </a:moveTo>
                <a:lnTo>
                  <a:pt x="0" y="0"/>
                </a:lnTo>
                <a:lnTo>
                  <a:pt x="171" y="3"/>
                </a:lnTo>
                <a:lnTo>
                  <a:pt x="355" y="9"/>
                </a:lnTo>
                <a:lnTo>
                  <a:pt x="499" y="21"/>
                </a:lnTo>
                <a:lnTo>
                  <a:pt x="650" y="36"/>
                </a:lnTo>
                <a:lnTo>
                  <a:pt x="809" y="54"/>
                </a:lnTo>
                <a:lnTo>
                  <a:pt x="957" y="78"/>
                </a:lnTo>
                <a:lnTo>
                  <a:pt x="1119" y="105"/>
                </a:lnTo>
                <a:lnTo>
                  <a:pt x="1261" y="133"/>
                </a:lnTo>
                <a:lnTo>
                  <a:pt x="1441" y="175"/>
                </a:lnTo>
                <a:lnTo>
                  <a:pt x="1598" y="217"/>
                </a:lnTo>
                <a:lnTo>
                  <a:pt x="1763" y="269"/>
                </a:lnTo>
                <a:lnTo>
                  <a:pt x="1887" y="308"/>
                </a:lnTo>
                <a:lnTo>
                  <a:pt x="2085" y="384"/>
                </a:lnTo>
                <a:lnTo>
                  <a:pt x="2230" y="444"/>
                </a:lnTo>
                <a:lnTo>
                  <a:pt x="2456" y="547"/>
                </a:lnTo>
                <a:lnTo>
                  <a:pt x="2666" y="662"/>
                </a:lnTo>
                <a:lnTo>
                  <a:pt x="2859" y="786"/>
                </a:lnTo>
                <a:lnTo>
                  <a:pt x="3046" y="920"/>
                </a:lnTo>
                <a:lnTo>
                  <a:pt x="3193" y="1038"/>
                </a:lnTo>
                <a:lnTo>
                  <a:pt x="3332" y="1168"/>
                </a:lnTo>
                <a:lnTo>
                  <a:pt x="3440" y="1280"/>
                </a:lnTo>
                <a:lnTo>
                  <a:pt x="3524" y="1380"/>
                </a:lnTo>
                <a:lnTo>
                  <a:pt x="3624" y="1491"/>
                </a:lnTo>
                <a:lnTo>
                  <a:pt x="3608" y="1491"/>
                </a:lnTo>
                <a:lnTo>
                  <a:pt x="0" y="1491"/>
                </a:lnTo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Freeform 4"/>
          <p:cNvSpPr>
            <a:spLocks/>
          </p:cNvSpPr>
          <p:nvPr/>
        </p:nvSpPr>
        <p:spPr bwMode="white">
          <a:xfrm>
            <a:off x="0" y="3817938"/>
            <a:ext cx="8164513" cy="3019425"/>
          </a:xfrm>
          <a:custGeom>
            <a:avLst/>
            <a:gdLst>
              <a:gd name="T0" fmla="*/ 2147483646 w 5143"/>
              <a:gd name="T1" fmla="*/ 2147483646 h 1902"/>
              <a:gd name="T2" fmla="*/ 2147483646 w 5143"/>
              <a:gd name="T3" fmla="*/ 2147483646 h 1902"/>
              <a:gd name="T4" fmla="*/ 2147483646 w 5143"/>
              <a:gd name="T5" fmla="*/ 2147483646 h 1902"/>
              <a:gd name="T6" fmla="*/ 2147483646 w 5143"/>
              <a:gd name="T7" fmla="*/ 2147483646 h 1902"/>
              <a:gd name="T8" fmla="*/ 2147483646 w 5143"/>
              <a:gd name="T9" fmla="*/ 2147483646 h 1902"/>
              <a:gd name="T10" fmla="*/ 2147483646 w 5143"/>
              <a:gd name="T11" fmla="*/ 2147483646 h 1902"/>
              <a:gd name="T12" fmla="*/ 2147483646 w 5143"/>
              <a:gd name="T13" fmla="*/ 2147483646 h 1902"/>
              <a:gd name="T14" fmla="*/ 2147483646 w 5143"/>
              <a:gd name="T15" fmla="*/ 2147483646 h 1902"/>
              <a:gd name="T16" fmla="*/ 2147483646 w 5143"/>
              <a:gd name="T17" fmla="*/ 2147483646 h 1902"/>
              <a:gd name="T18" fmla="*/ 2147483646 w 5143"/>
              <a:gd name="T19" fmla="*/ 2147483646 h 1902"/>
              <a:gd name="T20" fmla="*/ 2147483646 w 5143"/>
              <a:gd name="T21" fmla="*/ 2147483646 h 1902"/>
              <a:gd name="T22" fmla="*/ 0 w 5143"/>
              <a:gd name="T23" fmla="*/ 0 h 1902"/>
              <a:gd name="T24" fmla="*/ 0 w 5143"/>
              <a:gd name="T25" fmla="*/ 2147483646 h 1902"/>
              <a:gd name="T26" fmla="*/ 0 w 5143"/>
              <a:gd name="T27" fmla="*/ 2147483646 h 1902"/>
              <a:gd name="T28" fmla="*/ 0 w 5143"/>
              <a:gd name="T29" fmla="*/ 2147483646 h 1902"/>
              <a:gd name="T30" fmla="*/ 0 w 5143"/>
              <a:gd name="T31" fmla="*/ 2147483646 h 1902"/>
              <a:gd name="T32" fmla="*/ 2147483646 w 5143"/>
              <a:gd name="T33" fmla="*/ 2147483646 h 1902"/>
              <a:gd name="T34" fmla="*/ 2147483646 w 5143"/>
              <a:gd name="T35" fmla="*/ 2147483646 h 1902"/>
              <a:gd name="T36" fmla="*/ 2147483646 w 5143"/>
              <a:gd name="T37" fmla="*/ 2147483646 h 1902"/>
              <a:gd name="T38" fmla="*/ 2147483646 w 5143"/>
              <a:gd name="T39" fmla="*/ 2147483646 h 1902"/>
              <a:gd name="T40" fmla="*/ 2147483646 w 5143"/>
              <a:gd name="T41" fmla="*/ 2147483646 h 1902"/>
              <a:gd name="T42" fmla="*/ 2147483646 w 5143"/>
              <a:gd name="T43" fmla="*/ 2147483646 h 1902"/>
              <a:gd name="T44" fmla="*/ 2147483646 w 5143"/>
              <a:gd name="T45" fmla="*/ 2147483646 h 1902"/>
              <a:gd name="T46" fmla="*/ 2147483646 w 5143"/>
              <a:gd name="T47" fmla="*/ 2147483646 h 1902"/>
              <a:gd name="T48" fmla="*/ 2147483646 w 5143"/>
              <a:gd name="T49" fmla="*/ 2147483646 h 1902"/>
              <a:gd name="T50" fmla="*/ 2147483646 w 5143"/>
              <a:gd name="T51" fmla="*/ 2147483646 h 1902"/>
              <a:gd name="T52" fmla="*/ 2147483646 w 5143"/>
              <a:gd name="T53" fmla="*/ 2147483646 h 1902"/>
              <a:gd name="T54" fmla="*/ 2147483646 w 5143"/>
              <a:gd name="T55" fmla="*/ 2147483646 h 1902"/>
              <a:gd name="T56" fmla="*/ 2147483646 w 5143"/>
              <a:gd name="T57" fmla="*/ 2147483646 h 1902"/>
              <a:gd name="T58" fmla="*/ 2147483646 w 5143"/>
              <a:gd name="T59" fmla="*/ 2147483646 h 1902"/>
              <a:gd name="T60" fmla="*/ 2147483646 w 5143"/>
              <a:gd name="T61" fmla="*/ 2147483646 h 1902"/>
              <a:gd name="T62" fmla="*/ 2147483646 w 5143"/>
              <a:gd name="T63" fmla="*/ 2147483646 h 1902"/>
              <a:gd name="T64" fmla="*/ 2147483646 w 5143"/>
              <a:gd name="T65" fmla="*/ 2147483646 h 1902"/>
              <a:gd name="T66" fmla="*/ 2147483646 w 5143"/>
              <a:gd name="T67" fmla="*/ 2147483646 h 1902"/>
              <a:gd name="T68" fmla="*/ 2147483646 w 5143"/>
              <a:gd name="T69" fmla="*/ 2147483646 h 1902"/>
              <a:gd name="T70" fmla="*/ 2147483646 w 5143"/>
              <a:gd name="T71" fmla="*/ 2147483646 h 1902"/>
              <a:gd name="T72" fmla="*/ 2147483646 w 5143"/>
              <a:gd name="T73" fmla="*/ 2147483646 h 1902"/>
              <a:gd name="T74" fmla="*/ 2147483646 w 5143"/>
              <a:gd name="T75" fmla="*/ 2147483646 h 1902"/>
              <a:gd name="T76" fmla="*/ 2147483646 w 5143"/>
              <a:gd name="T77" fmla="*/ 2147483646 h 1902"/>
              <a:gd name="T78" fmla="*/ 2147483646 w 5143"/>
              <a:gd name="T79" fmla="*/ 2147483646 h 1902"/>
              <a:gd name="T80" fmla="*/ 2147483646 w 5143"/>
              <a:gd name="T81" fmla="*/ 2147483646 h 1902"/>
              <a:gd name="T82" fmla="*/ 2147483646 w 5143"/>
              <a:gd name="T83" fmla="*/ 2147483646 h 1902"/>
              <a:gd name="T84" fmla="*/ 2147483646 w 5143"/>
              <a:gd name="T85" fmla="*/ 2147483646 h 1902"/>
              <a:gd name="T86" fmla="*/ 2147483646 w 5143"/>
              <a:gd name="T87" fmla="*/ 2147483646 h 1902"/>
              <a:gd name="T88" fmla="*/ 2147483646 w 5143"/>
              <a:gd name="T89" fmla="*/ 2147483646 h 1902"/>
              <a:gd name="T90" fmla="*/ 2147483646 w 5143"/>
              <a:gd name="T91" fmla="*/ 2147483646 h 1902"/>
              <a:gd name="T92" fmla="*/ 2147483646 w 5143"/>
              <a:gd name="T93" fmla="*/ 2147483646 h 1902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5143" h="1902">
                <a:moveTo>
                  <a:pt x="2718" y="405"/>
                </a:moveTo>
                <a:lnTo>
                  <a:pt x="2466" y="333"/>
                </a:lnTo>
                <a:lnTo>
                  <a:pt x="2202" y="261"/>
                </a:lnTo>
                <a:lnTo>
                  <a:pt x="1929" y="198"/>
                </a:lnTo>
                <a:lnTo>
                  <a:pt x="1695" y="153"/>
                </a:lnTo>
                <a:lnTo>
                  <a:pt x="1434" y="111"/>
                </a:lnTo>
                <a:lnTo>
                  <a:pt x="1188" y="75"/>
                </a:lnTo>
                <a:lnTo>
                  <a:pt x="957" y="48"/>
                </a:lnTo>
                <a:lnTo>
                  <a:pt x="747" y="30"/>
                </a:lnTo>
                <a:lnTo>
                  <a:pt x="501" y="15"/>
                </a:lnTo>
                <a:lnTo>
                  <a:pt x="246" y="3"/>
                </a:lnTo>
                <a:lnTo>
                  <a:pt x="0" y="0"/>
                </a:lnTo>
                <a:lnTo>
                  <a:pt x="0" y="275"/>
                </a:lnTo>
                <a:lnTo>
                  <a:pt x="0" y="345"/>
                </a:lnTo>
                <a:lnTo>
                  <a:pt x="0" y="275"/>
                </a:lnTo>
                <a:lnTo>
                  <a:pt x="0" y="342"/>
                </a:lnTo>
                <a:lnTo>
                  <a:pt x="339" y="351"/>
                </a:lnTo>
                <a:lnTo>
                  <a:pt x="606" y="372"/>
                </a:lnTo>
                <a:lnTo>
                  <a:pt x="852" y="399"/>
                </a:lnTo>
                <a:lnTo>
                  <a:pt x="1068" y="435"/>
                </a:lnTo>
                <a:lnTo>
                  <a:pt x="1275" y="474"/>
                </a:lnTo>
                <a:lnTo>
                  <a:pt x="1545" y="540"/>
                </a:lnTo>
                <a:lnTo>
                  <a:pt x="1761" y="603"/>
                </a:lnTo>
                <a:lnTo>
                  <a:pt x="1971" y="678"/>
                </a:lnTo>
                <a:lnTo>
                  <a:pt x="2166" y="747"/>
                </a:lnTo>
                <a:lnTo>
                  <a:pt x="2397" y="852"/>
                </a:lnTo>
                <a:lnTo>
                  <a:pt x="2613" y="960"/>
                </a:lnTo>
                <a:lnTo>
                  <a:pt x="2832" y="1095"/>
                </a:lnTo>
                <a:lnTo>
                  <a:pt x="3012" y="1212"/>
                </a:lnTo>
                <a:lnTo>
                  <a:pt x="3186" y="1347"/>
                </a:lnTo>
                <a:lnTo>
                  <a:pt x="3351" y="1497"/>
                </a:lnTo>
                <a:lnTo>
                  <a:pt x="3480" y="1629"/>
                </a:lnTo>
                <a:lnTo>
                  <a:pt x="3612" y="1785"/>
                </a:lnTo>
                <a:lnTo>
                  <a:pt x="3699" y="1901"/>
                </a:lnTo>
                <a:lnTo>
                  <a:pt x="5142" y="1901"/>
                </a:lnTo>
                <a:lnTo>
                  <a:pt x="5076" y="1827"/>
                </a:lnTo>
                <a:lnTo>
                  <a:pt x="4968" y="1707"/>
                </a:lnTo>
                <a:lnTo>
                  <a:pt x="4797" y="1539"/>
                </a:lnTo>
                <a:lnTo>
                  <a:pt x="4617" y="1383"/>
                </a:lnTo>
                <a:lnTo>
                  <a:pt x="4410" y="1221"/>
                </a:lnTo>
                <a:lnTo>
                  <a:pt x="4185" y="1071"/>
                </a:lnTo>
                <a:lnTo>
                  <a:pt x="3960" y="939"/>
                </a:lnTo>
                <a:lnTo>
                  <a:pt x="3708" y="801"/>
                </a:lnTo>
                <a:lnTo>
                  <a:pt x="3492" y="702"/>
                </a:lnTo>
                <a:lnTo>
                  <a:pt x="3231" y="588"/>
                </a:lnTo>
                <a:lnTo>
                  <a:pt x="2964" y="489"/>
                </a:lnTo>
                <a:lnTo>
                  <a:pt x="2718" y="405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5"/>
          <p:cNvSpPr>
            <a:spLocks/>
          </p:cNvSpPr>
          <p:nvPr/>
        </p:nvSpPr>
        <p:spPr bwMode="white">
          <a:xfrm>
            <a:off x="0" y="3146425"/>
            <a:ext cx="9144000" cy="3690938"/>
          </a:xfrm>
          <a:custGeom>
            <a:avLst/>
            <a:gdLst>
              <a:gd name="T0" fmla="*/ 0 w 5760"/>
              <a:gd name="T1" fmla="*/ 0 h 2325"/>
              <a:gd name="T2" fmla="*/ 0 w 5760"/>
              <a:gd name="T3" fmla="*/ 2147483646 h 2325"/>
              <a:gd name="T4" fmla="*/ 2147483646 w 5760"/>
              <a:gd name="T5" fmla="*/ 2147483646 h 2325"/>
              <a:gd name="T6" fmla="*/ 2147483646 w 5760"/>
              <a:gd name="T7" fmla="*/ 2147483646 h 2325"/>
              <a:gd name="T8" fmla="*/ 2147483646 w 5760"/>
              <a:gd name="T9" fmla="*/ 2147483646 h 2325"/>
              <a:gd name="T10" fmla="*/ 2147483646 w 5760"/>
              <a:gd name="T11" fmla="*/ 2147483646 h 2325"/>
              <a:gd name="T12" fmla="*/ 2147483646 w 5760"/>
              <a:gd name="T13" fmla="*/ 2147483646 h 2325"/>
              <a:gd name="T14" fmla="*/ 2147483646 w 5760"/>
              <a:gd name="T15" fmla="*/ 2147483646 h 2325"/>
              <a:gd name="T16" fmla="*/ 2147483646 w 5760"/>
              <a:gd name="T17" fmla="*/ 2147483646 h 2325"/>
              <a:gd name="T18" fmla="*/ 2147483646 w 5760"/>
              <a:gd name="T19" fmla="*/ 2147483646 h 2325"/>
              <a:gd name="T20" fmla="*/ 2147483646 w 5760"/>
              <a:gd name="T21" fmla="*/ 2147483646 h 2325"/>
              <a:gd name="T22" fmla="*/ 2147483646 w 5760"/>
              <a:gd name="T23" fmla="*/ 2147483646 h 2325"/>
              <a:gd name="T24" fmla="*/ 2147483646 w 5760"/>
              <a:gd name="T25" fmla="*/ 2147483646 h 2325"/>
              <a:gd name="T26" fmla="*/ 2147483646 w 5760"/>
              <a:gd name="T27" fmla="*/ 2147483646 h 2325"/>
              <a:gd name="T28" fmla="*/ 2147483646 w 5760"/>
              <a:gd name="T29" fmla="*/ 2147483646 h 2325"/>
              <a:gd name="T30" fmla="*/ 2147483646 w 5760"/>
              <a:gd name="T31" fmla="*/ 2147483646 h 2325"/>
              <a:gd name="T32" fmla="*/ 2147483646 w 5760"/>
              <a:gd name="T33" fmla="*/ 2147483646 h 2325"/>
              <a:gd name="T34" fmla="*/ 2147483646 w 5760"/>
              <a:gd name="T35" fmla="*/ 2147483646 h 2325"/>
              <a:gd name="T36" fmla="*/ 2147483646 w 5760"/>
              <a:gd name="T37" fmla="*/ 2147483646 h 2325"/>
              <a:gd name="T38" fmla="*/ 2147483646 w 5760"/>
              <a:gd name="T39" fmla="*/ 2147483646 h 2325"/>
              <a:gd name="T40" fmla="*/ 2147483646 w 5760"/>
              <a:gd name="T41" fmla="*/ 2147483646 h 2325"/>
              <a:gd name="T42" fmla="*/ 2147483646 w 5760"/>
              <a:gd name="T43" fmla="*/ 2147483646 h 2325"/>
              <a:gd name="T44" fmla="*/ 2147483646 w 5760"/>
              <a:gd name="T45" fmla="*/ 2147483646 h 2325"/>
              <a:gd name="T46" fmla="*/ 2147483646 w 5760"/>
              <a:gd name="T47" fmla="*/ 2147483646 h 2325"/>
              <a:gd name="T48" fmla="*/ 2147483646 w 5760"/>
              <a:gd name="T49" fmla="*/ 2147483646 h 2325"/>
              <a:gd name="T50" fmla="*/ 2147483646 w 5760"/>
              <a:gd name="T51" fmla="*/ 2147483646 h 2325"/>
              <a:gd name="T52" fmla="*/ 2147483646 w 5760"/>
              <a:gd name="T53" fmla="*/ 2147483646 h 2325"/>
              <a:gd name="T54" fmla="*/ 2147483646 w 5760"/>
              <a:gd name="T55" fmla="*/ 2147483646 h 2325"/>
              <a:gd name="T56" fmla="*/ 2147483646 w 5760"/>
              <a:gd name="T57" fmla="*/ 2147483646 h 2325"/>
              <a:gd name="T58" fmla="*/ 2147483646 w 5760"/>
              <a:gd name="T59" fmla="*/ 2147483646 h 2325"/>
              <a:gd name="T60" fmla="*/ 2147483646 w 5760"/>
              <a:gd name="T61" fmla="*/ 2147483646 h 2325"/>
              <a:gd name="T62" fmla="*/ 2147483646 w 5760"/>
              <a:gd name="T63" fmla="*/ 2147483646 h 2325"/>
              <a:gd name="T64" fmla="*/ 2147483646 w 5760"/>
              <a:gd name="T65" fmla="*/ 2147483646 h 2325"/>
              <a:gd name="T66" fmla="*/ 2147483646 w 5760"/>
              <a:gd name="T67" fmla="*/ 2147483646 h 2325"/>
              <a:gd name="T68" fmla="*/ 2147483646 w 5760"/>
              <a:gd name="T69" fmla="*/ 2147483646 h 2325"/>
              <a:gd name="T70" fmla="*/ 2147483646 w 5760"/>
              <a:gd name="T71" fmla="*/ 2147483646 h 2325"/>
              <a:gd name="T72" fmla="*/ 2147483646 w 5760"/>
              <a:gd name="T73" fmla="*/ 2147483646 h 2325"/>
              <a:gd name="T74" fmla="*/ 2147483646 w 5760"/>
              <a:gd name="T75" fmla="*/ 2147483646 h 2325"/>
              <a:gd name="T76" fmla="*/ 2147483646 w 5760"/>
              <a:gd name="T77" fmla="*/ 2147483646 h 2325"/>
              <a:gd name="T78" fmla="*/ 2147483646 w 5760"/>
              <a:gd name="T79" fmla="*/ 2147483646 h 2325"/>
              <a:gd name="T80" fmla="*/ 2147483646 w 5760"/>
              <a:gd name="T81" fmla="*/ 2147483646 h 2325"/>
              <a:gd name="T82" fmla="*/ 2147483646 w 5760"/>
              <a:gd name="T83" fmla="*/ 2147483646 h 2325"/>
              <a:gd name="T84" fmla="*/ 2147483646 w 5760"/>
              <a:gd name="T85" fmla="*/ 2147483646 h 2325"/>
              <a:gd name="T86" fmla="*/ 2147483646 w 5760"/>
              <a:gd name="T87" fmla="*/ 2147483646 h 2325"/>
              <a:gd name="T88" fmla="*/ 2147483646 w 5760"/>
              <a:gd name="T89" fmla="*/ 2147483646 h 2325"/>
              <a:gd name="T90" fmla="*/ 2147483646 w 5760"/>
              <a:gd name="T91" fmla="*/ 2147483646 h 2325"/>
              <a:gd name="T92" fmla="*/ 2147483646 w 5760"/>
              <a:gd name="T93" fmla="*/ 2147483646 h 2325"/>
              <a:gd name="T94" fmla="*/ 2147483646 w 5760"/>
              <a:gd name="T95" fmla="*/ 2147483646 h 2325"/>
              <a:gd name="T96" fmla="*/ 2147483646 w 5760"/>
              <a:gd name="T97" fmla="*/ 2147483646 h 2325"/>
              <a:gd name="T98" fmla="*/ 2147483646 w 5760"/>
              <a:gd name="T99" fmla="*/ 2147483646 h 2325"/>
              <a:gd name="T100" fmla="*/ 2147483646 w 5760"/>
              <a:gd name="T101" fmla="*/ 2147483646 h 2325"/>
              <a:gd name="T102" fmla="*/ 0 w 5760"/>
              <a:gd name="T103" fmla="*/ 0 h 232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760" h="2325">
                <a:moveTo>
                  <a:pt x="0" y="0"/>
                </a:moveTo>
                <a:lnTo>
                  <a:pt x="0" y="339"/>
                </a:lnTo>
                <a:lnTo>
                  <a:pt x="558" y="357"/>
                </a:lnTo>
                <a:lnTo>
                  <a:pt x="807" y="375"/>
                </a:lnTo>
                <a:lnTo>
                  <a:pt x="1056" y="399"/>
                </a:lnTo>
                <a:lnTo>
                  <a:pt x="1272" y="426"/>
                </a:lnTo>
                <a:lnTo>
                  <a:pt x="1539" y="465"/>
                </a:lnTo>
                <a:lnTo>
                  <a:pt x="1791" y="510"/>
                </a:lnTo>
                <a:lnTo>
                  <a:pt x="2076" y="570"/>
                </a:lnTo>
                <a:lnTo>
                  <a:pt x="2334" y="630"/>
                </a:lnTo>
                <a:lnTo>
                  <a:pt x="2544" y="687"/>
                </a:lnTo>
                <a:lnTo>
                  <a:pt x="2775" y="759"/>
                </a:lnTo>
                <a:lnTo>
                  <a:pt x="3003" y="837"/>
                </a:lnTo>
                <a:lnTo>
                  <a:pt x="3231" y="924"/>
                </a:lnTo>
                <a:lnTo>
                  <a:pt x="3438" y="1005"/>
                </a:lnTo>
                <a:lnTo>
                  <a:pt x="3663" y="1110"/>
                </a:lnTo>
                <a:lnTo>
                  <a:pt x="3903" y="1233"/>
                </a:lnTo>
                <a:lnTo>
                  <a:pt x="4149" y="1374"/>
                </a:lnTo>
                <a:lnTo>
                  <a:pt x="4353" y="1506"/>
                </a:lnTo>
                <a:lnTo>
                  <a:pt x="4491" y="1602"/>
                </a:lnTo>
                <a:lnTo>
                  <a:pt x="4668" y="1740"/>
                </a:lnTo>
                <a:lnTo>
                  <a:pt x="4824" y="1875"/>
                </a:lnTo>
                <a:lnTo>
                  <a:pt x="4968" y="2016"/>
                </a:lnTo>
                <a:lnTo>
                  <a:pt x="5100" y="2154"/>
                </a:lnTo>
                <a:lnTo>
                  <a:pt x="5238" y="2324"/>
                </a:lnTo>
                <a:lnTo>
                  <a:pt x="5759" y="2324"/>
                </a:lnTo>
                <a:lnTo>
                  <a:pt x="5759" y="1245"/>
                </a:lnTo>
                <a:lnTo>
                  <a:pt x="5580" y="1119"/>
                </a:lnTo>
                <a:lnTo>
                  <a:pt x="5400" y="1020"/>
                </a:lnTo>
                <a:lnTo>
                  <a:pt x="5205" y="918"/>
                </a:lnTo>
                <a:lnTo>
                  <a:pt x="5031" y="837"/>
                </a:lnTo>
                <a:lnTo>
                  <a:pt x="4866" y="771"/>
                </a:lnTo>
                <a:lnTo>
                  <a:pt x="4710" y="711"/>
                </a:lnTo>
                <a:lnTo>
                  <a:pt x="4545" y="651"/>
                </a:lnTo>
                <a:lnTo>
                  <a:pt x="4386" y="600"/>
                </a:lnTo>
                <a:lnTo>
                  <a:pt x="4248" y="552"/>
                </a:lnTo>
                <a:lnTo>
                  <a:pt x="3993" y="483"/>
                </a:lnTo>
                <a:lnTo>
                  <a:pt x="3777" y="423"/>
                </a:lnTo>
                <a:lnTo>
                  <a:pt x="3564" y="375"/>
                </a:lnTo>
                <a:lnTo>
                  <a:pt x="3282" y="312"/>
                </a:lnTo>
                <a:lnTo>
                  <a:pt x="3003" y="261"/>
                </a:lnTo>
                <a:lnTo>
                  <a:pt x="2733" y="213"/>
                </a:lnTo>
                <a:lnTo>
                  <a:pt x="2451" y="171"/>
                </a:lnTo>
                <a:lnTo>
                  <a:pt x="2211" y="138"/>
                </a:lnTo>
                <a:lnTo>
                  <a:pt x="1974" y="108"/>
                </a:lnTo>
                <a:lnTo>
                  <a:pt x="1665" y="81"/>
                </a:lnTo>
                <a:lnTo>
                  <a:pt x="1437" y="60"/>
                </a:lnTo>
                <a:lnTo>
                  <a:pt x="1125" y="36"/>
                </a:lnTo>
                <a:lnTo>
                  <a:pt x="828" y="21"/>
                </a:lnTo>
                <a:lnTo>
                  <a:pt x="558" y="12"/>
                </a:lnTo>
                <a:lnTo>
                  <a:pt x="282" y="3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6"/>
          <p:cNvSpPr>
            <a:spLocks/>
          </p:cNvSpPr>
          <p:nvPr/>
        </p:nvSpPr>
        <p:spPr bwMode="white">
          <a:xfrm>
            <a:off x="0" y="2460625"/>
            <a:ext cx="9144000" cy="2497138"/>
          </a:xfrm>
          <a:custGeom>
            <a:avLst/>
            <a:gdLst>
              <a:gd name="T0" fmla="*/ 0 w 5760"/>
              <a:gd name="T1" fmla="*/ 0 h 1573"/>
              <a:gd name="T2" fmla="*/ 0 w 5760"/>
              <a:gd name="T3" fmla="*/ 2147483646 h 1573"/>
              <a:gd name="T4" fmla="*/ 2147483646 w 5760"/>
              <a:gd name="T5" fmla="*/ 2147483646 h 1573"/>
              <a:gd name="T6" fmla="*/ 2147483646 w 5760"/>
              <a:gd name="T7" fmla="*/ 2147483646 h 1573"/>
              <a:gd name="T8" fmla="*/ 2147483646 w 5760"/>
              <a:gd name="T9" fmla="*/ 2147483646 h 1573"/>
              <a:gd name="T10" fmla="*/ 2147483646 w 5760"/>
              <a:gd name="T11" fmla="*/ 2147483646 h 1573"/>
              <a:gd name="T12" fmla="*/ 2147483646 w 5760"/>
              <a:gd name="T13" fmla="*/ 2147483646 h 1573"/>
              <a:gd name="T14" fmla="*/ 2147483646 w 5760"/>
              <a:gd name="T15" fmla="*/ 2147483646 h 1573"/>
              <a:gd name="T16" fmla="*/ 2147483646 w 5760"/>
              <a:gd name="T17" fmla="*/ 2147483646 h 1573"/>
              <a:gd name="T18" fmla="*/ 2147483646 w 5760"/>
              <a:gd name="T19" fmla="*/ 2147483646 h 1573"/>
              <a:gd name="T20" fmla="*/ 2147483646 w 5760"/>
              <a:gd name="T21" fmla="*/ 2147483646 h 1573"/>
              <a:gd name="T22" fmla="*/ 2147483646 w 5760"/>
              <a:gd name="T23" fmla="*/ 2147483646 h 1573"/>
              <a:gd name="T24" fmla="*/ 2147483646 w 5760"/>
              <a:gd name="T25" fmla="*/ 2147483646 h 1573"/>
              <a:gd name="T26" fmla="*/ 2147483646 w 5760"/>
              <a:gd name="T27" fmla="*/ 2147483646 h 1573"/>
              <a:gd name="T28" fmla="*/ 2147483646 w 5760"/>
              <a:gd name="T29" fmla="*/ 2147483646 h 1573"/>
              <a:gd name="T30" fmla="*/ 2147483646 w 5760"/>
              <a:gd name="T31" fmla="*/ 2147483646 h 1573"/>
              <a:gd name="T32" fmla="*/ 2147483646 w 5760"/>
              <a:gd name="T33" fmla="*/ 2147483646 h 1573"/>
              <a:gd name="T34" fmla="*/ 2147483646 w 5760"/>
              <a:gd name="T35" fmla="*/ 2147483646 h 1573"/>
              <a:gd name="T36" fmla="*/ 2147483646 w 5760"/>
              <a:gd name="T37" fmla="*/ 2147483646 h 1573"/>
              <a:gd name="T38" fmla="*/ 2147483646 w 5760"/>
              <a:gd name="T39" fmla="*/ 2147483646 h 1573"/>
              <a:gd name="T40" fmla="*/ 2147483646 w 5760"/>
              <a:gd name="T41" fmla="*/ 2147483646 h 1573"/>
              <a:gd name="T42" fmla="*/ 2147483646 w 5760"/>
              <a:gd name="T43" fmla="*/ 2147483646 h 1573"/>
              <a:gd name="T44" fmla="*/ 2147483646 w 5760"/>
              <a:gd name="T45" fmla="*/ 2147483646 h 1573"/>
              <a:gd name="T46" fmla="*/ 2147483646 w 5760"/>
              <a:gd name="T47" fmla="*/ 2147483646 h 1573"/>
              <a:gd name="T48" fmla="*/ 2147483646 w 5760"/>
              <a:gd name="T49" fmla="*/ 2147483646 h 1573"/>
              <a:gd name="T50" fmla="*/ 2147483646 w 5760"/>
              <a:gd name="T51" fmla="*/ 2147483646 h 1573"/>
              <a:gd name="T52" fmla="*/ 2147483646 w 5760"/>
              <a:gd name="T53" fmla="*/ 2147483646 h 1573"/>
              <a:gd name="T54" fmla="*/ 2147483646 w 5760"/>
              <a:gd name="T55" fmla="*/ 2147483646 h 1573"/>
              <a:gd name="T56" fmla="*/ 2147483646 w 5760"/>
              <a:gd name="T57" fmla="*/ 2147483646 h 1573"/>
              <a:gd name="T58" fmla="*/ 2147483646 w 5760"/>
              <a:gd name="T59" fmla="*/ 2147483646 h 1573"/>
              <a:gd name="T60" fmla="*/ 2147483646 w 5760"/>
              <a:gd name="T61" fmla="*/ 2147483646 h 1573"/>
              <a:gd name="T62" fmla="*/ 2147483646 w 5760"/>
              <a:gd name="T63" fmla="*/ 2147483646 h 1573"/>
              <a:gd name="T64" fmla="*/ 2147483646 w 5760"/>
              <a:gd name="T65" fmla="*/ 2147483646 h 1573"/>
              <a:gd name="T66" fmla="*/ 2147483646 w 5760"/>
              <a:gd name="T67" fmla="*/ 2147483646 h 1573"/>
              <a:gd name="T68" fmla="*/ 2147483646 w 5760"/>
              <a:gd name="T69" fmla="*/ 2147483646 h 1573"/>
              <a:gd name="T70" fmla="*/ 2147483646 w 5760"/>
              <a:gd name="T71" fmla="*/ 2147483646 h 1573"/>
              <a:gd name="T72" fmla="*/ 2147483646 w 5760"/>
              <a:gd name="T73" fmla="*/ 2147483646 h 1573"/>
              <a:gd name="T74" fmla="*/ 2147483646 w 5760"/>
              <a:gd name="T75" fmla="*/ 2147483646 h 1573"/>
              <a:gd name="T76" fmla="*/ 2147483646 w 5760"/>
              <a:gd name="T77" fmla="*/ 2147483646 h 1573"/>
              <a:gd name="T78" fmla="*/ 2147483646 w 5760"/>
              <a:gd name="T79" fmla="*/ 2147483646 h 1573"/>
              <a:gd name="T80" fmla="*/ 2147483646 w 5760"/>
              <a:gd name="T81" fmla="*/ 2147483646 h 1573"/>
              <a:gd name="T82" fmla="*/ 2147483646 w 5760"/>
              <a:gd name="T83" fmla="*/ 2147483646 h 1573"/>
              <a:gd name="T84" fmla="*/ 2147483646 w 5760"/>
              <a:gd name="T85" fmla="*/ 2147483646 h 1573"/>
              <a:gd name="T86" fmla="*/ 2147483646 w 5760"/>
              <a:gd name="T87" fmla="*/ 2147483646 h 1573"/>
              <a:gd name="T88" fmla="*/ 2147483646 w 5760"/>
              <a:gd name="T89" fmla="*/ 2147483646 h 1573"/>
              <a:gd name="T90" fmla="*/ 2147483646 w 5760"/>
              <a:gd name="T91" fmla="*/ 2147483646 h 1573"/>
              <a:gd name="T92" fmla="*/ 2147483646 w 5760"/>
              <a:gd name="T93" fmla="*/ 2147483646 h 1573"/>
              <a:gd name="T94" fmla="*/ 2147483646 w 5760"/>
              <a:gd name="T95" fmla="*/ 0 h 1573"/>
              <a:gd name="T96" fmla="*/ 0 w 5760"/>
              <a:gd name="T97" fmla="*/ 0 h 157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760" h="1573">
                <a:moveTo>
                  <a:pt x="0" y="0"/>
                </a:moveTo>
                <a:lnTo>
                  <a:pt x="0" y="351"/>
                </a:lnTo>
                <a:lnTo>
                  <a:pt x="282" y="357"/>
                </a:lnTo>
                <a:lnTo>
                  <a:pt x="627" y="363"/>
                </a:lnTo>
                <a:lnTo>
                  <a:pt x="960" y="375"/>
                </a:lnTo>
                <a:lnTo>
                  <a:pt x="1218" y="393"/>
                </a:lnTo>
                <a:lnTo>
                  <a:pt x="1470" y="411"/>
                </a:lnTo>
                <a:lnTo>
                  <a:pt x="1746" y="435"/>
                </a:lnTo>
                <a:lnTo>
                  <a:pt x="2022" y="462"/>
                </a:lnTo>
                <a:lnTo>
                  <a:pt x="2340" y="504"/>
                </a:lnTo>
                <a:lnTo>
                  <a:pt x="2664" y="549"/>
                </a:lnTo>
                <a:lnTo>
                  <a:pt x="2952" y="597"/>
                </a:lnTo>
                <a:lnTo>
                  <a:pt x="3225" y="648"/>
                </a:lnTo>
                <a:lnTo>
                  <a:pt x="3513" y="708"/>
                </a:lnTo>
                <a:lnTo>
                  <a:pt x="3693" y="750"/>
                </a:lnTo>
                <a:lnTo>
                  <a:pt x="3936" y="810"/>
                </a:lnTo>
                <a:lnTo>
                  <a:pt x="4095" y="855"/>
                </a:lnTo>
                <a:lnTo>
                  <a:pt x="4281" y="909"/>
                </a:lnTo>
                <a:lnTo>
                  <a:pt x="4503" y="981"/>
                </a:lnTo>
                <a:lnTo>
                  <a:pt x="4704" y="1053"/>
                </a:lnTo>
                <a:lnTo>
                  <a:pt x="4911" y="1131"/>
                </a:lnTo>
                <a:lnTo>
                  <a:pt x="5073" y="1197"/>
                </a:lnTo>
                <a:lnTo>
                  <a:pt x="5256" y="1281"/>
                </a:lnTo>
                <a:lnTo>
                  <a:pt x="5475" y="1401"/>
                </a:lnTo>
                <a:lnTo>
                  <a:pt x="5628" y="1482"/>
                </a:lnTo>
                <a:lnTo>
                  <a:pt x="5759" y="1572"/>
                </a:lnTo>
                <a:lnTo>
                  <a:pt x="5759" y="633"/>
                </a:lnTo>
                <a:lnTo>
                  <a:pt x="5493" y="570"/>
                </a:lnTo>
                <a:lnTo>
                  <a:pt x="5214" y="501"/>
                </a:lnTo>
                <a:lnTo>
                  <a:pt x="4950" y="444"/>
                </a:lnTo>
                <a:lnTo>
                  <a:pt x="4701" y="396"/>
                </a:lnTo>
                <a:lnTo>
                  <a:pt x="4425" y="348"/>
                </a:lnTo>
                <a:lnTo>
                  <a:pt x="4110" y="294"/>
                </a:lnTo>
                <a:lnTo>
                  <a:pt x="3813" y="252"/>
                </a:lnTo>
                <a:lnTo>
                  <a:pt x="3549" y="213"/>
                </a:lnTo>
                <a:lnTo>
                  <a:pt x="3261" y="183"/>
                </a:lnTo>
                <a:lnTo>
                  <a:pt x="3015" y="153"/>
                </a:lnTo>
                <a:lnTo>
                  <a:pt x="2757" y="129"/>
                </a:lnTo>
                <a:lnTo>
                  <a:pt x="2520" y="105"/>
                </a:lnTo>
                <a:lnTo>
                  <a:pt x="2301" y="87"/>
                </a:lnTo>
                <a:lnTo>
                  <a:pt x="2013" y="66"/>
                </a:lnTo>
                <a:lnTo>
                  <a:pt x="1731" y="48"/>
                </a:lnTo>
                <a:lnTo>
                  <a:pt x="1524" y="39"/>
                </a:lnTo>
                <a:lnTo>
                  <a:pt x="1260" y="27"/>
                </a:lnTo>
                <a:lnTo>
                  <a:pt x="966" y="15"/>
                </a:lnTo>
                <a:lnTo>
                  <a:pt x="714" y="12"/>
                </a:lnTo>
                <a:lnTo>
                  <a:pt x="510" y="6"/>
                </a:lnTo>
                <a:lnTo>
                  <a:pt x="243" y="0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7"/>
          <p:cNvSpPr>
            <a:spLocks/>
          </p:cNvSpPr>
          <p:nvPr/>
        </p:nvSpPr>
        <p:spPr bwMode="white">
          <a:xfrm>
            <a:off x="0" y="1793875"/>
            <a:ext cx="9144000" cy="1539875"/>
          </a:xfrm>
          <a:custGeom>
            <a:avLst/>
            <a:gdLst>
              <a:gd name="T0" fmla="*/ 0 w 5760"/>
              <a:gd name="T1" fmla="*/ 0 h 970"/>
              <a:gd name="T2" fmla="*/ 0 w 5760"/>
              <a:gd name="T3" fmla="*/ 2147483646 h 970"/>
              <a:gd name="T4" fmla="*/ 2147483646 w 5760"/>
              <a:gd name="T5" fmla="*/ 2147483646 h 970"/>
              <a:gd name="T6" fmla="*/ 2147483646 w 5760"/>
              <a:gd name="T7" fmla="*/ 2147483646 h 970"/>
              <a:gd name="T8" fmla="*/ 2147483646 w 5760"/>
              <a:gd name="T9" fmla="*/ 2147483646 h 970"/>
              <a:gd name="T10" fmla="*/ 2147483646 w 5760"/>
              <a:gd name="T11" fmla="*/ 2147483646 h 970"/>
              <a:gd name="T12" fmla="*/ 2147483646 w 5760"/>
              <a:gd name="T13" fmla="*/ 2147483646 h 970"/>
              <a:gd name="T14" fmla="*/ 2147483646 w 5760"/>
              <a:gd name="T15" fmla="*/ 2147483646 h 970"/>
              <a:gd name="T16" fmla="*/ 2147483646 w 5760"/>
              <a:gd name="T17" fmla="*/ 2147483646 h 970"/>
              <a:gd name="T18" fmla="*/ 2147483646 w 5760"/>
              <a:gd name="T19" fmla="*/ 2147483646 h 970"/>
              <a:gd name="T20" fmla="*/ 2147483646 w 5760"/>
              <a:gd name="T21" fmla="*/ 2147483646 h 970"/>
              <a:gd name="T22" fmla="*/ 2147483646 w 5760"/>
              <a:gd name="T23" fmla="*/ 2147483646 h 970"/>
              <a:gd name="T24" fmla="*/ 2147483646 w 5760"/>
              <a:gd name="T25" fmla="*/ 2147483646 h 970"/>
              <a:gd name="T26" fmla="*/ 2147483646 w 5760"/>
              <a:gd name="T27" fmla="*/ 2147483646 h 970"/>
              <a:gd name="T28" fmla="*/ 2147483646 w 5760"/>
              <a:gd name="T29" fmla="*/ 2147483646 h 970"/>
              <a:gd name="T30" fmla="*/ 2147483646 w 5760"/>
              <a:gd name="T31" fmla="*/ 2147483646 h 970"/>
              <a:gd name="T32" fmla="*/ 2147483646 w 5760"/>
              <a:gd name="T33" fmla="*/ 2147483646 h 970"/>
              <a:gd name="T34" fmla="*/ 2147483646 w 5760"/>
              <a:gd name="T35" fmla="*/ 2147483646 h 970"/>
              <a:gd name="T36" fmla="*/ 2147483646 w 5760"/>
              <a:gd name="T37" fmla="*/ 2147483646 h 970"/>
              <a:gd name="T38" fmla="*/ 2147483646 w 5760"/>
              <a:gd name="T39" fmla="*/ 2147483646 h 970"/>
              <a:gd name="T40" fmla="*/ 2147483646 w 5760"/>
              <a:gd name="T41" fmla="*/ 2147483646 h 970"/>
              <a:gd name="T42" fmla="*/ 2147483646 w 5760"/>
              <a:gd name="T43" fmla="*/ 2147483646 h 970"/>
              <a:gd name="T44" fmla="*/ 2147483646 w 5760"/>
              <a:gd name="T45" fmla="*/ 0 h 970"/>
              <a:gd name="T46" fmla="*/ 0 w 5760"/>
              <a:gd name="T47" fmla="*/ 0 h 97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5760" h="970">
                <a:moveTo>
                  <a:pt x="0" y="0"/>
                </a:moveTo>
                <a:lnTo>
                  <a:pt x="0" y="339"/>
                </a:lnTo>
                <a:lnTo>
                  <a:pt x="318" y="342"/>
                </a:lnTo>
                <a:lnTo>
                  <a:pt x="591" y="348"/>
                </a:lnTo>
                <a:lnTo>
                  <a:pt x="846" y="354"/>
                </a:lnTo>
                <a:lnTo>
                  <a:pt x="1074" y="360"/>
                </a:lnTo>
                <a:lnTo>
                  <a:pt x="1314" y="366"/>
                </a:lnTo>
                <a:lnTo>
                  <a:pt x="1599" y="381"/>
                </a:lnTo>
                <a:lnTo>
                  <a:pt x="1911" y="399"/>
                </a:lnTo>
                <a:lnTo>
                  <a:pt x="2241" y="420"/>
                </a:lnTo>
                <a:lnTo>
                  <a:pt x="2619" y="453"/>
                </a:lnTo>
                <a:lnTo>
                  <a:pt x="2889" y="477"/>
                </a:lnTo>
                <a:lnTo>
                  <a:pt x="3177" y="507"/>
                </a:lnTo>
                <a:lnTo>
                  <a:pt x="3498" y="543"/>
                </a:lnTo>
                <a:lnTo>
                  <a:pt x="3813" y="585"/>
                </a:lnTo>
                <a:lnTo>
                  <a:pt x="4044" y="618"/>
                </a:lnTo>
                <a:lnTo>
                  <a:pt x="4365" y="669"/>
                </a:lnTo>
                <a:lnTo>
                  <a:pt x="4683" y="726"/>
                </a:lnTo>
                <a:lnTo>
                  <a:pt x="4980" y="786"/>
                </a:lnTo>
                <a:lnTo>
                  <a:pt x="5268" y="846"/>
                </a:lnTo>
                <a:lnTo>
                  <a:pt x="5646" y="942"/>
                </a:lnTo>
                <a:lnTo>
                  <a:pt x="5759" y="969"/>
                </a:lnTo>
                <a:lnTo>
                  <a:pt x="5759" y="0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8"/>
          <p:cNvSpPr>
            <a:spLocks/>
          </p:cNvSpPr>
          <p:nvPr/>
        </p:nvSpPr>
        <p:spPr bwMode="white">
          <a:xfrm>
            <a:off x="0" y="-20638"/>
            <a:ext cx="9144000" cy="1682751"/>
          </a:xfrm>
          <a:custGeom>
            <a:avLst/>
            <a:gdLst>
              <a:gd name="T0" fmla="*/ 0 w 5760"/>
              <a:gd name="T1" fmla="*/ 2147483646 h 1060"/>
              <a:gd name="T2" fmla="*/ 0 w 5760"/>
              <a:gd name="T3" fmla="*/ 2147483646 h 1060"/>
              <a:gd name="T4" fmla="*/ 2147483646 w 5760"/>
              <a:gd name="T5" fmla="*/ 2147483646 h 1060"/>
              <a:gd name="T6" fmla="*/ 2147483646 w 5760"/>
              <a:gd name="T7" fmla="*/ 0 h 1060"/>
              <a:gd name="T8" fmla="*/ 2147483646 w 5760"/>
              <a:gd name="T9" fmla="*/ 0 h 1060"/>
              <a:gd name="T10" fmla="*/ 2147483646 w 5760"/>
              <a:gd name="T11" fmla="*/ 2147483646 h 1060"/>
              <a:gd name="T12" fmla="*/ 2147483646 w 5760"/>
              <a:gd name="T13" fmla="*/ 2147483646 h 1060"/>
              <a:gd name="T14" fmla="*/ 2147483646 w 5760"/>
              <a:gd name="T15" fmla="*/ 2147483646 h 1060"/>
              <a:gd name="T16" fmla="*/ 2147483646 w 5760"/>
              <a:gd name="T17" fmla="*/ 2147483646 h 1060"/>
              <a:gd name="T18" fmla="*/ 2147483646 w 5760"/>
              <a:gd name="T19" fmla="*/ 2147483646 h 1060"/>
              <a:gd name="T20" fmla="*/ 2147483646 w 5760"/>
              <a:gd name="T21" fmla="*/ 2147483646 h 1060"/>
              <a:gd name="T22" fmla="*/ 2147483646 w 5760"/>
              <a:gd name="T23" fmla="*/ 2147483646 h 1060"/>
              <a:gd name="T24" fmla="*/ 2147483646 w 5760"/>
              <a:gd name="T25" fmla="*/ 2147483646 h 1060"/>
              <a:gd name="T26" fmla="*/ 2147483646 w 5760"/>
              <a:gd name="T27" fmla="*/ 2147483646 h 1060"/>
              <a:gd name="T28" fmla="*/ 2147483646 w 5760"/>
              <a:gd name="T29" fmla="*/ 2147483646 h 1060"/>
              <a:gd name="T30" fmla="*/ 2147483646 w 5760"/>
              <a:gd name="T31" fmla="*/ 2147483646 h 1060"/>
              <a:gd name="T32" fmla="*/ 2147483646 w 5760"/>
              <a:gd name="T33" fmla="*/ 2147483646 h 1060"/>
              <a:gd name="T34" fmla="*/ 2147483646 w 5760"/>
              <a:gd name="T35" fmla="*/ 2147483646 h 1060"/>
              <a:gd name="T36" fmla="*/ 2147483646 w 5760"/>
              <a:gd name="T37" fmla="*/ 2147483646 h 1060"/>
              <a:gd name="T38" fmla="*/ 2147483646 w 5760"/>
              <a:gd name="T39" fmla="*/ 2147483646 h 1060"/>
              <a:gd name="T40" fmla="*/ 2147483646 w 5760"/>
              <a:gd name="T41" fmla="*/ 2147483646 h 1060"/>
              <a:gd name="T42" fmla="*/ 2147483646 w 5760"/>
              <a:gd name="T43" fmla="*/ 2147483646 h 1060"/>
              <a:gd name="T44" fmla="*/ 2147483646 w 5760"/>
              <a:gd name="T45" fmla="*/ 2147483646 h 1060"/>
              <a:gd name="T46" fmla="*/ 2147483646 w 5760"/>
              <a:gd name="T47" fmla="*/ 2147483646 h 1060"/>
              <a:gd name="T48" fmla="*/ 2147483646 w 5760"/>
              <a:gd name="T49" fmla="*/ 2147483646 h 1060"/>
              <a:gd name="T50" fmla="*/ 2147483646 w 5760"/>
              <a:gd name="T51" fmla="*/ 2147483646 h 1060"/>
              <a:gd name="T52" fmla="*/ 2147483646 w 5760"/>
              <a:gd name="T53" fmla="*/ 2147483646 h 1060"/>
              <a:gd name="T54" fmla="*/ 0 w 5760"/>
              <a:gd name="T55" fmla="*/ 2147483646 h 1060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5760" h="1060">
                <a:moveTo>
                  <a:pt x="0" y="753"/>
                </a:moveTo>
                <a:lnTo>
                  <a:pt x="0" y="1059"/>
                </a:lnTo>
                <a:lnTo>
                  <a:pt x="5759" y="1059"/>
                </a:lnTo>
                <a:lnTo>
                  <a:pt x="5759" y="0"/>
                </a:lnTo>
                <a:lnTo>
                  <a:pt x="5430" y="0"/>
                </a:lnTo>
                <a:lnTo>
                  <a:pt x="5298" y="84"/>
                </a:lnTo>
                <a:lnTo>
                  <a:pt x="5136" y="159"/>
                </a:lnTo>
                <a:lnTo>
                  <a:pt x="4968" y="222"/>
                </a:lnTo>
                <a:lnTo>
                  <a:pt x="4812" y="267"/>
                </a:lnTo>
                <a:lnTo>
                  <a:pt x="4626" y="324"/>
                </a:lnTo>
                <a:lnTo>
                  <a:pt x="4440" y="366"/>
                </a:lnTo>
                <a:lnTo>
                  <a:pt x="4230" y="414"/>
                </a:lnTo>
                <a:lnTo>
                  <a:pt x="3939" y="468"/>
                </a:lnTo>
                <a:lnTo>
                  <a:pt x="3711" y="504"/>
                </a:lnTo>
                <a:lnTo>
                  <a:pt x="3441" y="543"/>
                </a:lnTo>
                <a:lnTo>
                  <a:pt x="3189" y="579"/>
                </a:lnTo>
                <a:lnTo>
                  <a:pt x="2925" y="606"/>
                </a:lnTo>
                <a:lnTo>
                  <a:pt x="2679" y="633"/>
                </a:lnTo>
                <a:lnTo>
                  <a:pt x="2418" y="654"/>
                </a:lnTo>
                <a:lnTo>
                  <a:pt x="2142" y="675"/>
                </a:lnTo>
                <a:lnTo>
                  <a:pt x="1896" y="693"/>
                </a:lnTo>
                <a:lnTo>
                  <a:pt x="1647" y="708"/>
                </a:lnTo>
                <a:lnTo>
                  <a:pt x="1404" y="720"/>
                </a:lnTo>
                <a:lnTo>
                  <a:pt x="1170" y="732"/>
                </a:lnTo>
                <a:lnTo>
                  <a:pt x="906" y="738"/>
                </a:lnTo>
                <a:lnTo>
                  <a:pt x="534" y="747"/>
                </a:lnTo>
                <a:lnTo>
                  <a:pt x="201" y="753"/>
                </a:lnTo>
                <a:lnTo>
                  <a:pt x="0" y="753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9"/>
          <p:cNvSpPr>
            <a:spLocks/>
          </p:cNvSpPr>
          <p:nvPr/>
        </p:nvSpPr>
        <p:spPr bwMode="white">
          <a:xfrm>
            <a:off x="0" y="-20638"/>
            <a:ext cx="8388350" cy="1068388"/>
          </a:xfrm>
          <a:custGeom>
            <a:avLst/>
            <a:gdLst>
              <a:gd name="T0" fmla="*/ 0 w 5284"/>
              <a:gd name="T1" fmla="*/ 2147483646 h 673"/>
              <a:gd name="T2" fmla="*/ 0 w 5284"/>
              <a:gd name="T3" fmla="*/ 2147483646 h 673"/>
              <a:gd name="T4" fmla="*/ 2147483646 w 5284"/>
              <a:gd name="T5" fmla="*/ 2147483646 h 673"/>
              <a:gd name="T6" fmla="*/ 2147483646 w 5284"/>
              <a:gd name="T7" fmla="*/ 2147483646 h 673"/>
              <a:gd name="T8" fmla="*/ 2147483646 w 5284"/>
              <a:gd name="T9" fmla="*/ 2147483646 h 673"/>
              <a:gd name="T10" fmla="*/ 2147483646 w 5284"/>
              <a:gd name="T11" fmla="*/ 2147483646 h 673"/>
              <a:gd name="T12" fmla="*/ 2147483646 w 5284"/>
              <a:gd name="T13" fmla="*/ 2147483646 h 673"/>
              <a:gd name="T14" fmla="*/ 2147483646 w 5284"/>
              <a:gd name="T15" fmla="*/ 2147483646 h 673"/>
              <a:gd name="T16" fmla="*/ 2147483646 w 5284"/>
              <a:gd name="T17" fmla="*/ 2147483646 h 673"/>
              <a:gd name="T18" fmla="*/ 2147483646 w 5284"/>
              <a:gd name="T19" fmla="*/ 2147483646 h 673"/>
              <a:gd name="T20" fmla="*/ 2147483646 w 5284"/>
              <a:gd name="T21" fmla="*/ 2147483646 h 673"/>
              <a:gd name="T22" fmla="*/ 2147483646 w 5284"/>
              <a:gd name="T23" fmla="*/ 2147483646 h 673"/>
              <a:gd name="T24" fmla="*/ 2147483646 w 5284"/>
              <a:gd name="T25" fmla="*/ 2147483646 h 673"/>
              <a:gd name="T26" fmla="*/ 2147483646 w 5284"/>
              <a:gd name="T27" fmla="*/ 2147483646 h 673"/>
              <a:gd name="T28" fmla="*/ 2147483646 w 5284"/>
              <a:gd name="T29" fmla="*/ 2147483646 h 673"/>
              <a:gd name="T30" fmla="*/ 2147483646 w 5284"/>
              <a:gd name="T31" fmla="*/ 2147483646 h 673"/>
              <a:gd name="T32" fmla="*/ 2147483646 w 5284"/>
              <a:gd name="T33" fmla="*/ 2147483646 h 673"/>
              <a:gd name="T34" fmla="*/ 2147483646 w 5284"/>
              <a:gd name="T35" fmla="*/ 2147483646 h 673"/>
              <a:gd name="T36" fmla="*/ 2147483646 w 5284"/>
              <a:gd name="T37" fmla="*/ 2147483646 h 673"/>
              <a:gd name="T38" fmla="*/ 2147483646 w 5284"/>
              <a:gd name="T39" fmla="*/ 2147483646 h 673"/>
              <a:gd name="T40" fmla="*/ 2147483646 w 5284"/>
              <a:gd name="T41" fmla="*/ 2147483646 h 673"/>
              <a:gd name="T42" fmla="*/ 2147483646 w 5284"/>
              <a:gd name="T43" fmla="*/ 2147483646 h 673"/>
              <a:gd name="T44" fmla="*/ 2147483646 w 5284"/>
              <a:gd name="T45" fmla="*/ 2147483646 h 673"/>
              <a:gd name="T46" fmla="*/ 2147483646 w 5284"/>
              <a:gd name="T47" fmla="*/ 2147483646 h 673"/>
              <a:gd name="T48" fmla="*/ 2147483646 w 5284"/>
              <a:gd name="T49" fmla="*/ 2147483646 h 673"/>
              <a:gd name="T50" fmla="*/ 2147483646 w 5284"/>
              <a:gd name="T51" fmla="*/ 2147483646 h 673"/>
              <a:gd name="T52" fmla="*/ 2147483646 w 5284"/>
              <a:gd name="T53" fmla="*/ 0 h 673"/>
              <a:gd name="T54" fmla="*/ 2147483646 w 5284"/>
              <a:gd name="T55" fmla="*/ 0 h 673"/>
              <a:gd name="T56" fmla="*/ 2147483646 w 5284"/>
              <a:gd name="T57" fmla="*/ 2147483646 h 673"/>
              <a:gd name="T58" fmla="*/ 2147483646 w 5284"/>
              <a:gd name="T59" fmla="*/ 2147483646 h 673"/>
              <a:gd name="T60" fmla="*/ 2147483646 w 5284"/>
              <a:gd name="T61" fmla="*/ 2147483646 h 673"/>
              <a:gd name="T62" fmla="*/ 2147483646 w 5284"/>
              <a:gd name="T63" fmla="*/ 2147483646 h 673"/>
              <a:gd name="T64" fmla="*/ 2147483646 w 5284"/>
              <a:gd name="T65" fmla="*/ 2147483646 h 673"/>
              <a:gd name="T66" fmla="*/ 2147483646 w 5284"/>
              <a:gd name="T67" fmla="*/ 2147483646 h 673"/>
              <a:gd name="T68" fmla="*/ 2147483646 w 5284"/>
              <a:gd name="T69" fmla="*/ 2147483646 h 673"/>
              <a:gd name="T70" fmla="*/ 2147483646 w 5284"/>
              <a:gd name="T71" fmla="*/ 2147483646 h 673"/>
              <a:gd name="T72" fmla="*/ 2147483646 w 5284"/>
              <a:gd name="T73" fmla="*/ 2147483646 h 673"/>
              <a:gd name="T74" fmla="*/ 2147483646 w 5284"/>
              <a:gd name="T75" fmla="*/ 2147483646 h 673"/>
              <a:gd name="T76" fmla="*/ 2147483646 w 5284"/>
              <a:gd name="T77" fmla="*/ 2147483646 h 673"/>
              <a:gd name="T78" fmla="*/ 2147483646 w 5284"/>
              <a:gd name="T79" fmla="*/ 2147483646 h 673"/>
              <a:gd name="T80" fmla="*/ 2147483646 w 5284"/>
              <a:gd name="T81" fmla="*/ 2147483646 h 673"/>
              <a:gd name="T82" fmla="*/ 2147483646 w 5284"/>
              <a:gd name="T83" fmla="*/ 2147483646 h 673"/>
              <a:gd name="T84" fmla="*/ 2147483646 w 5284"/>
              <a:gd name="T85" fmla="*/ 2147483646 h 673"/>
              <a:gd name="T86" fmla="*/ 0 w 5284"/>
              <a:gd name="T87" fmla="*/ 2147483646 h 6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84" h="673">
                <a:moveTo>
                  <a:pt x="0" y="366"/>
                </a:moveTo>
                <a:lnTo>
                  <a:pt x="0" y="672"/>
                </a:lnTo>
                <a:lnTo>
                  <a:pt x="303" y="672"/>
                </a:lnTo>
                <a:lnTo>
                  <a:pt x="723" y="663"/>
                </a:lnTo>
                <a:lnTo>
                  <a:pt x="1020" y="654"/>
                </a:lnTo>
                <a:lnTo>
                  <a:pt x="1302" y="642"/>
                </a:lnTo>
                <a:lnTo>
                  <a:pt x="1554" y="630"/>
                </a:lnTo>
                <a:lnTo>
                  <a:pt x="1779" y="615"/>
                </a:lnTo>
                <a:lnTo>
                  <a:pt x="1962" y="606"/>
                </a:lnTo>
                <a:lnTo>
                  <a:pt x="2193" y="588"/>
                </a:lnTo>
                <a:lnTo>
                  <a:pt x="2448" y="570"/>
                </a:lnTo>
                <a:lnTo>
                  <a:pt x="2700" y="546"/>
                </a:lnTo>
                <a:lnTo>
                  <a:pt x="2904" y="528"/>
                </a:lnTo>
                <a:lnTo>
                  <a:pt x="3138" y="498"/>
                </a:lnTo>
                <a:lnTo>
                  <a:pt x="3324" y="474"/>
                </a:lnTo>
                <a:lnTo>
                  <a:pt x="3534" y="447"/>
                </a:lnTo>
                <a:lnTo>
                  <a:pt x="3735" y="420"/>
                </a:lnTo>
                <a:lnTo>
                  <a:pt x="3933" y="384"/>
                </a:lnTo>
                <a:lnTo>
                  <a:pt x="4116" y="351"/>
                </a:lnTo>
                <a:lnTo>
                  <a:pt x="4266" y="318"/>
                </a:lnTo>
                <a:lnTo>
                  <a:pt x="4446" y="279"/>
                </a:lnTo>
                <a:lnTo>
                  <a:pt x="4620" y="237"/>
                </a:lnTo>
                <a:lnTo>
                  <a:pt x="4779" y="192"/>
                </a:lnTo>
                <a:lnTo>
                  <a:pt x="4920" y="147"/>
                </a:lnTo>
                <a:lnTo>
                  <a:pt x="5085" y="90"/>
                </a:lnTo>
                <a:lnTo>
                  <a:pt x="5193" y="42"/>
                </a:lnTo>
                <a:lnTo>
                  <a:pt x="5283" y="0"/>
                </a:lnTo>
                <a:lnTo>
                  <a:pt x="3201" y="0"/>
                </a:lnTo>
                <a:lnTo>
                  <a:pt x="2982" y="57"/>
                </a:lnTo>
                <a:lnTo>
                  <a:pt x="2775" y="108"/>
                </a:lnTo>
                <a:lnTo>
                  <a:pt x="2562" y="150"/>
                </a:lnTo>
                <a:lnTo>
                  <a:pt x="2397" y="183"/>
                </a:lnTo>
                <a:lnTo>
                  <a:pt x="2205" y="213"/>
                </a:lnTo>
                <a:lnTo>
                  <a:pt x="2001" y="243"/>
                </a:lnTo>
                <a:lnTo>
                  <a:pt x="1776" y="273"/>
                </a:lnTo>
                <a:lnTo>
                  <a:pt x="1536" y="297"/>
                </a:lnTo>
                <a:lnTo>
                  <a:pt x="1344" y="312"/>
                </a:lnTo>
                <a:lnTo>
                  <a:pt x="1134" y="330"/>
                </a:lnTo>
                <a:lnTo>
                  <a:pt x="921" y="342"/>
                </a:lnTo>
                <a:lnTo>
                  <a:pt x="696" y="354"/>
                </a:lnTo>
                <a:lnTo>
                  <a:pt x="501" y="360"/>
                </a:lnTo>
                <a:lnTo>
                  <a:pt x="279" y="366"/>
                </a:lnTo>
                <a:lnTo>
                  <a:pt x="99" y="369"/>
                </a:lnTo>
                <a:lnTo>
                  <a:pt x="0" y="366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0"/>
          <p:cNvSpPr>
            <a:spLocks/>
          </p:cNvSpPr>
          <p:nvPr/>
        </p:nvSpPr>
        <p:spPr bwMode="white">
          <a:xfrm>
            <a:off x="0" y="-20638"/>
            <a:ext cx="4578350" cy="454026"/>
          </a:xfrm>
          <a:custGeom>
            <a:avLst/>
            <a:gdLst>
              <a:gd name="T0" fmla="*/ 0 w 2884"/>
              <a:gd name="T1" fmla="*/ 0 h 286"/>
              <a:gd name="T2" fmla="*/ 0 w 2884"/>
              <a:gd name="T3" fmla="*/ 2147483646 h 286"/>
              <a:gd name="T4" fmla="*/ 2147483646 w 2884"/>
              <a:gd name="T5" fmla="*/ 2147483646 h 286"/>
              <a:gd name="T6" fmla="*/ 2147483646 w 2884"/>
              <a:gd name="T7" fmla="*/ 2147483646 h 286"/>
              <a:gd name="T8" fmla="*/ 2147483646 w 2884"/>
              <a:gd name="T9" fmla="*/ 2147483646 h 286"/>
              <a:gd name="T10" fmla="*/ 2147483646 w 2884"/>
              <a:gd name="T11" fmla="*/ 2147483646 h 286"/>
              <a:gd name="T12" fmla="*/ 2147483646 w 2884"/>
              <a:gd name="T13" fmla="*/ 2147483646 h 286"/>
              <a:gd name="T14" fmla="*/ 2147483646 w 2884"/>
              <a:gd name="T15" fmla="*/ 2147483646 h 286"/>
              <a:gd name="T16" fmla="*/ 2147483646 w 2884"/>
              <a:gd name="T17" fmla="*/ 2147483646 h 286"/>
              <a:gd name="T18" fmla="*/ 2147483646 w 2884"/>
              <a:gd name="T19" fmla="*/ 2147483646 h 286"/>
              <a:gd name="T20" fmla="*/ 2147483646 w 2884"/>
              <a:gd name="T21" fmla="*/ 2147483646 h 286"/>
              <a:gd name="T22" fmla="*/ 2147483646 w 2884"/>
              <a:gd name="T23" fmla="*/ 2147483646 h 286"/>
              <a:gd name="T24" fmla="*/ 2147483646 w 2884"/>
              <a:gd name="T25" fmla="*/ 2147483646 h 286"/>
              <a:gd name="T26" fmla="*/ 2147483646 w 2884"/>
              <a:gd name="T27" fmla="*/ 2147483646 h 286"/>
              <a:gd name="T28" fmla="*/ 2147483646 w 2884"/>
              <a:gd name="T29" fmla="*/ 0 h 286"/>
              <a:gd name="T30" fmla="*/ 0 w 2884"/>
              <a:gd name="T31" fmla="*/ 0 h 28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884" h="286">
                <a:moveTo>
                  <a:pt x="0" y="0"/>
                </a:moveTo>
                <a:lnTo>
                  <a:pt x="0" y="285"/>
                </a:lnTo>
                <a:lnTo>
                  <a:pt x="192" y="285"/>
                </a:lnTo>
                <a:lnTo>
                  <a:pt x="384" y="282"/>
                </a:lnTo>
                <a:lnTo>
                  <a:pt x="579" y="276"/>
                </a:lnTo>
                <a:lnTo>
                  <a:pt x="789" y="267"/>
                </a:lnTo>
                <a:lnTo>
                  <a:pt x="999" y="258"/>
                </a:lnTo>
                <a:lnTo>
                  <a:pt x="1161" y="246"/>
                </a:lnTo>
                <a:lnTo>
                  <a:pt x="1302" y="234"/>
                </a:lnTo>
                <a:lnTo>
                  <a:pt x="1458" y="222"/>
                </a:lnTo>
                <a:lnTo>
                  <a:pt x="1665" y="201"/>
                </a:lnTo>
                <a:lnTo>
                  <a:pt x="1992" y="159"/>
                </a:lnTo>
                <a:lnTo>
                  <a:pt x="2301" y="117"/>
                </a:lnTo>
                <a:lnTo>
                  <a:pt x="2604" y="60"/>
                </a:lnTo>
                <a:lnTo>
                  <a:pt x="2883" y="0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2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E33D2-FE12-44BF-B7E5-D000760B05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990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152400"/>
            <a:ext cx="8929718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142984"/>
            <a:ext cx="8732868" cy="5256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tr-TR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786563" y="62150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C461D-DEBB-4E21-8FF9-D70B5877BF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0249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059F2-EFE1-4215-B0F8-6397D5B6E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072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268413"/>
            <a:ext cx="43434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3750" y="1268413"/>
            <a:ext cx="43434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E2C1D-B12D-4DEB-ADB0-ED3D90F34E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940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F5FB0-45A6-4AC6-8E8A-3C17698BBA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583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1F4F08-F6BC-429C-84A8-B7C45CB7F4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650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89DDC-C604-4969-AC29-FE98D8CE41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887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A86B1-A54A-451A-8427-2D5D6731B4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609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A1BA2-CAF6-4222-AA2F-D63C6E1AA4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216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7B1BA6-7C32-4F55-897D-EE77ADA4B6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931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3722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3722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57823-AF40-426E-842D-B6AB810A1E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514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8"/>
          <p:cNvSpPr>
            <a:spLocks/>
          </p:cNvSpPr>
          <p:nvPr/>
        </p:nvSpPr>
        <p:spPr bwMode="white">
          <a:xfrm>
            <a:off x="0" y="0"/>
            <a:ext cx="9144000" cy="1276350"/>
          </a:xfrm>
          <a:custGeom>
            <a:avLst/>
            <a:gdLst>
              <a:gd name="T0" fmla="*/ 0 w 5760"/>
              <a:gd name="T1" fmla="*/ 2147483646 h 1060"/>
              <a:gd name="T2" fmla="*/ 0 w 5760"/>
              <a:gd name="T3" fmla="*/ 2147483646 h 1060"/>
              <a:gd name="T4" fmla="*/ 2147483646 w 5760"/>
              <a:gd name="T5" fmla="*/ 2147483646 h 1060"/>
              <a:gd name="T6" fmla="*/ 2147483646 w 5760"/>
              <a:gd name="T7" fmla="*/ 0 h 1060"/>
              <a:gd name="T8" fmla="*/ 2147483646 w 5760"/>
              <a:gd name="T9" fmla="*/ 0 h 1060"/>
              <a:gd name="T10" fmla="*/ 2147483646 w 5760"/>
              <a:gd name="T11" fmla="*/ 2147483646 h 1060"/>
              <a:gd name="T12" fmla="*/ 2147483646 w 5760"/>
              <a:gd name="T13" fmla="*/ 2147483646 h 1060"/>
              <a:gd name="T14" fmla="*/ 2147483646 w 5760"/>
              <a:gd name="T15" fmla="*/ 2147483646 h 1060"/>
              <a:gd name="T16" fmla="*/ 2147483646 w 5760"/>
              <a:gd name="T17" fmla="*/ 2147483646 h 1060"/>
              <a:gd name="T18" fmla="*/ 2147483646 w 5760"/>
              <a:gd name="T19" fmla="*/ 2147483646 h 1060"/>
              <a:gd name="T20" fmla="*/ 2147483646 w 5760"/>
              <a:gd name="T21" fmla="*/ 2147483646 h 1060"/>
              <a:gd name="T22" fmla="*/ 2147483646 w 5760"/>
              <a:gd name="T23" fmla="*/ 2147483646 h 1060"/>
              <a:gd name="T24" fmla="*/ 2147483646 w 5760"/>
              <a:gd name="T25" fmla="*/ 2147483646 h 1060"/>
              <a:gd name="T26" fmla="*/ 2147483646 w 5760"/>
              <a:gd name="T27" fmla="*/ 2147483646 h 1060"/>
              <a:gd name="T28" fmla="*/ 2147483646 w 5760"/>
              <a:gd name="T29" fmla="*/ 2147483646 h 1060"/>
              <a:gd name="T30" fmla="*/ 2147483646 w 5760"/>
              <a:gd name="T31" fmla="*/ 2147483646 h 1060"/>
              <a:gd name="T32" fmla="*/ 2147483646 w 5760"/>
              <a:gd name="T33" fmla="*/ 2147483646 h 1060"/>
              <a:gd name="T34" fmla="*/ 2147483646 w 5760"/>
              <a:gd name="T35" fmla="*/ 2147483646 h 1060"/>
              <a:gd name="T36" fmla="*/ 2147483646 w 5760"/>
              <a:gd name="T37" fmla="*/ 2147483646 h 1060"/>
              <a:gd name="T38" fmla="*/ 2147483646 w 5760"/>
              <a:gd name="T39" fmla="*/ 2147483646 h 1060"/>
              <a:gd name="T40" fmla="*/ 2147483646 w 5760"/>
              <a:gd name="T41" fmla="*/ 2147483646 h 1060"/>
              <a:gd name="T42" fmla="*/ 2147483646 w 5760"/>
              <a:gd name="T43" fmla="*/ 2147483646 h 1060"/>
              <a:gd name="T44" fmla="*/ 2147483646 w 5760"/>
              <a:gd name="T45" fmla="*/ 2147483646 h 1060"/>
              <a:gd name="T46" fmla="*/ 2147483646 w 5760"/>
              <a:gd name="T47" fmla="*/ 2147483646 h 1060"/>
              <a:gd name="T48" fmla="*/ 2147483646 w 5760"/>
              <a:gd name="T49" fmla="*/ 2147483646 h 1060"/>
              <a:gd name="T50" fmla="*/ 2147483646 w 5760"/>
              <a:gd name="T51" fmla="*/ 2147483646 h 1060"/>
              <a:gd name="T52" fmla="*/ 2147483646 w 5760"/>
              <a:gd name="T53" fmla="*/ 2147483646 h 1060"/>
              <a:gd name="T54" fmla="*/ 0 w 5760"/>
              <a:gd name="T55" fmla="*/ 2147483646 h 1060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5760" h="1060">
                <a:moveTo>
                  <a:pt x="0" y="753"/>
                </a:moveTo>
                <a:lnTo>
                  <a:pt x="0" y="1059"/>
                </a:lnTo>
                <a:lnTo>
                  <a:pt x="5759" y="1059"/>
                </a:lnTo>
                <a:lnTo>
                  <a:pt x="5759" y="0"/>
                </a:lnTo>
                <a:lnTo>
                  <a:pt x="5430" y="0"/>
                </a:lnTo>
                <a:lnTo>
                  <a:pt x="5298" y="84"/>
                </a:lnTo>
                <a:lnTo>
                  <a:pt x="5136" y="159"/>
                </a:lnTo>
                <a:lnTo>
                  <a:pt x="4968" y="222"/>
                </a:lnTo>
                <a:lnTo>
                  <a:pt x="4812" y="267"/>
                </a:lnTo>
                <a:lnTo>
                  <a:pt x="4626" y="324"/>
                </a:lnTo>
                <a:lnTo>
                  <a:pt x="4440" y="366"/>
                </a:lnTo>
                <a:lnTo>
                  <a:pt x="4230" y="414"/>
                </a:lnTo>
                <a:lnTo>
                  <a:pt x="3939" y="468"/>
                </a:lnTo>
                <a:lnTo>
                  <a:pt x="3711" y="504"/>
                </a:lnTo>
                <a:lnTo>
                  <a:pt x="3441" y="543"/>
                </a:lnTo>
                <a:lnTo>
                  <a:pt x="3189" y="579"/>
                </a:lnTo>
                <a:lnTo>
                  <a:pt x="2925" y="606"/>
                </a:lnTo>
                <a:lnTo>
                  <a:pt x="2679" y="633"/>
                </a:lnTo>
                <a:lnTo>
                  <a:pt x="2418" y="654"/>
                </a:lnTo>
                <a:lnTo>
                  <a:pt x="2142" y="675"/>
                </a:lnTo>
                <a:lnTo>
                  <a:pt x="1896" y="693"/>
                </a:lnTo>
                <a:lnTo>
                  <a:pt x="1647" y="708"/>
                </a:lnTo>
                <a:lnTo>
                  <a:pt x="1404" y="720"/>
                </a:lnTo>
                <a:lnTo>
                  <a:pt x="1170" y="732"/>
                </a:lnTo>
                <a:lnTo>
                  <a:pt x="906" y="738"/>
                </a:lnTo>
                <a:lnTo>
                  <a:pt x="534" y="747"/>
                </a:lnTo>
                <a:lnTo>
                  <a:pt x="201" y="753"/>
                </a:lnTo>
                <a:lnTo>
                  <a:pt x="0" y="753"/>
                </a:lnTo>
              </a:path>
            </a:pathLst>
          </a:custGeom>
          <a:solidFill>
            <a:srgbClr val="ECE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Freeform 9"/>
          <p:cNvSpPr>
            <a:spLocks/>
          </p:cNvSpPr>
          <p:nvPr/>
        </p:nvSpPr>
        <p:spPr bwMode="white">
          <a:xfrm>
            <a:off x="0" y="0"/>
            <a:ext cx="8001000" cy="1031875"/>
          </a:xfrm>
          <a:custGeom>
            <a:avLst/>
            <a:gdLst>
              <a:gd name="T0" fmla="*/ 0 w 5284"/>
              <a:gd name="T1" fmla="*/ 2147483646 h 673"/>
              <a:gd name="T2" fmla="*/ 0 w 5284"/>
              <a:gd name="T3" fmla="*/ 2147483646 h 673"/>
              <a:gd name="T4" fmla="*/ 2147483646 w 5284"/>
              <a:gd name="T5" fmla="*/ 2147483646 h 673"/>
              <a:gd name="T6" fmla="*/ 2147483646 w 5284"/>
              <a:gd name="T7" fmla="*/ 2147483646 h 673"/>
              <a:gd name="T8" fmla="*/ 2147483646 w 5284"/>
              <a:gd name="T9" fmla="*/ 2147483646 h 673"/>
              <a:gd name="T10" fmla="*/ 2147483646 w 5284"/>
              <a:gd name="T11" fmla="*/ 2147483646 h 673"/>
              <a:gd name="T12" fmla="*/ 2147483646 w 5284"/>
              <a:gd name="T13" fmla="*/ 2147483646 h 673"/>
              <a:gd name="T14" fmla="*/ 2147483646 w 5284"/>
              <a:gd name="T15" fmla="*/ 2147483646 h 673"/>
              <a:gd name="T16" fmla="*/ 2147483646 w 5284"/>
              <a:gd name="T17" fmla="*/ 2147483646 h 673"/>
              <a:gd name="T18" fmla="*/ 2147483646 w 5284"/>
              <a:gd name="T19" fmla="*/ 2147483646 h 673"/>
              <a:gd name="T20" fmla="*/ 2147483646 w 5284"/>
              <a:gd name="T21" fmla="*/ 2147483646 h 673"/>
              <a:gd name="T22" fmla="*/ 2147483646 w 5284"/>
              <a:gd name="T23" fmla="*/ 2147483646 h 673"/>
              <a:gd name="T24" fmla="*/ 2147483646 w 5284"/>
              <a:gd name="T25" fmla="*/ 2147483646 h 673"/>
              <a:gd name="T26" fmla="*/ 2147483646 w 5284"/>
              <a:gd name="T27" fmla="*/ 2147483646 h 673"/>
              <a:gd name="T28" fmla="*/ 2147483646 w 5284"/>
              <a:gd name="T29" fmla="*/ 2147483646 h 673"/>
              <a:gd name="T30" fmla="*/ 2147483646 w 5284"/>
              <a:gd name="T31" fmla="*/ 2147483646 h 673"/>
              <a:gd name="T32" fmla="*/ 2147483646 w 5284"/>
              <a:gd name="T33" fmla="*/ 2147483646 h 673"/>
              <a:gd name="T34" fmla="*/ 2147483646 w 5284"/>
              <a:gd name="T35" fmla="*/ 2147483646 h 673"/>
              <a:gd name="T36" fmla="*/ 2147483646 w 5284"/>
              <a:gd name="T37" fmla="*/ 2147483646 h 673"/>
              <a:gd name="T38" fmla="*/ 2147483646 w 5284"/>
              <a:gd name="T39" fmla="*/ 2147483646 h 673"/>
              <a:gd name="T40" fmla="*/ 2147483646 w 5284"/>
              <a:gd name="T41" fmla="*/ 2147483646 h 673"/>
              <a:gd name="T42" fmla="*/ 2147483646 w 5284"/>
              <a:gd name="T43" fmla="*/ 2147483646 h 673"/>
              <a:gd name="T44" fmla="*/ 2147483646 w 5284"/>
              <a:gd name="T45" fmla="*/ 2147483646 h 673"/>
              <a:gd name="T46" fmla="*/ 2147483646 w 5284"/>
              <a:gd name="T47" fmla="*/ 2147483646 h 673"/>
              <a:gd name="T48" fmla="*/ 2147483646 w 5284"/>
              <a:gd name="T49" fmla="*/ 2147483646 h 673"/>
              <a:gd name="T50" fmla="*/ 2147483646 w 5284"/>
              <a:gd name="T51" fmla="*/ 2147483646 h 673"/>
              <a:gd name="T52" fmla="*/ 2147483646 w 5284"/>
              <a:gd name="T53" fmla="*/ 0 h 673"/>
              <a:gd name="T54" fmla="*/ 2147483646 w 5284"/>
              <a:gd name="T55" fmla="*/ 0 h 673"/>
              <a:gd name="T56" fmla="*/ 2147483646 w 5284"/>
              <a:gd name="T57" fmla="*/ 2147483646 h 673"/>
              <a:gd name="T58" fmla="*/ 2147483646 w 5284"/>
              <a:gd name="T59" fmla="*/ 2147483646 h 673"/>
              <a:gd name="T60" fmla="*/ 2147483646 w 5284"/>
              <a:gd name="T61" fmla="*/ 2147483646 h 673"/>
              <a:gd name="T62" fmla="*/ 2147483646 w 5284"/>
              <a:gd name="T63" fmla="*/ 2147483646 h 673"/>
              <a:gd name="T64" fmla="*/ 2147483646 w 5284"/>
              <a:gd name="T65" fmla="*/ 2147483646 h 673"/>
              <a:gd name="T66" fmla="*/ 2147483646 w 5284"/>
              <a:gd name="T67" fmla="*/ 2147483646 h 673"/>
              <a:gd name="T68" fmla="*/ 2147483646 w 5284"/>
              <a:gd name="T69" fmla="*/ 2147483646 h 673"/>
              <a:gd name="T70" fmla="*/ 2147483646 w 5284"/>
              <a:gd name="T71" fmla="*/ 2147483646 h 673"/>
              <a:gd name="T72" fmla="*/ 2147483646 w 5284"/>
              <a:gd name="T73" fmla="*/ 2147483646 h 673"/>
              <a:gd name="T74" fmla="*/ 2147483646 w 5284"/>
              <a:gd name="T75" fmla="*/ 2147483646 h 673"/>
              <a:gd name="T76" fmla="*/ 2147483646 w 5284"/>
              <a:gd name="T77" fmla="*/ 2147483646 h 673"/>
              <a:gd name="T78" fmla="*/ 2147483646 w 5284"/>
              <a:gd name="T79" fmla="*/ 2147483646 h 673"/>
              <a:gd name="T80" fmla="*/ 2147483646 w 5284"/>
              <a:gd name="T81" fmla="*/ 2147483646 h 673"/>
              <a:gd name="T82" fmla="*/ 2147483646 w 5284"/>
              <a:gd name="T83" fmla="*/ 2147483646 h 673"/>
              <a:gd name="T84" fmla="*/ 2147483646 w 5284"/>
              <a:gd name="T85" fmla="*/ 2147483646 h 673"/>
              <a:gd name="T86" fmla="*/ 0 w 5284"/>
              <a:gd name="T87" fmla="*/ 2147483646 h 6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84" h="673">
                <a:moveTo>
                  <a:pt x="0" y="366"/>
                </a:moveTo>
                <a:lnTo>
                  <a:pt x="0" y="672"/>
                </a:lnTo>
                <a:lnTo>
                  <a:pt x="303" y="672"/>
                </a:lnTo>
                <a:lnTo>
                  <a:pt x="723" y="663"/>
                </a:lnTo>
                <a:lnTo>
                  <a:pt x="1020" y="654"/>
                </a:lnTo>
                <a:lnTo>
                  <a:pt x="1302" y="642"/>
                </a:lnTo>
                <a:lnTo>
                  <a:pt x="1554" y="630"/>
                </a:lnTo>
                <a:lnTo>
                  <a:pt x="1779" y="615"/>
                </a:lnTo>
                <a:lnTo>
                  <a:pt x="1962" y="606"/>
                </a:lnTo>
                <a:lnTo>
                  <a:pt x="2193" y="588"/>
                </a:lnTo>
                <a:lnTo>
                  <a:pt x="2448" y="570"/>
                </a:lnTo>
                <a:lnTo>
                  <a:pt x="2700" y="546"/>
                </a:lnTo>
                <a:lnTo>
                  <a:pt x="2904" y="528"/>
                </a:lnTo>
                <a:lnTo>
                  <a:pt x="3138" y="498"/>
                </a:lnTo>
                <a:lnTo>
                  <a:pt x="3324" y="474"/>
                </a:lnTo>
                <a:lnTo>
                  <a:pt x="3534" y="447"/>
                </a:lnTo>
                <a:lnTo>
                  <a:pt x="3735" y="420"/>
                </a:lnTo>
                <a:lnTo>
                  <a:pt x="3933" y="384"/>
                </a:lnTo>
                <a:lnTo>
                  <a:pt x="4116" y="351"/>
                </a:lnTo>
                <a:lnTo>
                  <a:pt x="4266" y="318"/>
                </a:lnTo>
                <a:lnTo>
                  <a:pt x="4446" y="279"/>
                </a:lnTo>
                <a:lnTo>
                  <a:pt x="4620" y="237"/>
                </a:lnTo>
                <a:lnTo>
                  <a:pt x="4779" y="192"/>
                </a:lnTo>
                <a:lnTo>
                  <a:pt x="4920" y="147"/>
                </a:lnTo>
                <a:lnTo>
                  <a:pt x="5085" y="90"/>
                </a:lnTo>
                <a:lnTo>
                  <a:pt x="5193" y="42"/>
                </a:lnTo>
                <a:lnTo>
                  <a:pt x="5283" y="0"/>
                </a:lnTo>
                <a:lnTo>
                  <a:pt x="3201" y="0"/>
                </a:lnTo>
                <a:lnTo>
                  <a:pt x="2982" y="57"/>
                </a:lnTo>
                <a:lnTo>
                  <a:pt x="2775" y="108"/>
                </a:lnTo>
                <a:lnTo>
                  <a:pt x="2562" y="150"/>
                </a:lnTo>
                <a:lnTo>
                  <a:pt x="2397" y="183"/>
                </a:lnTo>
                <a:lnTo>
                  <a:pt x="2205" y="213"/>
                </a:lnTo>
                <a:lnTo>
                  <a:pt x="2001" y="243"/>
                </a:lnTo>
                <a:lnTo>
                  <a:pt x="1776" y="273"/>
                </a:lnTo>
                <a:lnTo>
                  <a:pt x="1536" y="297"/>
                </a:lnTo>
                <a:lnTo>
                  <a:pt x="1344" y="312"/>
                </a:lnTo>
                <a:lnTo>
                  <a:pt x="1134" y="330"/>
                </a:lnTo>
                <a:lnTo>
                  <a:pt x="921" y="342"/>
                </a:lnTo>
                <a:lnTo>
                  <a:pt x="696" y="354"/>
                </a:lnTo>
                <a:lnTo>
                  <a:pt x="501" y="360"/>
                </a:lnTo>
                <a:lnTo>
                  <a:pt x="279" y="366"/>
                </a:lnTo>
                <a:lnTo>
                  <a:pt x="99" y="369"/>
                </a:lnTo>
                <a:lnTo>
                  <a:pt x="0" y="366"/>
                </a:lnTo>
              </a:path>
            </a:pathLst>
          </a:custGeom>
          <a:solidFill>
            <a:srgbClr val="CED6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" name="Freeform 10"/>
          <p:cNvSpPr>
            <a:spLocks/>
          </p:cNvSpPr>
          <p:nvPr/>
        </p:nvSpPr>
        <p:spPr bwMode="white">
          <a:xfrm>
            <a:off x="0" y="0"/>
            <a:ext cx="4578350" cy="454025"/>
          </a:xfrm>
          <a:custGeom>
            <a:avLst/>
            <a:gdLst>
              <a:gd name="T0" fmla="*/ 0 w 2884"/>
              <a:gd name="T1" fmla="*/ 0 h 286"/>
              <a:gd name="T2" fmla="*/ 0 w 2884"/>
              <a:gd name="T3" fmla="*/ 2147483646 h 286"/>
              <a:gd name="T4" fmla="*/ 2147483646 w 2884"/>
              <a:gd name="T5" fmla="*/ 2147483646 h 286"/>
              <a:gd name="T6" fmla="*/ 2147483646 w 2884"/>
              <a:gd name="T7" fmla="*/ 2147483646 h 286"/>
              <a:gd name="T8" fmla="*/ 2147483646 w 2884"/>
              <a:gd name="T9" fmla="*/ 2147483646 h 286"/>
              <a:gd name="T10" fmla="*/ 2147483646 w 2884"/>
              <a:gd name="T11" fmla="*/ 2147483646 h 286"/>
              <a:gd name="T12" fmla="*/ 2147483646 w 2884"/>
              <a:gd name="T13" fmla="*/ 2147483646 h 286"/>
              <a:gd name="T14" fmla="*/ 2147483646 w 2884"/>
              <a:gd name="T15" fmla="*/ 2147483646 h 286"/>
              <a:gd name="T16" fmla="*/ 2147483646 w 2884"/>
              <a:gd name="T17" fmla="*/ 2147483646 h 286"/>
              <a:gd name="T18" fmla="*/ 2147483646 w 2884"/>
              <a:gd name="T19" fmla="*/ 2147483646 h 286"/>
              <a:gd name="T20" fmla="*/ 2147483646 w 2884"/>
              <a:gd name="T21" fmla="*/ 2147483646 h 286"/>
              <a:gd name="T22" fmla="*/ 2147483646 w 2884"/>
              <a:gd name="T23" fmla="*/ 2147483646 h 286"/>
              <a:gd name="T24" fmla="*/ 2147483646 w 2884"/>
              <a:gd name="T25" fmla="*/ 2147483646 h 286"/>
              <a:gd name="T26" fmla="*/ 2147483646 w 2884"/>
              <a:gd name="T27" fmla="*/ 2147483646 h 286"/>
              <a:gd name="T28" fmla="*/ 2147483646 w 2884"/>
              <a:gd name="T29" fmla="*/ 0 h 286"/>
              <a:gd name="T30" fmla="*/ 0 w 2884"/>
              <a:gd name="T31" fmla="*/ 0 h 28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884" h="286">
                <a:moveTo>
                  <a:pt x="0" y="0"/>
                </a:moveTo>
                <a:lnTo>
                  <a:pt x="0" y="285"/>
                </a:lnTo>
                <a:lnTo>
                  <a:pt x="192" y="285"/>
                </a:lnTo>
                <a:lnTo>
                  <a:pt x="384" y="282"/>
                </a:lnTo>
                <a:lnTo>
                  <a:pt x="579" y="276"/>
                </a:lnTo>
                <a:lnTo>
                  <a:pt x="789" y="267"/>
                </a:lnTo>
                <a:lnTo>
                  <a:pt x="999" y="258"/>
                </a:lnTo>
                <a:lnTo>
                  <a:pt x="1161" y="246"/>
                </a:lnTo>
                <a:lnTo>
                  <a:pt x="1302" y="234"/>
                </a:lnTo>
                <a:lnTo>
                  <a:pt x="1458" y="222"/>
                </a:lnTo>
                <a:lnTo>
                  <a:pt x="1665" y="201"/>
                </a:lnTo>
                <a:lnTo>
                  <a:pt x="1992" y="159"/>
                </a:lnTo>
                <a:lnTo>
                  <a:pt x="2301" y="117"/>
                </a:lnTo>
                <a:lnTo>
                  <a:pt x="2604" y="60"/>
                </a:lnTo>
                <a:lnTo>
                  <a:pt x="2883" y="0"/>
                </a:lnTo>
                <a:lnTo>
                  <a:pt x="0" y="0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9144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801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CC33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8150" y="63801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D129590-2331-469B-9877-03419DAB60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2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268413"/>
            <a:ext cx="88392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 smtClean="0"/>
              <a:t>Click to edit Master text styles</a:t>
            </a:r>
          </a:p>
          <a:p>
            <a:pPr lvl="1"/>
            <a:r>
              <a:rPr lang="en-US" altLang="tr-TR" smtClean="0"/>
              <a:t>Second level</a:t>
            </a:r>
          </a:p>
          <a:p>
            <a:pPr lvl="2"/>
            <a:r>
              <a:rPr lang="en-US" altLang="tr-TR" smtClean="0"/>
              <a:t>Third level</a:t>
            </a:r>
          </a:p>
          <a:p>
            <a:pPr lvl="3"/>
            <a:r>
              <a:rPr lang="en-US" altLang="tr-TR" smtClean="0"/>
              <a:t>Fourth level</a:t>
            </a:r>
            <a:endParaRPr lang="tr-TR" altLang="tr-TR" smtClean="0"/>
          </a:p>
          <a:p>
            <a:pPr lvl="3"/>
            <a:r>
              <a:rPr lang="tr-TR" altLang="tr-TR" smtClean="0"/>
              <a:t>	</a:t>
            </a:r>
            <a:r>
              <a:rPr lang="en-US" altLang="tr-TR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0" r:id="rId1"/>
    <p:sldLayoutId id="2147484271" r:id="rId2"/>
    <p:sldLayoutId id="2147484261" r:id="rId3"/>
    <p:sldLayoutId id="2147484262" r:id="rId4"/>
    <p:sldLayoutId id="2147484263" r:id="rId5"/>
    <p:sldLayoutId id="2147484264" r:id="rId6"/>
    <p:sldLayoutId id="2147484265" r:id="rId7"/>
    <p:sldLayoutId id="2147484266" r:id="rId8"/>
    <p:sldLayoutId id="2147484267" r:id="rId9"/>
    <p:sldLayoutId id="2147484268" r:id="rId10"/>
    <p:sldLayoutId id="214748426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362D6B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362D6B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362D6B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362D6B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362D6B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362D6B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362D6B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362D6B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362D6B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rgbClr val="3333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rgbClr val="3333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1600">
          <a:solidFill>
            <a:srgbClr val="3333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1600">
          <a:solidFill>
            <a:srgbClr val="3333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1600">
          <a:solidFill>
            <a:srgbClr val="3333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1600">
          <a:solidFill>
            <a:srgbClr val="3333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1600">
          <a:solidFill>
            <a:srgbClr val="3333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1600">
          <a:solidFill>
            <a:srgbClr val="3333CC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85813" y="16430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CS204 – Advanced Programming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Pointers and Linked Lists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err="1" smtClean="0"/>
              <a:t>Part</a:t>
            </a:r>
            <a:r>
              <a:rPr lang="tr-TR" dirty="0" smtClean="0"/>
              <a:t> 1: Basics</a:t>
            </a:r>
            <a:endParaRPr lang="en-US" dirty="0" smtClean="0"/>
          </a:p>
        </p:txBody>
      </p:sp>
      <p:sp>
        <p:nvSpPr>
          <p:cNvPr id="614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1564592-99EE-4994-A22A-6659721D7592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Representation of Data</a:t>
            </a:r>
            <a:endParaRPr lang="en-US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883650" cy="5449888"/>
          </a:xfrm>
        </p:spPr>
        <p:txBody>
          <a:bodyPr>
            <a:normAutofit lnSpcReduction="10000"/>
          </a:bodyPr>
          <a:lstStyle/>
          <a:p>
            <a:pPr>
              <a:lnSpc>
                <a:spcPct val="70000"/>
              </a:lnSpc>
              <a:buFontTx/>
              <a:buNone/>
              <a:defRPr/>
            </a:pPr>
            <a:r>
              <a:rPr lang="en-US" altLang="tr-TR" sz="1500" b="1" dirty="0" smtClean="0"/>
              <a:t>All data in a the computer’s memory is represented as a sequence of bits:</a:t>
            </a:r>
            <a:r>
              <a:rPr lang="en-US" altLang="tr-TR" sz="1500" dirty="0" smtClean="0"/>
              <a:t>	</a:t>
            </a:r>
          </a:p>
          <a:p>
            <a:pPr>
              <a:lnSpc>
                <a:spcPct val="70000"/>
              </a:lnSpc>
              <a:buFontTx/>
              <a:buNone/>
              <a:defRPr/>
            </a:pPr>
            <a:endParaRPr lang="en-US" altLang="tr-TR" sz="1500" b="1" dirty="0" smtClean="0"/>
          </a:p>
          <a:p>
            <a:pPr>
              <a:lnSpc>
                <a:spcPct val="70000"/>
              </a:lnSpc>
              <a:buFontTx/>
              <a:buNone/>
              <a:defRPr/>
            </a:pPr>
            <a:r>
              <a:rPr lang="en-US" altLang="tr-TR" sz="1500" b="1" u="sng" dirty="0" smtClean="0"/>
              <a:t>Bit</a:t>
            </a:r>
            <a:r>
              <a:rPr lang="en-US" altLang="tr-TR" sz="1500" dirty="0" smtClean="0"/>
              <a:t> : unit of storage, represents the level of an electrical charge. Can be either 0 or 1.</a:t>
            </a:r>
            <a:endParaRPr lang="en-US" altLang="tr-TR" sz="1700" dirty="0" smtClean="0">
              <a:latin typeface="Arial Unicode MS" pitchFamily="34" charset="-128"/>
            </a:endParaRPr>
          </a:p>
          <a:p>
            <a:pPr lvl="1">
              <a:lnSpc>
                <a:spcPct val="70000"/>
              </a:lnSpc>
              <a:buFontTx/>
              <a:buNone/>
              <a:defRPr/>
            </a:pPr>
            <a:r>
              <a:rPr lang="en-US" altLang="tr-TR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tr-TR" altLang="tr-TR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70000"/>
              </a:lnSpc>
              <a:buFontTx/>
              <a:buNone/>
              <a:defRPr/>
            </a:pPr>
            <a:r>
              <a:rPr lang="en-US" altLang="tr-TR" sz="1300" dirty="0" smtClean="0">
                <a:latin typeface="Courier New" pitchFamily="49" charset="0"/>
                <a:cs typeface="Courier New" pitchFamily="49" charset="0"/>
              </a:rPr>
              <a:t> 0   1</a:t>
            </a:r>
          </a:p>
          <a:p>
            <a:pPr>
              <a:lnSpc>
                <a:spcPct val="70000"/>
              </a:lnSpc>
              <a:buFontTx/>
              <a:buNone/>
              <a:defRPr/>
            </a:pPr>
            <a:endParaRPr lang="en-US" altLang="tr-TR" sz="1500" dirty="0" smtClean="0"/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en-US" altLang="tr-TR" sz="1500" b="1" u="sng" dirty="0" smtClean="0"/>
              <a:t>Byte (</a:t>
            </a:r>
            <a:r>
              <a:rPr lang="en-US" altLang="tr-TR" sz="1500" b="1" u="sng" dirty="0" err="1" smtClean="0"/>
              <a:t>a.k.a</a:t>
            </a:r>
            <a:r>
              <a:rPr lang="en-US" altLang="tr-TR" sz="1500" b="1" u="sng" dirty="0" smtClean="0"/>
              <a:t> Octet)</a:t>
            </a:r>
            <a:r>
              <a:rPr lang="en-US" altLang="tr-TR" sz="1500" dirty="0" smtClean="0"/>
              <a:t>: 8 bits make up a byte, and a character is one byte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en-US" altLang="tr-TR" sz="1500" dirty="0" smtClean="0"/>
              <a:t>A byte can represent 256 (0…255) different symbols:</a:t>
            </a:r>
          </a:p>
          <a:p>
            <a:pPr>
              <a:lnSpc>
                <a:spcPct val="70000"/>
              </a:lnSpc>
              <a:spcBef>
                <a:spcPts val="1800"/>
              </a:spcBef>
              <a:spcAft>
                <a:spcPts val="500"/>
              </a:spcAft>
              <a:buFontTx/>
              <a:buNone/>
              <a:defRPr/>
            </a:pP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tr-TR" altLang="tr-TR" sz="1300" u="sng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tr-TR" altLang="tr-TR" sz="1300" u="sng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7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u="sng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tr-TR" altLang="tr-TR" sz="1300" u="sng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6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u="sng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tr-TR" altLang="tr-TR" sz="1300" u="sng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u="sng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tr-TR" altLang="tr-TR" sz="1300" u="sng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u="sng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tr-TR" altLang="tr-TR" sz="1300" u="sng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u="sng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tr-TR" altLang="tr-TR" sz="1300" u="sng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u="sng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tr-TR" altLang="tr-TR" sz="1300" u="sng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u="sng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tr-TR" altLang="tr-TR" sz="1300" u="sng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0</a:t>
            </a:r>
            <a:r>
              <a:rPr lang="en-US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 0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 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//binary representation and corresponding integer values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0</a:t>
            </a:r>
            <a:r>
              <a:rPr lang="en-US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 1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	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 2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 3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	...</a:t>
            </a:r>
            <a:endParaRPr lang="tr-TR" altLang="tr-TR" sz="1300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  <a:sym typeface="Symbol" pitchFamily="18" charset="2"/>
            </a:endParaRP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0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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128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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129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	...</a:t>
            </a:r>
            <a:endParaRPr lang="en-US" altLang="tr-TR" sz="1300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  <a:sym typeface="Symbol" pitchFamily="18" charset="2"/>
            </a:endParaRP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	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0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 25</a:t>
            </a: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4</a:t>
            </a:r>
          </a:p>
          <a:p>
            <a:pPr>
              <a:lnSpc>
                <a:spcPct val="7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pPr>
            <a:r>
              <a:rPr lang="tr-TR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1</a:t>
            </a:r>
            <a:r>
              <a:rPr lang="en-US" altLang="tr-TR" sz="13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tr-TR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tr-TR" sz="1300" baseline="30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tr-TR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1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</a:t>
            </a:r>
            <a:r>
              <a:rPr lang="tr-TR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</a:t>
            </a:r>
            <a:r>
              <a:rPr lang="en-US" altLang="tr-TR" sz="13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 255</a:t>
            </a:r>
            <a:endParaRPr lang="en-US" altLang="tr-TR" sz="1300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70000"/>
              </a:lnSpc>
              <a:buFontTx/>
              <a:buNone/>
              <a:defRPr/>
            </a:pPr>
            <a:endParaRPr lang="tr-TR" altLang="tr-TR" sz="1500" b="1" u="sng" dirty="0" smtClean="0"/>
          </a:p>
          <a:p>
            <a:pPr>
              <a:lnSpc>
                <a:spcPct val="70000"/>
              </a:lnSpc>
              <a:buFontTx/>
              <a:buNone/>
              <a:defRPr/>
            </a:pPr>
            <a:r>
              <a:rPr lang="en-US" altLang="tr-TR" sz="1500" b="1" u="sng" dirty="0" smtClean="0"/>
              <a:t>Word</a:t>
            </a:r>
            <a:r>
              <a:rPr lang="en-US" altLang="tr-TR" sz="1500" dirty="0" smtClean="0"/>
              <a:t>: typical data size used in computer</a:t>
            </a:r>
          </a:p>
          <a:p>
            <a:pPr lvl="1">
              <a:lnSpc>
                <a:spcPct val="70000"/>
              </a:lnSpc>
              <a:defRPr/>
            </a:pPr>
            <a:r>
              <a:rPr lang="en-US" altLang="tr-TR" sz="1500" dirty="0" smtClean="0">
                <a:solidFill>
                  <a:schemeClr val="tx1"/>
                </a:solidFill>
              </a:rPr>
              <a:t>32 bits on some old computers (maybe in use)</a:t>
            </a:r>
          </a:p>
          <a:p>
            <a:pPr lvl="1">
              <a:lnSpc>
                <a:spcPct val="70000"/>
              </a:lnSpc>
              <a:defRPr/>
            </a:pPr>
            <a:r>
              <a:rPr lang="en-US" altLang="tr-TR" sz="1500" dirty="0" smtClean="0">
                <a:solidFill>
                  <a:schemeClr val="tx1"/>
                </a:solidFill>
              </a:rPr>
              <a:t>64 bits on most current modern computers</a:t>
            </a:r>
          </a:p>
        </p:txBody>
      </p:sp>
      <p:sp>
        <p:nvSpPr>
          <p:cNvPr id="819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E27483E-C3A9-4686-BFE8-9D8C20A42C89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Hex Numbers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143000"/>
            <a:ext cx="8732838" cy="52562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dirty="0" smtClean="0"/>
              <a:t>Hexadecimal numbers: </a:t>
            </a:r>
            <a:endParaRPr lang="en-US" altLang="tr-TR" sz="2000" dirty="0" smtClean="0">
              <a:solidFill>
                <a:srgbClr val="0000FF"/>
              </a:solidFill>
            </a:endParaRPr>
          </a:p>
          <a:p>
            <a:pPr lvl="1">
              <a:buClr>
                <a:srgbClr val="0000FF"/>
              </a:buClr>
            </a:pPr>
            <a:r>
              <a:rPr lang="en-US" altLang="tr-TR" dirty="0" smtClean="0">
                <a:solidFill>
                  <a:srgbClr val="0000FF"/>
                </a:solidFill>
              </a:rPr>
              <a:t>Each `digit` can take values: 0,1,2,3,4,5,6,7,8,9,A,B,C,D,E,F</a:t>
            </a:r>
          </a:p>
          <a:p>
            <a:pPr lvl="1">
              <a:buClr>
                <a:srgbClr val="0000FF"/>
              </a:buClr>
            </a:pPr>
            <a:r>
              <a:rPr lang="en-US" altLang="tr-TR" dirty="0" smtClean="0">
                <a:solidFill>
                  <a:srgbClr val="0000FF"/>
                </a:solidFill>
              </a:rPr>
              <a:t>corresponding to values in: 0 to 15 (0 … 9, A=10, B=11, C=12, D=13, E=14, F=15)</a:t>
            </a:r>
            <a:endParaRPr lang="tr-TR" altLang="tr-TR" dirty="0" smtClean="0">
              <a:solidFill>
                <a:srgbClr val="0000FF"/>
              </a:solidFill>
            </a:endParaRPr>
          </a:p>
          <a:p>
            <a:pPr lvl="1">
              <a:buClr>
                <a:srgbClr val="0000FF"/>
              </a:buClr>
            </a:pPr>
            <a:r>
              <a:rPr lang="tr-TR" altLang="tr-TR" dirty="0" smtClean="0">
                <a:solidFill>
                  <a:srgbClr val="0000FF"/>
                </a:solidFill>
              </a:rPr>
              <a:t>4 </a:t>
            </a:r>
            <a:r>
              <a:rPr lang="tr-TR" altLang="tr-TR" dirty="0" err="1" smtClean="0">
                <a:solidFill>
                  <a:srgbClr val="0000FF"/>
                </a:solidFill>
              </a:rPr>
              <a:t>binary</a:t>
            </a:r>
            <a:r>
              <a:rPr lang="tr-TR" altLang="tr-TR" dirty="0" smtClean="0">
                <a:solidFill>
                  <a:srgbClr val="0000FF"/>
                </a:solidFill>
              </a:rPr>
              <a:t> </a:t>
            </a:r>
            <a:r>
              <a:rPr lang="tr-TR" altLang="tr-TR" dirty="0" err="1" smtClean="0">
                <a:solidFill>
                  <a:srgbClr val="0000FF"/>
                </a:solidFill>
              </a:rPr>
              <a:t>digits</a:t>
            </a:r>
            <a:r>
              <a:rPr lang="tr-TR" altLang="tr-TR" dirty="0" smtClean="0">
                <a:solidFill>
                  <a:srgbClr val="0000FF"/>
                </a:solidFill>
              </a:rPr>
              <a:t> </a:t>
            </a:r>
            <a:r>
              <a:rPr lang="tr-TR" altLang="tr-TR" dirty="0" err="1" smtClean="0">
                <a:solidFill>
                  <a:srgbClr val="0000FF"/>
                </a:solidFill>
              </a:rPr>
              <a:t>are</a:t>
            </a:r>
            <a:r>
              <a:rPr lang="tr-TR" altLang="tr-TR" dirty="0" smtClean="0">
                <a:solidFill>
                  <a:srgbClr val="0000FF"/>
                </a:solidFill>
              </a:rPr>
              <a:t> </a:t>
            </a:r>
            <a:r>
              <a:rPr lang="tr-TR" altLang="tr-TR" dirty="0" err="1" smtClean="0">
                <a:solidFill>
                  <a:srgbClr val="0000FF"/>
                </a:solidFill>
              </a:rPr>
              <a:t>one</a:t>
            </a:r>
            <a:r>
              <a:rPr lang="tr-TR" altLang="tr-TR" dirty="0" smtClean="0">
                <a:solidFill>
                  <a:srgbClr val="0000FF"/>
                </a:solidFill>
              </a:rPr>
              <a:t> </a:t>
            </a:r>
            <a:r>
              <a:rPr lang="tr-TR" altLang="tr-TR" dirty="0" err="1" smtClean="0">
                <a:solidFill>
                  <a:srgbClr val="0000FF"/>
                </a:solidFill>
              </a:rPr>
              <a:t>hex</a:t>
            </a:r>
            <a:r>
              <a:rPr lang="tr-TR" altLang="tr-TR" dirty="0" smtClean="0">
                <a:solidFill>
                  <a:srgbClr val="0000FF"/>
                </a:solidFill>
              </a:rPr>
              <a:t> </a:t>
            </a:r>
            <a:r>
              <a:rPr lang="tr-TR" altLang="tr-TR" dirty="0" err="1" smtClean="0">
                <a:solidFill>
                  <a:srgbClr val="0000FF"/>
                </a:solidFill>
              </a:rPr>
              <a:t>digit</a:t>
            </a:r>
            <a:endParaRPr lang="en-US" altLang="tr-TR" dirty="0" smtClean="0">
              <a:solidFill>
                <a:srgbClr val="0000FF"/>
              </a:solidFill>
            </a:endParaRPr>
          </a:p>
          <a:p>
            <a:pPr>
              <a:buFontTx/>
              <a:buNone/>
            </a:pPr>
            <a:endParaRPr lang="en-US" altLang="tr-TR" dirty="0" smtClean="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en-US" altLang="tr-TR" dirty="0" smtClean="0"/>
              <a:t>e.g. 2435af00       </a:t>
            </a:r>
            <a:r>
              <a:rPr lang="en-US" altLang="tr-TR" dirty="0" smtClean="0">
                <a:sym typeface="Symbol" panose="05050102010706020507" pitchFamily="18" charset="2"/>
              </a:rPr>
              <a:t></a:t>
            </a:r>
            <a:r>
              <a:rPr lang="en-US" altLang="tr-TR" dirty="0" smtClean="0"/>
              <a:t>	</a:t>
            </a:r>
          </a:p>
          <a:p>
            <a:pPr>
              <a:buFontTx/>
              <a:buNone/>
            </a:pPr>
            <a:endParaRPr lang="en-US" altLang="tr-TR" dirty="0" smtClean="0"/>
          </a:p>
          <a:p>
            <a:pPr>
              <a:buFontTx/>
              <a:buNone/>
            </a:pPr>
            <a:endParaRPr lang="en-US" altLang="tr-TR" dirty="0" smtClean="0"/>
          </a:p>
          <a:p>
            <a:pPr>
              <a:buFontTx/>
              <a:buNone/>
            </a:pPr>
            <a:r>
              <a:rPr lang="en-US" altLang="tr-TR" sz="2000" dirty="0" smtClean="0"/>
              <a:t>            0 0 1 0 | 0 1 0 0 | _ _ _ _ | _ _ _ _| _ _ _ _ | _ _ _ _ | _ _ _ _ | _ _ _ _ </a:t>
            </a:r>
          </a:p>
          <a:p>
            <a:pPr>
              <a:buFontTx/>
              <a:buNone/>
            </a:pPr>
            <a:endParaRPr lang="en-US" altLang="tr-TR" dirty="0" smtClean="0">
              <a:latin typeface="Arial Unicode MS" pitchFamily="34" charset="-128"/>
            </a:endParaRPr>
          </a:p>
          <a:p>
            <a:pPr>
              <a:buFontTx/>
              <a:buNone/>
            </a:pPr>
            <a:endParaRPr lang="en-US" altLang="tr-TR" dirty="0" smtClean="0">
              <a:latin typeface="Arial Unicode MS" pitchFamily="34" charset="-128"/>
            </a:endParaRPr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white">
          <a:xfrm>
            <a:off x="928688" y="3800475"/>
            <a:ext cx="595312" cy="6191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white">
          <a:xfrm>
            <a:off x="1122363" y="3817938"/>
            <a:ext cx="1289050" cy="649287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246" name="AutoShape 7"/>
          <p:cNvSpPr>
            <a:spLocks/>
          </p:cNvSpPr>
          <p:nvPr/>
        </p:nvSpPr>
        <p:spPr bwMode="white">
          <a:xfrm rot="-5400000">
            <a:off x="2324100" y="4152900"/>
            <a:ext cx="228600" cy="9144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0247" name="AutoShape 8"/>
          <p:cNvSpPr>
            <a:spLocks/>
          </p:cNvSpPr>
          <p:nvPr/>
        </p:nvSpPr>
        <p:spPr bwMode="white">
          <a:xfrm rot="-5400000">
            <a:off x="1409700" y="4152900"/>
            <a:ext cx="228600" cy="9144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0248" name="Freeform 8"/>
          <p:cNvSpPr>
            <a:spLocks noChangeArrowheads="1"/>
          </p:cNvSpPr>
          <p:nvPr/>
        </p:nvSpPr>
        <p:spPr bwMode="auto">
          <a:xfrm>
            <a:off x="1587500" y="3344863"/>
            <a:ext cx="1084263" cy="131762"/>
          </a:xfrm>
          <a:custGeom>
            <a:avLst/>
            <a:gdLst>
              <a:gd name="T0" fmla="*/ 0 w 1082843"/>
              <a:gd name="T1" fmla="*/ 108908 h 132347"/>
              <a:gd name="T2" fmla="*/ 1147118 w 1082843"/>
              <a:gd name="T3" fmla="*/ 0 h 132347"/>
              <a:gd name="T4" fmla="*/ 0 60000 65536"/>
              <a:gd name="T5" fmla="*/ 0 60000 65536"/>
              <a:gd name="T6" fmla="*/ 0 w 1082843"/>
              <a:gd name="T7" fmla="*/ 0 h 132347"/>
              <a:gd name="T8" fmla="*/ 1082843 w 1082843"/>
              <a:gd name="T9" fmla="*/ 132347 h 13234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82843" h="132347">
                <a:moveTo>
                  <a:pt x="0" y="132347"/>
                </a:moveTo>
                <a:lnTo>
                  <a:pt x="1082843" y="0"/>
                </a:lnTo>
              </a:path>
            </a:pathLst>
          </a:custGeom>
          <a:noFill/>
          <a:ln w="9525" algn="ctr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682875" y="3076575"/>
            <a:ext cx="44291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tr-TR" sz="2000" dirty="0" err="1">
                <a:latin typeface="+mj-lt"/>
              </a:rPr>
              <a:t>Sometimes</a:t>
            </a:r>
            <a:r>
              <a:rPr lang="tr-TR" sz="2000" dirty="0">
                <a:latin typeface="+mj-lt"/>
              </a:rPr>
              <a:t> </a:t>
            </a:r>
            <a:r>
              <a:rPr lang="tr-TR" sz="2000" dirty="0" err="1">
                <a:latin typeface="+mj-lt"/>
              </a:rPr>
              <a:t>written</a:t>
            </a:r>
            <a:r>
              <a:rPr lang="tr-TR" sz="2000" dirty="0">
                <a:latin typeface="+mj-lt"/>
              </a:rPr>
              <a:t> as 0x2435af00</a:t>
            </a:r>
          </a:p>
        </p:txBody>
      </p:sp>
      <p:sp>
        <p:nvSpPr>
          <p:cNvPr id="1025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DEF339-BBCB-4B5A-9119-284116F39AB8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Hex Numbers: ctd.</a:t>
            </a:r>
            <a:endParaRPr lang="en-US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268413"/>
            <a:ext cx="8661400" cy="5256212"/>
          </a:xfrm>
        </p:spPr>
        <p:txBody>
          <a:bodyPr/>
          <a:lstStyle/>
          <a:p>
            <a:pPr>
              <a:buFontTx/>
              <a:buNone/>
            </a:pPr>
            <a:endParaRPr lang="en-US" altLang="tr-TR" smtClean="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en-US" altLang="tr-TR" smtClean="0">
                <a:latin typeface="Arial Unicode MS" pitchFamily="34" charset="-128"/>
              </a:rPr>
              <a:t>Representation and </a:t>
            </a:r>
            <a:r>
              <a:rPr lang="tr-TR" altLang="tr-TR" smtClean="0">
                <a:latin typeface="Arial Unicode MS" pitchFamily="34" charset="-128"/>
              </a:rPr>
              <a:t>rules of </a:t>
            </a:r>
            <a:r>
              <a:rPr lang="en-US" altLang="tr-TR" smtClean="0">
                <a:latin typeface="Arial Unicode MS" pitchFamily="34" charset="-128"/>
              </a:rPr>
              <a:t>arithmetic is similar to </a:t>
            </a:r>
            <a:r>
              <a:rPr lang="tr-TR" altLang="tr-TR" smtClean="0">
                <a:latin typeface="Arial Unicode MS" pitchFamily="34" charset="-128"/>
              </a:rPr>
              <a:t>decimal, but do not forget that the number base is 16. </a:t>
            </a:r>
            <a:endParaRPr lang="en-US" altLang="tr-TR" smtClean="0">
              <a:latin typeface="Arial Unicode MS" pitchFamily="34" charset="-128"/>
            </a:endParaRPr>
          </a:p>
          <a:p>
            <a:pPr>
              <a:buFontTx/>
              <a:buNone/>
            </a:pPr>
            <a:endParaRPr lang="en-US" altLang="tr-TR" smtClean="0">
              <a:latin typeface="Arial Unicode MS" pitchFamily="34" charset="-128"/>
            </a:endParaRPr>
          </a:p>
          <a:p>
            <a:pPr>
              <a:buFontTx/>
              <a:buNone/>
            </a:pPr>
            <a:r>
              <a:rPr lang="en-US" altLang="tr-TR" smtClean="0">
                <a:latin typeface="Arial Unicode MS" pitchFamily="34" charset="-128"/>
              </a:rPr>
              <a:t>0x2435AF00 + 1 =  0x2435AF01</a:t>
            </a:r>
          </a:p>
          <a:p>
            <a:pPr>
              <a:buFontTx/>
              <a:buNone/>
            </a:pPr>
            <a:endParaRPr lang="en-US" altLang="tr-TR" smtClean="0">
              <a:latin typeface="Arial Unicode MS" pitchFamily="34" charset="-128"/>
            </a:endParaRPr>
          </a:p>
          <a:p>
            <a:pPr>
              <a:buFontTx/>
              <a:buNone/>
            </a:pPr>
            <a:r>
              <a:rPr lang="en-US" altLang="tr-TR" smtClean="0">
                <a:latin typeface="Arial Unicode MS" pitchFamily="34" charset="-128"/>
              </a:rPr>
              <a:t>0x2435AEFF + 1 =  0x2435AF00</a:t>
            </a:r>
          </a:p>
          <a:p>
            <a:pPr>
              <a:buFontTx/>
              <a:buNone/>
            </a:pPr>
            <a:endParaRPr lang="en-US" altLang="tr-TR" smtClean="0">
              <a:latin typeface="Arial Unicode MS" pitchFamily="34" charset="-128"/>
            </a:endParaRPr>
          </a:p>
          <a:p>
            <a:pPr>
              <a:buFontTx/>
              <a:buNone/>
            </a:pPr>
            <a:endParaRPr lang="en-US" altLang="tr-TR" smtClean="0">
              <a:latin typeface="Arial Unicode MS" pitchFamily="34" charset="-128"/>
            </a:endParaRPr>
          </a:p>
        </p:txBody>
      </p:sp>
      <p:sp>
        <p:nvSpPr>
          <p:cNvPr id="1229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789A0A2-C96E-43CC-BDE2-9353E269563F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Memory</a:t>
            </a:r>
            <a:endParaRPr 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285875"/>
            <a:ext cx="8482012" cy="48863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dirty="0" smtClean="0">
                <a:latin typeface="Arial Unicode MS" pitchFamily="34" charset="-128"/>
              </a:rPr>
              <a:t>What happens when we define variables:</a:t>
            </a:r>
          </a:p>
          <a:p>
            <a:pPr>
              <a:buFontTx/>
              <a:buNone/>
            </a:pPr>
            <a:r>
              <a:rPr lang="en-US" altLang="tr-T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c = </a:t>
            </a:r>
            <a:r>
              <a:rPr lang="tr-TR" altLang="tr-T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tr-T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tr-TR" altLang="tr-T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tr-T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 </a:t>
            </a:r>
          </a:p>
          <a:p>
            <a:pPr>
              <a:buFontTx/>
              <a:buNone/>
            </a:pPr>
            <a:r>
              <a:rPr lang="en-US" altLang="tr-T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 n = 5; </a:t>
            </a:r>
            <a:r>
              <a:rPr lang="en-US" altLang="tr-TR" dirty="0" smtClean="0">
                <a:latin typeface="Arial Unicode MS" pitchFamily="34" charset="-128"/>
              </a:rPr>
              <a:t>   </a:t>
            </a:r>
          </a:p>
          <a:p>
            <a:pPr>
              <a:buFontTx/>
              <a:buNone/>
            </a:pPr>
            <a:r>
              <a:rPr lang="en-US" altLang="tr-TR" dirty="0" smtClean="0">
                <a:latin typeface="Arial Unicode MS" pitchFamily="34" charset="-128"/>
              </a:rPr>
              <a:t>     </a:t>
            </a:r>
          </a:p>
          <a:p>
            <a:pPr>
              <a:buFontTx/>
              <a:buNone/>
            </a:pPr>
            <a:r>
              <a:rPr lang="tr-TR" altLang="tr-TR" sz="1600" dirty="0" smtClean="0">
                <a:solidFill>
                  <a:srgbClr val="0000FF"/>
                </a:solidFill>
                <a:latin typeface="+mj-lt"/>
              </a:rPr>
              <a:t> </a:t>
            </a:r>
            <a:r>
              <a:rPr lang="en-US" altLang="tr-TR" sz="1600" dirty="0" smtClean="0">
                <a:solidFill>
                  <a:srgbClr val="0000FF"/>
                </a:solidFill>
                <a:latin typeface="+mj-lt"/>
              </a:rPr>
              <a:t>0x1832435af00</a:t>
            </a:r>
          </a:p>
          <a:p>
            <a:pPr>
              <a:buFontTx/>
              <a:buNone/>
            </a:pPr>
            <a:endParaRPr lang="en-US" altLang="tr-TR" sz="1600" dirty="0" smtClean="0">
              <a:solidFill>
                <a:srgbClr val="0000FF"/>
              </a:solidFill>
              <a:latin typeface="Arial Unicode MS" pitchFamily="34" charset="-128"/>
            </a:endParaRPr>
          </a:p>
          <a:p>
            <a:pPr>
              <a:buFontTx/>
              <a:buNone/>
            </a:pPr>
            <a:r>
              <a:rPr lang="en-US" altLang="tr-TR" sz="1600" dirty="0" smtClean="0">
                <a:solidFill>
                  <a:srgbClr val="0000FF"/>
                </a:solidFill>
                <a:latin typeface="+mj-lt"/>
              </a:rPr>
              <a:t> 0x1832435af01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white">
          <a:xfrm>
            <a:off x="2303562" y="4857750"/>
            <a:ext cx="781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... </a:t>
            </a:r>
          </a:p>
        </p:txBody>
      </p:sp>
      <p:sp>
        <p:nvSpPr>
          <p:cNvPr id="14341" name="Rectangle 10"/>
          <p:cNvSpPr>
            <a:spLocks noChangeArrowheads="1"/>
          </p:cNvSpPr>
          <p:nvPr/>
        </p:nvSpPr>
        <p:spPr bwMode="white">
          <a:xfrm>
            <a:off x="5334000" y="2286000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4342" name="Rectangle 11"/>
          <p:cNvSpPr>
            <a:spLocks noChangeArrowheads="1"/>
          </p:cNvSpPr>
          <p:nvPr/>
        </p:nvSpPr>
        <p:spPr bwMode="white">
          <a:xfrm>
            <a:off x="5334000" y="2590800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grpSp>
        <p:nvGrpSpPr>
          <p:cNvPr id="14343" name="Group 12"/>
          <p:cNvGrpSpPr>
            <a:grpSpLocks/>
          </p:cNvGrpSpPr>
          <p:nvPr/>
        </p:nvGrpSpPr>
        <p:grpSpPr bwMode="auto">
          <a:xfrm>
            <a:off x="4832350" y="2209800"/>
            <a:ext cx="2366963" cy="1905000"/>
            <a:chOff x="3044" y="1392"/>
            <a:chExt cx="1491" cy="1200"/>
          </a:xfrm>
        </p:grpSpPr>
        <p:sp>
          <p:nvSpPr>
            <p:cNvPr id="14360" name="Rectangle 13"/>
            <p:cNvSpPr>
              <a:spLocks noChangeArrowheads="1"/>
            </p:cNvSpPr>
            <p:nvPr/>
          </p:nvSpPr>
          <p:spPr bwMode="white">
            <a:xfrm>
              <a:off x="3360" y="1440"/>
              <a:ext cx="105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14361" name="Rectangle 14"/>
            <p:cNvSpPr>
              <a:spLocks noChangeArrowheads="1"/>
            </p:cNvSpPr>
            <p:nvPr/>
          </p:nvSpPr>
          <p:spPr bwMode="white">
            <a:xfrm>
              <a:off x="3360" y="2448"/>
              <a:ext cx="1056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14362" name="Text Box 15"/>
            <p:cNvSpPr txBox="1">
              <a:spLocks noChangeArrowheads="1"/>
            </p:cNvSpPr>
            <p:nvPr/>
          </p:nvSpPr>
          <p:spPr bwMode="white">
            <a:xfrm>
              <a:off x="3044" y="1392"/>
              <a:ext cx="149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1800" dirty="0">
                  <a:latin typeface="Times New Roman" panose="02020603050405020304" pitchFamily="18" charset="0"/>
                </a:rPr>
                <a:t>        </a:t>
              </a:r>
              <a:r>
                <a:rPr lang="tr-TR" altLang="tr-TR" sz="1800" dirty="0" smtClean="0">
                  <a:solidFill>
                    <a:srgbClr val="CC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tr-TR" altLang="tr-TR" sz="2400" dirty="0" smtClean="0">
                  <a:latin typeface="Times New Roman" panose="02020603050405020304" pitchFamily="18" charset="0"/>
                </a:rPr>
                <a:t>    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0x</a:t>
              </a:r>
              <a:r>
                <a:rPr lang="en-US" altLang="tr-TR" sz="1400" dirty="0" smtClean="0">
                  <a:solidFill>
                    <a:srgbClr val="3333CC"/>
                  </a:solidFill>
                  <a:latin typeface="+mj-lt"/>
                </a:rPr>
                <a:t>183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2435af00</a:t>
              </a:r>
              <a:r>
                <a:rPr lang="tr-TR" altLang="tr-TR" sz="2400" dirty="0" smtClean="0">
                  <a:solidFill>
                    <a:srgbClr val="CC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tr-TR" sz="24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63" name="Text Box 16"/>
            <p:cNvSpPr txBox="1">
              <a:spLocks noChangeArrowheads="1"/>
            </p:cNvSpPr>
            <p:nvPr/>
          </p:nvSpPr>
          <p:spPr bwMode="white">
            <a:xfrm>
              <a:off x="3261" y="1630"/>
              <a:ext cx="12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1800" dirty="0">
                  <a:latin typeface="Times New Roman" panose="02020603050405020304" pitchFamily="18" charset="0"/>
                </a:rPr>
                <a:t> </a:t>
              </a:r>
              <a:r>
                <a:rPr lang="tr-TR" altLang="tr-TR" sz="1800" dirty="0" smtClean="0">
                  <a:solidFill>
                    <a:srgbClr val="CC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tr-TR" altLang="tr-TR" sz="1800" dirty="0" smtClean="0">
                  <a:latin typeface="Times New Roman" panose="02020603050405020304" pitchFamily="18" charset="0"/>
                </a:rPr>
                <a:t>      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0x</a:t>
              </a:r>
              <a:r>
                <a:rPr lang="en-US" altLang="tr-TR" sz="1400" dirty="0" smtClean="0">
                  <a:solidFill>
                    <a:srgbClr val="3333CC"/>
                  </a:solidFill>
                  <a:latin typeface="+mj-lt"/>
                </a:rPr>
                <a:t>183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2435af01</a:t>
              </a:r>
              <a:endParaRPr lang="en-US" altLang="tr-TR" sz="1400" dirty="0">
                <a:solidFill>
                  <a:srgbClr val="3333CC"/>
                </a:solidFill>
                <a:latin typeface="+mj-lt"/>
              </a:endParaRPr>
            </a:p>
          </p:txBody>
        </p:sp>
      </p:grpSp>
      <p:sp>
        <p:nvSpPr>
          <p:cNvPr id="14344" name="Text Box 17"/>
          <p:cNvSpPr txBox="1">
            <a:spLocks noChangeArrowheads="1"/>
          </p:cNvSpPr>
          <p:nvPr/>
        </p:nvSpPr>
        <p:spPr bwMode="white">
          <a:xfrm>
            <a:off x="6029325" y="2892425"/>
            <a:ext cx="2413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  <a:endParaRPr lang="en-US" altLang="tr-TR" sz="1800">
              <a:latin typeface="Times New Roman" panose="02020603050405020304" pitchFamily="18" charset="0"/>
            </a:endParaRPr>
          </a:p>
        </p:txBody>
      </p:sp>
      <p:sp>
        <p:nvSpPr>
          <p:cNvPr id="8201" name="Text Box 18"/>
          <p:cNvSpPr txBox="1">
            <a:spLocks noChangeArrowheads="1"/>
          </p:cNvSpPr>
          <p:nvPr/>
        </p:nvSpPr>
        <p:spPr bwMode="white">
          <a:xfrm>
            <a:off x="5207000" y="4191000"/>
            <a:ext cx="3455988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tr-TR" altLang="tr-TR" b="1" dirty="0" err="1" smtClean="0">
                <a:latin typeface="+mn-lt"/>
              </a:rPr>
              <a:t>Symbol</a:t>
            </a:r>
            <a:r>
              <a:rPr lang="tr-TR" altLang="tr-TR" b="1" dirty="0" smtClean="0">
                <a:latin typeface="+mn-lt"/>
              </a:rPr>
              <a:t> </a:t>
            </a:r>
            <a:r>
              <a:rPr lang="tr-TR" altLang="tr-TR" b="1" dirty="0" err="1" smtClean="0">
                <a:latin typeface="+mn-lt"/>
              </a:rPr>
              <a:t>table</a:t>
            </a:r>
            <a:r>
              <a:rPr lang="tr-TR" altLang="tr-TR" b="1" dirty="0" smtClean="0">
                <a:latin typeface="+mn-lt"/>
              </a:rPr>
              <a:t>: </a:t>
            </a:r>
            <a:r>
              <a:rPr lang="tr-TR" altLang="tr-TR" dirty="0" err="1" smtClean="0">
                <a:latin typeface="+mn-lt"/>
              </a:rPr>
              <a:t>variables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and</a:t>
            </a:r>
            <a:endParaRPr lang="tr-TR" altLang="tr-TR" dirty="0" smtClean="0">
              <a:latin typeface="+mn-lt"/>
            </a:endParaRP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tr-TR" altLang="tr-TR" dirty="0" err="1" smtClean="0">
                <a:latin typeface="+mn-lt"/>
              </a:rPr>
              <a:t>their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memory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addresses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are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listed</a:t>
            </a:r>
            <a:r>
              <a:rPr lang="tr-TR" altLang="tr-TR" dirty="0" smtClean="0">
                <a:latin typeface="+mn-lt"/>
              </a:rPr>
              <a:t> here; </a:t>
            </a:r>
            <a:r>
              <a:rPr lang="tr-TR" altLang="tr-TR" dirty="0" err="1" smtClean="0">
                <a:latin typeface="+mn-lt"/>
              </a:rPr>
              <a:t>Symbol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table</a:t>
            </a:r>
            <a:r>
              <a:rPr lang="tr-TR" altLang="tr-TR" dirty="0" smtClean="0">
                <a:latin typeface="+mn-lt"/>
              </a:rPr>
              <a:t> is </a:t>
            </a:r>
            <a:r>
              <a:rPr lang="tr-TR" altLang="tr-TR" b="1" dirty="0" smtClean="0">
                <a:latin typeface="+mn-lt"/>
              </a:rPr>
              <a:t>not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something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that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you</a:t>
            </a:r>
            <a:r>
              <a:rPr lang="tr-TR" altLang="tr-TR" dirty="0" smtClean="0">
                <a:latin typeface="+mn-lt"/>
              </a:rPr>
              <a:t> can </a:t>
            </a:r>
            <a:r>
              <a:rPr lang="tr-TR" altLang="tr-TR" dirty="0" err="1" smtClean="0">
                <a:latin typeface="+mn-lt"/>
              </a:rPr>
              <a:t>directly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manipulate</a:t>
            </a:r>
            <a:r>
              <a:rPr lang="tr-TR" altLang="tr-TR" dirty="0" smtClean="0">
                <a:latin typeface="+mn-lt"/>
              </a:rPr>
              <a:t> in program</a:t>
            </a:r>
            <a:endParaRPr lang="en-US" altLang="tr-TR" dirty="0" smtClean="0">
              <a:latin typeface="+mn-lt"/>
            </a:endParaRPr>
          </a:p>
        </p:txBody>
      </p:sp>
      <p:sp>
        <p:nvSpPr>
          <p:cNvPr id="8202" name="Text Box 19"/>
          <p:cNvSpPr txBox="1">
            <a:spLocks noChangeArrowheads="1"/>
          </p:cNvSpPr>
          <p:nvPr/>
        </p:nvSpPr>
        <p:spPr bwMode="white">
          <a:xfrm>
            <a:off x="386593" y="5895975"/>
            <a:ext cx="422744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tr-TR" altLang="tr-TR" b="1" dirty="0" smtClean="0">
                <a:latin typeface="+mn-lt"/>
              </a:rPr>
              <a:t>Memory: </a:t>
            </a:r>
            <a:r>
              <a:rPr lang="tr-TR" altLang="tr-TR" dirty="0" err="1" smtClean="0">
                <a:latin typeface="+mn-lt"/>
              </a:rPr>
              <a:t>variables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are</a:t>
            </a:r>
            <a:r>
              <a:rPr lang="tr-TR" altLang="tr-TR" dirty="0" smtClean="0">
                <a:latin typeface="+mn-lt"/>
              </a:rPr>
              <a:t> </a:t>
            </a:r>
            <a:r>
              <a:rPr lang="tr-TR" altLang="tr-TR" dirty="0" err="1" smtClean="0">
                <a:latin typeface="+mn-lt"/>
              </a:rPr>
              <a:t>stored</a:t>
            </a:r>
            <a:r>
              <a:rPr lang="tr-TR" altLang="tr-TR" dirty="0" smtClean="0">
                <a:latin typeface="+mn-lt"/>
              </a:rPr>
              <a:t> here</a:t>
            </a:r>
            <a:r>
              <a:rPr lang="en-US" altLang="tr-TR" dirty="0" smtClean="0">
                <a:latin typeface="+mn-lt"/>
              </a:rPr>
              <a:t>.</a:t>
            </a:r>
            <a:br>
              <a:rPr lang="en-US" altLang="tr-TR" dirty="0" smtClean="0">
                <a:latin typeface="+mn-lt"/>
              </a:rPr>
            </a:br>
            <a:r>
              <a:rPr lang="en-US" altLang="tr-TR" dirty="0" smtClean="0">
                <a:latin typeface="+mn-lt"/>
              </a:rPr>
              <a:t>Each memory byte has an address</a:t>
            </a:r>
          </a:p>
        </p:txBody>
      </p:sp>
      <p:sp>
        <p:nvSpPr>
          <p:cNvPr id="14347" name="Text Box 9"/>
          <p:cNvSpPr txBox="1">
            <a:spLocks noChangeArrowheads="1"/>
          </p:cNvSpPr>
          <p:nvPr/>
        </p:nvSpPr>
        <p:spPr bwMode="white">
          <a:xfrm>
            <a:off x="2232125" y="3071813"/>
            <a:ext cx="11080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rgbClr val="CC0000"/>
                </a:solidFill>
                <a:latin typeface="Times New Roman" panose="02020603050405020304" pitchFamily="18" charset="0"/>
              </a:rPr>
              <a:t>01000001</a:t>
            </a:r>
            <a:endParaRPr lang="en-US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rgbClr val="CC0000"/>
                </a:solidFill>
                <a:latin typeface="Times New Roman" panose="02020603050405020304" pitchFamily="18" charset="0"/>
              </a:rPr>
              <a:t>00000000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rgbClr val="CC0000"/>
                </a:solidFill>
                <a:latin typeface="Times New Roman" panose="02020603050405020304" pitchFamily="18" charset="0"/>
              </a:rPr>
              <a:t>00000000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rgbClr val="CC0000"/>
                </a:solidFill>
                <a:latin typeface="Times New Roman" panose="02020603050405020304" pitchFamily="18" charset="0"/>
              </a:rPr>
              <a:t>00000000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rgbClr val="CC0000"/>
                </a:solidFill>
                <a:latin typeface="Times New Roman" panose="02020603050405020304" pitchFamily="18" charset="0"/>
              </a:rPr>
              <a:t>00000101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8" name="Rectangle 5"/>
          <p:cNvSpPr>
            <a:spLocks noChangeArrowheads="1"/>
          </p:cNvSpPr>
          <p:nvPr/>
        </p:nvSpPr>
        <p:spPr bwMode="white">
          <a:xfrm>
            <a:off x="1979712" y="3048000"/>
            <a:ext cx="16764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4349" name="Rectangle 6"/>
          <p:cNvSpPr>
            <a:spLocks noChangeArrowheads="1"/>
          </p:cNvSpPr>
          <p:nvPr/>
        </p:nvSpPr>
        <p:spPr bwMode="white">
          <a:xfrm>
            <a:off x="1979712" y="3048000"/>
            <a:ext cx="167640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4350" name="Rectangle 7"/>
          <p:cNvSpPr>
            <a:spLocks noChangeArrowheads="1"/>
          </p:cNvSpPr>
          <p:nvPr/>
        </p:nvSpPr>
        <p:spPr bwMode="white">
          <a:xfrm>
            <a:off x="1979712" y="3500438"/>
            <a:ext cx="1676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4351" name="Rectangle 8"/>
          <p:cNvSpPr>
            <a:spLocks noChangeArrowheads="1"/>
          </p:cNvSpPr>
          <p:nvPr/>
        </p:nvSpPr>
        <p:spPr bwMode="white">
          <a:xfrm>
            <a:off x="1979712" y="5562600"/>
            <a:ext cx="16764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4352" name="Text Box 20"/>
          <p:cNvSpPr txBox="1">
            <a:spLocks noChangeArrowheads="1"/>
          </p:cNvSpPr>
          <p:nvPr/>
        </p:nvSpPr>
        <p:spPr bwMode="white">
          <a:xfrm>
            <a:off x="3660875" y="3092450"/>
            <a:ext cx="2984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Times New Roman" panose="02020603050405020304" pitchFamily="18" charset="0"/>
              </a:rPr>
              <a:t>c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8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n</a:t>
            </a:r>
            <a:endParaRPr lang="en-US" altLang="tr-TR" sz="1800">
              <a:latin typeface="Times New Roman" panose="02020603050405020304" pitchFamily="18" charset="0"/>
            </a:endParaRPr>
          </a:p>
        </p:txBody>
      </p:sp>
      <p:sp>
        <p:nvSpPr>
          <p:cNvPr id="14353" name="Line 21"/>
          <p:cNvSpPr>
            <a:spLocks noChangeShapeType="1"/>
          </p:cNvSpPr>
          <p:nvPr/>
        </p:nvSpPr>
        <p:spPr bwMode="white">
          <a:xfrm>
            <a:off x="5791200" y="2286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4" name="Freeform 22"/>
          <p:cNvSpPr>
            <a:spLocks/>
          </p:cNvSpPr>
          <p:nvPr/>
        </p:nvSpPr>
        <p:spPr bwMode="white">
          <a:xfrm>
            <a:off x="1114425" y="1841500"/>
            <a:ext cx="6246813" cy="1252538"/>
          </a:xfrm>
          <a:custGeom>
            <a:avLst/>
            <a:gdLst>
              <a:gd name="T0" fmla="*/ 2147483646 w 3935"/>
              <a:gd name="T1" fmla="*/ 2147483646 h 789"/>
              <a:gd name="T2" fmla="*/ 2147483646 w 3935"/>
              <a:gd name="T3" fmla="*/ 2147483646 h 789"/>
              <a:gd name="T4" fmla="*/ 2147483646 w 3935"/>
              <a:gd name="T5" fmla="*/ 2147483646 h 789"/>
              <a:gd name="T6" fmla="*/ 2147483646 w 3935"/>
              <a:gd name="T7" fmla="*/ 2147483646 h 789"/>
              <a:gd name="T8" fmla="*/ 2147483646 w 3935"/>
              <a:gd name="T9" fmla="*/ 2147483646 h 789"/>
              <a:gd name="T10" fmla="*/ 2147483646 w 3935"/>
              <a:gd name="T11" fmla="*/ 0 h 789"/>
              <a:gd name="T12" fmla="*/ 2147483646 w 3935"/>
              <a:gd name="T13" fmla="*/ 2147483646 h 789"/>
              <a:gd name="T14" fmla="*/ 2147483646 w 3935"/>
              <a:gd name="T15" fmla="*/ 2147483646 h 789"/>
              <a:gd name="T16" fmla="*/ 2147483646 w 3935"/>
              <a:gd name="T17" fmla="*/ 2147483646 h 789"/>
              <a:gd name="T18" fmla="*/ 2147483646 w 3935"/>
              <a:gd name="T19" fmla="*/ 2147483646 h 789"/>
              <a:gd name="T20" fmla="*/ 2147483646 w 3935"/>
              <a:gd name="T21" fmla="*/ 2147483646 h 789"/>
              <a:gd name="T22" fmla="*/ 2147483646 w 3935"/>
              <a:gd name="T23" fmla="*/ 2147483646 h 789"/>
              <a:gd name="T24" fmla="*/ 2147483646 w 3935"/>
              <a:gd name="T25" fmla="*/ 2147483646 h 789"/>
              <a:gd name="T26" fmla="*/ 2147483646 w 3935"/>
              <a:gd name="T27" fmla="*/ 2147483646 h 789"/>
              <a:gd name="T28" fmla="*/ 2147483646 w 3935"/>
              <a:gd name="T29" fmla="*/ 2147483646 h 789"/>
              <a:gd name="T30" fmla="*/ 2147483646 w 3935"/>
              <a:gd name="T31" fmla="*/ 2147483646 h 789"/>
              <a:gd name="T32" fmla="*/ 0 w 3935"/>
              <a:gd name="T33" fmla="*/ 2147483646 h 789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3935"/>
              <a:gd name="T52" fmla="*/ 0 h 789"/>
              <a:gd name="T53" fmla="*/ 3935 w 3935"/>
              <a:gd name="T54" fmla="*/ 789 h 789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3935" h="789">
                <a:moveTo>
                  <a:pt x="3780" y="394"/>
                </a:moveTo>
                <a:cubicBezTo>
                  <a:pt x="3836" y="381"/>
                  <a:pt x="3889" y="347"/>
                  <a:pt x="3922" y="300"/>
                </a:cubicBezTo>
                <a:cubicBezTo>
                  <a:pt x="3935" y="249"/>
                  <a:pt x="3932" y="275"/>
                  <a:pt x="3922" y="205"/>
                </a:cubicBezTo>
                <a:cubicBezTo>
                  <a:pt x="3920" y="189"/>
                  <a:pt x="3921" y="172"/>
                  <a:pt x="3914" y="158"/>
                </a:cubicBezTo>
                <a:cubicBezTo>
                  <a:pt x="3876" y="82"/>
                  <a:pt x="3824" y="72"/>
                  <a:pt x="3756" y="39"/>
                </a:cubicBezTo>
                <a:cubicBezTo>
                  <a:pt x="3718" y="21"/>
                  <a:pt x="3687" y="8"/>
                  <a:pt x="3646" y="0"/>
                </a:cubicBezTo>
                <a:cubicBezTo>
                  <a:pt x="3454" y="3"/>
                  <a:pt x="3262" y="2"/>
                  <a:pt x="3070" y="8"/>
                </a:cubicBezTo>
                <a:cubicBezTo>
                  <a:pt x="2972" y="11"/>
                  <a:pt x="2876" y="26"/>
                  <a:pt x="2778" y="31"/>
                </a:cubicBezTo>
                <a:cubicBezTo>
                  <a:pt x="2625" y="39"/>
                  <a:pt x="2472" y="42"/>
                  <a:pt x="2320" y="63"/>
                </a:cubicBezTo>
                <a:cubicBezTo>
                  <a:pt x="2087" y="95"/>
                  <a:pt x="1866" y="174"/>
                  <a:pt x="1634" y="213"/>
                </a:cubicBezTo>
                <a:cubicBezTo>
                  <a:pt x="1586" y="232"/>
                  <a:pt x="1541" y="238"/>
                  <a:pt x="1492" y="252"/>
                </a:cubicBezTo>
                <a:cubicBezTo>
                  <a:pt x="1445" y="266"/>
                  <a:pt x="1406" y="284"/>
                  <a:pt x="1357" y="292"/>
                </a:cubicBezTo>
                <a:cubicBezTo>
                  <a:pt x="1161" y="359"/>
                  <a:pt x="960" y="415"/>
                  <a:pt x="758" y="458"/>
                </a:cubicBezTo>
                <a:cubicBezTo>
                  <a:pt x="636" y="484"/>
                  <a:pt x="514" y="508"/>
                  <a:pt x="395" y="544"/>
                </a:cubicBezTo>
                <a:cubicBezTo>
                  <a:pt x="326" y="565"/>
                  <a:pt x="265" y="600"/>
                  <a:pt x="198" y="623"/>
                </a:cubicBezTo>
                <a:cubicBezTo>
                  <a:pt x="159" y="652"/>
                  <a:pt x="105" y="675"/>
                  <a:pt x="71" y="710"/>
                </a:cubicBezTo>
                <a:cubicBezTo>
                  <a:pt x="46" y="736"/>
                  <a:pt x="25" y="764"/>
                  <a:pt x="0" y="78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cxnSp>
        <p:nvCxnSpPr>
          <p:cNvPr id="14355" name="Straight Arrow Connector 25"/>
          <p:cNvCxnSpPr>
            <a:cxnSpLocks noChangeShapeType="1"/>
          </p:cNvCxnSpPr>
          <p:nvPr/>
        </p:nvCxnSpPr>
        <p:spPr bwMode="auto">
          <a:xfrm rot="5400000" flipH="1" flipV="1">
            <a:off x="3303687" y="2857500"/>
            <a:ext cx="571500" cy="2857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6" name="TextBox 26"/>
          <p:cNvSpPr txBox="1">
            <a:spLocks noChangeArrowheads="1"/>
          </p:cNvSpPr>
          <p:nvPr/>
        </p:nvSpPr>
        <p:spPr bwMode="auto">
          <a:xfrm>
            <a:off x="3875187" y="2571750"/>
            <a:ext cx="114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400">
                <a:latin typeface="Times New Roman" panose="02020603050405020304" pitchFamily="18" charset="0"/>
              </a:rPr>
              <a:t>Code of   'A</a:t>
            </a:r>
            <a:r>
              <a:rPr lang="tr-TR" altLang="tr-TR" sz="1200">
                <a:latin typeface="Times New Roman" panose="02020603050405020304" pitchFamily="18" charset="0"/>
              </a:rPr>
              <a:t>'</a:t>
            </a:r>
          </a:p>
        </p:txBody>
      </p:sp>
      <p:cxnSp>
        <p:nvCxnSpPr>
          <p:cNvPr id="14357" name="Straight Arrow Connector 27"/>
          <p:cNvCxnSpPr>
            <a:cxnSpLocks noChangeShapeType="1"/>
          </p:cNvCxnSpPr>
          <p:nvPr/>
        </p:nvCxnSpPr>
        <p:spPr bwMode="auto">
          <a:xfrm>
            <a:off x="3589437" y="4219575"/>
            <a:ext cx="428625" cy="4238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8" name="TextBox 28"/>
          <p:cNvSpPr txBox="1">
            <a:spLocks noChangeArrowheads="1"/>
          </p:cNvSpPr>
          <p:nvPr/>
        </p:nvSpPr>
        <p:spPr bwMode="auto">
          <a:xfrm>
            <a:off x="4089500" y="4572000"/>
            <a:ext cx="10906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400">
                <a:latin typeface="Times New Roman" panose="02020603050405020304" pitchFamily="18" charset="0"/>
              </a:rPr>
              <a:t>5 in binary</a:t>
            </a:r>
          </a:p>
        </p:txBody>
      </p:sp>
      <p:sp>
        <p:nvSpPr>
          <p:cNvPr id="14359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4B2817A-7E7B-45C9-8364-A4D62F19B44B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152400"/>
            <a:ext cx="8429625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Pointers</a:t>
            </a:r>
            <a:endParaRPr lang="en-US" dirty="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125538"/>
            <a:ext cx="8482013" cy="56165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tr-TR" sz="2000" dirty="0" smtClean="0"/>
              <a:t>A pointer is a </a:t>
            </a:r>
            <a:r>
              <a:rPr lang="en-US" altLang="tr-TR" sz="2000" u="sng" dirty="0" smtClean="0"/>
              <a:t>variable</a:t>
            </a:r>
            <a:r>
              <a:rPr lang="en-US" altLang="tr-TR" sz="2000" dirty="0" smtClean="0"/>
              <a:t> to store an “</a:t>
            </a:r>
            <a:r>
              <a:rPr lang="en-US" altLang="tr-TR" b="1" dirty="0" smtClean="0">
                <a:solidFill>
                  <a:srgbClr val="FC0128"/>
                </a:solidFill>
              </a:rPr>
              <a:t>address in computer memory</a:t>
            </a:r>
            <a:r>
              <a:rPr lang="en-US" altLang="tr-TR" sz="2000" dirty="0" smtClean="0"/>
              <a:t>”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000" dirty="0" smtClean="0"/>
              <a:t>	Thus it </a:t>
            </a:r>
            <a:r>
              <a:rPr lang="en-US" altLang="tr-TR" sz="2000" b="1" dirty="0" smtClean="0"/>
              <a:t>points to</a:t>
            </a:r>
            <a:r>
              <a:rPr lang="en-US" altLang="tr-TR" sz="2000" dirty="0" smtClean="0"/>
              <a:t> a </a:t>
            </a:r>
            <a:r>
              <a:rPr lang="en-US" altLang="tr-TR" sz="2000" b="1" dirty="0" smtClean="0">
                <a:solidFill>
                  <a:srgbClr val="FF0000"/>
                </a:solidFill>
              </a:rPr>
              <a:t>memory location</a:t>
            </a:r>
            <a:endParaRPr lang="tr-TR" altLang="tr-TR" sz="20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tr-TR" sz="2000" dirty="0" smtClean="0"/>
              <a:t>A </a:t>
            </a:r>
            <a:r>
              <a:rPr lang="tr-TR" altLang="tr-TR" sz="2000" dirty="0" err="1" smtClean="0"/>
              <a:t>pointer</a:t>
            </a:r>
            <a:r>
              <a:rPr lang="tr-TR" altLang="tr-TR" sz="2000" dirty="0" smtClean="0"/>
              <a:t> is </a:t>
            </a:r>
            <a:r>
              <a:rPr lang="tr-TR" altLang="tr-TR" sz="2000" dirty="0" err="1" smtClean="0"/>
              <a:t>something</a:t>
            </a:r>
            <a:r>
              <a:rPr lang="tr-TR" altLang="tr-TR" sz="2000" dirty="0" smtClean="0"/>
              <a:t> </a:t>
            </a:r>
            <a:r>
              <a:rPr lang="tr-TR" altLang="tr-TR" sz="2000" dirty="0" err="1" smtClean="0"/>
              <a:t>you</a:t>
            </a:r>
            <a:r>
              <a:rPr lang="tr-TR" altLang="tr-TR" sz="2000" dirty="0" smtClean="0"/>
              <a:t> can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tr-TR" sz="2000" dirty="0" err="1" smtClean="0"/>
              <a:t>manipulate</a:t>
            </a:r>
            <a:r>
              <a:rPr lang="tr-TR" altLang="tr-TR" sz="2000" dirty="0" smtClean="0"/>
              <a:t> in program</a:t>
            </a:r>
            <a:endParaRPr lang="en-US" altLang="tr-TR" sz="2000" dirty="0" smtClean="0"/>
          </a:p>
          <a:p>
            <a:pPr>
              <a:lnSpc>
                <a:spcPct val="90000"/>
              </a:lnSpc>
              <a:buFontTx/>
              <a:buNone/>
            </a:pPr>
            <a:endParaRPr lang="en-US" altLang="tr-TR" dirty="0" smtClean="0">
              <a:solidFill>
                <a:srgbClr val="C81002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tr-TR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altLang="tr-TR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c = 'A';  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char * p;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p = &amp;c;</a:t>
            </a:r>
            <a:endParaRPr lang="tr-TR" altLang="tr-TR" sz="2000" b="1" dirty="0" smtClean="0"/>
          </a:p>
          <a:p>
            <a:pPr>
              <a:lnSpc>
                <a:spcPct val="90000"/>
              </a:lnSpc>
              <a:buFontTx/>
              <a:buNone/>
            </a:pPr>
            <a:endParaRPr lang="tr-TR" altLang="tr-TR" dirty="0" smtClean="0">
              <a:solidFill>
                <a:srgbClr val="C81002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tr-TR" altLang="tr-TR" sz="3600" dirty="0" smtClean="0">
              <a:solidFill>
                <a:srgbClr val="C81002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tr-TR" sz="4400" dirty="0" smtClean="0">
              <a:solidFill>
                <a:srgbClr val="C81002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000" dirty="0" smtClean="0"/>
              <a:t>Purpose:</a:t>
            </a:r>
            <a:endParaRPr lang="en-US" altLang="tr-TR" dirty="0" smtClean="0"/>
          </a:p>
          <a:p>
            <a:pPr lvl="1">
              <a:lnSpc>
                <a:spcPct val="90000"/>
              </a:lnSpc>
            </a:pPr>
            <a:r>
              <a:rPr lang="en-US" altLang="tr-TR" sz="1800" dirty="0" smtClean="0"/>
              <a:t>Basis for implementing linked data structures linked lists, trees, graphs...</a:t>
            </a:r>
          </a:p>
          <a:p>
            <a:pPr lvl="1">
              <a:lnSpc>
                <a:spcPct val="90000"/>
              </a:lnSpc>
            </a:pPr>
            <a:r>
              <a:rPr lang="en-US" altLang="tr-TR" sz="1800" dirty="0" smtClean="0"/>
              <a:t>Provide dynamic memory allocation</a:t>
            </a:r>
            <a:r>
              <a:rPr lang="tr-TR" altLang="tr-TR" sz="1800" dirty="0" smtClean="0"/>
              <a:t>,</a:t>
            </a:r>
            <a:r>
              <a:rPr lang="en-US" altLang="tr-TR" sz="1800" dirty="0" smtClean="0"/>
              <a:t> variable-size arrays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white">
          <a:xfrm>
            <a:off x="5857875" y="3714750"/>
            <a:ext cx="781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... </a:t>
            </a:r>
          </a:p>
        </p:txBody>
      </p:sp>
      <p:sp>
        <p:nvSpPr>
          <p:cNvPr id="16389" name="Text Box 19"/>
          <p:cNvSpPr txBox="1">
            <a:spLocks noChangeArrowheads="1"/>
          </p:cNvSpPr>
          <p:nvPr/>
        </p:nvSpPr>
        <p:spPr bwMode="white">
          <a:xfrm>
            <a:off x="5843588" y="5411788"/>
            <a:ext cx="1057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>
                <a:latin typeface="Times New Roman" panose="02020603050405020304" pitchFamily="18" charset="0"/>
              </a:rPr>
              <a:t>Memory</a:t>
            </a:r>
            <a:endParaRPr lang="en-US" altLang="tr-TR">
              <a:latin typeface="Times New Roman" panose="02020603050405020304" pitchFamily="18" charset="0"/>
            </a:endParaRPr>
          </a:p>
        </p:txBody>
      </p:sp>
      <p:sp>
        <p:nvSpPr>
          <p:cNvPr id="16390" name="Text Box 9"/>
          <p:cNvSpPr txBox="1">
            <a:spLocks noChangeArrowheads="1"/>
          </p:cNvSpPr>
          <p:nvPr/>
        </p:nvSpPr>
        <p:spPr bwMode="white">
          <a:xfrm>
            <a:off x="5643562" y="1928813"/>
            <a:ext cx="1664741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rgbClr val="CC0000"/>
                </a:solidFill>
                <a:latin typeface="Times New Roman" panose="02020603050405020304" pitchFamily="18" charset="0"/>
              </a:rPr>
              <a:t>01000001</a:t>
            </a:r>
            <a:endParaRPr lang="en-US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rgbClr val="CC0000"/>
                </a:solidFill>
                <a:latin typeface="Times New Roman" panose="02020603050405020304" pitchFamily="18" charset="0"/>
              </a:rPr>
              <a:t>00000101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</a:t>
            </a:r>
            <a:r>
              <a:rPr lang="en-US" altLang="tr-TR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183</a:t>
            </a:r>
            <a:r>
              <a:rPr lang="tr-TR" altLang="tr-TR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2435af00</a:t>
            </a:r>
            <a:endParaRPr lang="en-US" altLang="tr-TR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1" name="Rectangle 5"/>
          <p:cNvSpPr>
            <a:spLocks noChangeArrowheads="1"/>
          </p:cNvSpPr>
          <p:nvPr/>
        </p:nvSpPr>
        <p:spPr bwMode="white">
          <a:xfrm>
            <a:off x="5534025" y="1905000"/>
            <a:ext cx="1676400" cy="3311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6392" name="Rectangle 6"/>
          <p:cNvSpPr>
            <a:spLocks noChangeArrowheads="1"/>
          </p:cNvSpPr>
          <p:nvPr/>
        </p:nvSpPr>
        <p:spPr bwMode="white">
          <a:xfrm>
            <a:off x="5534025" y="1905000"/>
            <a:ext cx="167640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6393" name="Rectangle 7"/>
          <p:cNvSpPr>
            <a:spLocks noChangeArrowheads="1"/>
          </p:cNvSpPr>
          <p:nvPr/>
        </p:nvSpPr>
        <p:spPr bwMode="white">
          <a:xfrm>
            <a:off x="5534025" y="2357438"/>
            <a:ext cx="1676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6394" name="Rectangle 8"/>
          <p:cNvSpPr>
            <a:spLocks noChangeArrowheads="1"/>
          </p:cNvSpPr>
          <p:nvPr/>
        </p:nvSpPr>
        <p:spPr bwMode="white">
          <a:xfrm>
            <a:off x="5538788" y="4164013"/>
            <a:ext cx="1676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6395" name="Text Box 20"/>
          <p:cNvSpPr txBox="1">
            <a:spLocks noChangeArrowheads="1"/>
          </p:cNvSpPr>
          <p:nvPr/>
        </p:nvSpPr>
        <p:spPr bwMode="white">
          <a:xfrm>
            <a:off x="7215188" y="1949450"/>
            <a:ext cx="300037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Times New Roman" panose="02020603050405020304" pitchFamily="18" charset="0"/>
              </a:rPr>
              <a:t>c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8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2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p</a:t>
            </a:r>
            <a:endParaRPr lang="en-US" altLang="tr-TR" sz="1800">
              <a:latin typeface="Times New Roman" panose="02020603050405020304" pitchFamily="18" charset="0"/>
            </a:endParaRPr>
          </a:p>
        </p:txBody>
      </p:sp>
      <p:cxnSp>
        <p:nvCxnSpPr>
          <p:cNvPr id="16396" name="Elbow Connector 19"/>
          <p:cNvCxnSpPr>
            <a:cxnSpLocks noChangeShapeType="1"/>
          </p:cNvCxnSpPr>
          <p:nvPr/>
        </p:nvCxnSpPr>
        <p:spPr bwMode="auto">
          <a:xfrm rot="10800000">
            <a:off x="5534025" y="2087563"/>
            <a:ext cx="1588" cy="2484437"/>
          </a:xfrm>
          <a:prstGeom prst="bentConnector3">
            <a:avLst>
              <a:gd name="adj1" fmla="val 14395468"/>
            </a:avLst>
          </a:prstGeom>
          <a:noFill/>
          <a:ln w="9525" algn="ctr">
            <a:solidFill>
              <a:srgbClr val="CC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7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5C505E-3A8C-4FAE-8C0B-A8EAE91C3C0C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7DA887-D206-4E86-ABF5-BA753B31D137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5725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Overview</a:t>
            </a:r>
            <a:endParaRPr lang="en-US" dirty="0" smtClean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268413"/>
            <a:ext cx="8661400" cy="525621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tr-TR" sz="2200" dirty="0" smtClean="0"/>
              <a:t>There are a couple of things you can do with pointers:</a:t>
            </a:r>
          </a:p>
          <a:p>
            <a:pPr>
              <a:lnSpc>
                <a:spcPct val="90000"/>
              </a:lnSpc>
              <a:buFontTx/>
              <a:buChar char="–"/>
              <a:defRPr/>
            </a:pPr>
            <a:r>
              <a:rPr lang="en-US" altLang="tr-TR" sz="2200" dirty="0" smtClean="0"/>
              <a:t>Declare one:	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4">
              <a:lnSpc>
                <a:spcPct val="90000"/>
              </a:lnSpc>
              <a:buFontTx/>
              <a:buNone/>
              <a:defRPr/>
            </a:pPr>
            <a:r>
              <a:rPr lang="en-US" altLang="tr-TR" sz="15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 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pchar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4">
              <a:lnSpc>
                <a:spcPct val="90000"/>
              </a:lnSpc>
              <a:buFontTx/>
              <a:buNone/>
              <a:defRPr/>
            </a:pPr>
            <a:r>
              <a:rPr lang="en-US" altLang="tr-TR" sz="22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Date * 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pdate</a:t>
            </a:r>
            <a:endParaRPr lang="en-US" altLang="tr-TR" sz="2200" b="1" dirty="0" smtClean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Char char="–"/>
              <a:defRPr/>
            </a:pPr>
            <a:endParaRPr lang="en-US" altLang="tr-TR" sz="2200" dirty="0" smtClean="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  <a:buFontTx/>
              <a:buChar char="–"/>
              <a:defRPr/>
            </a:pPr>
            <a:r>
              <a:rPr lang="en-US" altLang="tr-TR" sz="2200" dirty="0" smtClean="0"/>
              <a:t>Store a value in it:   	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&amp;counter;</a:t>
            </a:r>
          </a:p>
          <a:p>
            <a:pPr>
              <a:lnSpc>
                <a:spcPct val="90000"/>
              </a:lnSpc>
              <a:buFontTx/>
              <a:buChar char="–"/>
              <a:defRPr/>
            </a:pPr>
            <a:endParaRPr lang="en-US" altLang="tr-TR" sz="2200" dirty="0" smtClean="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  <a:buFontTx/>
              <a:buChar char="–"/>
              <a:defRPr/>
            </a:pPr>
            <a:r>
              <a:rPr lang="en-US" altLang="tr-TR" sz="2200" dirty="0" smtClean="0"/>
              <a:t>Dereference one:			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*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tr-TR" sz="2200" dirty="0" smtClean="0">
                <a:solidFill>
                  <a:srgbClr val="0000CC"/>
                </a:solidFill>
              </a:rPr>
              <a:t>		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tr-TR" sz="2200" dirty="0" smtClean="0"/>
              <a:t>(Access the value stored where the 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tr-TR" sz="2200" dirty="0" smtClean="0"/>
              <a:t>pointer points to)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tr-TR" sz="2600" dirty="0" smtClean="0">
                <a:solidFill>
                  <a:srgbClr val="0000CC"/>
                </a:solidFill>
              </a:rPr>
              <a:t>						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(*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pdate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).Day(); 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tr-TR" sz="2200" b="1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pdate</a:t>
            </a:r>
            <a:r>
              <a:rPr lang="en-US" altLang="tr-TR" sz="22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-&gt;Day();</a:t>
            </a:r>
            <a:r>
              <a:rPr lang="en-US" altLang="tr-TR" sz="2600" dirty="0" smtClean="0">
                <a:solidFill>
                  <a:srgbClr val="0000CC"/>
                </a:solidFill>
              </a:rPr>
              <a:t>				</a:t>
            </a:r>
            <a:endParaRPr lang="en-US" altLang="tr-TR" sz="2200" dirty="0" smtClean="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tr-TR" sz="2200" dirty="0" smtClean="0"/>
              <a:t>Now we will see them in detail.</a:t>
            </a:r>
          </a:p>
          <a:p>
            <a:pPr>
              <a:lnSpc>
                <a:spcPct val="90000"/>
              </a:lnSpc>
              <a:buFontTx/>
              <a:buChar char="–"/>
              <a:defRPr/>
            </a:pPr>
            <a:endParaRPr lang="en-US" altLang="tr-TR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152400"/>
            <a:ext cx="8501062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Pointers: </a:t>
            </a:r>
            <a:r>
              <a:rPr lang="en-US" smtClean="0">
                <a:solidFill>
                  <a:srgbClr val="CC0000"/>
                </a:solidFill>
              </a:rPr>
              <a:t>definition</a:t>
            </a:r>
            <a:endParaRPr lang="en-US" dirty="0" smtClean="0">
              <a:solidFill>
                <a:srgbClr val="CC0000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285875"/>
            <a:ext cx="8501062" cy="48863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dirty="0" smtClean="0"/>
              <a:t>A pointer is defined as:</a:t>
            </a:r>
            <a:r>
              <a:rPr lang="en-US" altLang="tr-TR" dirty="0" smtClean="0">
                <a:solidFill>
                  <a:srgbClr val="C81002"/>
                </a:solidFill>
              </a:rPr>
              <a:t>  </a:t>
            </a:r>
            <a:r>
              <a:rPr lang="tr-TR" altLang="tr-TR" dirty="0" smtClean="0">
                <a:solidFill>
                  <a:srgbClr val="C81002"/>
                </a:solidFill>
              </a:rPr>
              <a:t> </a:t>
            </a:r>
            <a:r>
              <a:rPr lang="en-US" altLang="tr-TR" i="1" dirty="0" smtClean="0">
                <a:solidFill>
                  <a:srgbClr val="C81002"/>
                </a:solidFill>
              </a:rPr>
              <a:t>type</a:t>
            </a:r>
            <a:r>
              <a:rPr lang="en-US" altLang="tr-TR" dirty="0" smtClean="0">
                <a:solidFill>
                  <a:srgbClr val="C81002"/>
                </a:solidFill>
              </a:rPr>
              <a:t> </a:t>
            </a:r>
            <a:r>
              <a:rPr lang="en-US" altLang="tr-TR" dirty="0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tr-TR" dirty="0" smtClean="0">
                <a:solidFill>
                  <a:srgbClr val="C81002"/>
                </a:solidFill>
              </a:rPr>
              <a:t>  </a:t>
            </a:r>
            <a:r>
              <a:rPr lang="en-US" altLang="tr-TR" i="1" dirty="0" smtClean="0">
                <a:solidFill>
                  <a:srgbClr val="C81002"/>
                </a:solidFill>
              </a:rPr>
              <a:t> p</a:t>
            </a:r>
            <a:r>
              <a:rPr lang="tr-TR" altLang="tr-TR" i="1" dirty="0" err="1" smtClean="0">
                <a:solidFill>
                  <a:srgbClr val="C81002"/>
                </a:solidFill>
              </a:rPr>
              <a:t>ointer</a:t>
            </a:r>
            <a:r>
              <a:rPr lang="en-US" altLang="tr-TR" i="1" dirty="0" smtClean="0">
                <a:solidFill>
                  <a:srgbClr val="C81002"/>
                </a:solidFill>
              </a:rPr>
              <a:t>_variable</a:t>
            </a:r>
            <a:r>
              <a:rPr lang="en-US" altLang="tr-TR" dirty="0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altLang="tr-TR" dirty="0" smtClean="0"/>
              <a:t>                          e.g.       </a:t>
            </a:r>
            <a:r>
              <a:rPr lang="en-US" altLang="tr-T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* ptr;</a:t>
            </a:r>
          </a:p>
          <a:p>
            <a:pPr>
              <a:buFontTx/>
              <a:buNone/>
            </a:pPr>
            <a:endParaRPr lang="en-US" altLang="tr-TR" sz="900" dirty="0" smtClean="0">
              <a:solidFill>
                <a:srgbClr val="0000CC"/>
              </a:solidFill>
            </a:endParaRPr>
          </a:p>
          <a:p>
            <a:pPr>
              <a:buFontTx/>
              <a:buNone/>
            </a:pPr>
            <a:r>
              <a:rPr lang="en-US" altLang="tr-TR" b="1" i="1" dirty="0" err="1" smtClean="0">
                <a:solidFill>
                  <a:srgbClr val="0000CC"/>
                </a:solidFill>
              </a:rPr>
              <a:t>pointer_variable</a:t>
            </a:r>
            <a:r>
              <a:rPr lang="en-US" altLang="tr-TR" sz="1800" b="1" dirty="0" smtClean="0">
                <a:solidFill>
                  <a:srgbClr val="0000CC"/>
                </a:solidFill>
              </a:rPr>
              <a:t> </a:t>
            </a:r>
            <a:r>
              <a:rPr lang="en-US" altLang="tr-TR" sz="2000" b="1" dirty="0" smtClean="0">
                <a:solidFill>
                  <a:srgbClr val="0000CC"/>
                </a:solidFill>
              </a:rPr>
              <a:t>does </a:t>
            </a:r>
            <a:r>
              <a:rPr lang="en-US" altLang="tr-TR" sz="2000" b="1" u="sng" dirty="0" smtClean="0">
                <a:solidFill>
                  <a:srgbClr val="0000CC"/>
                </a:solidFill>
              </a:rPr>
              <a:t>not</a:t>
            </a:r>
            <a:r>
              <a:rPr lang="en-US" altLang="tr-TR" sz="2000" b="1" dirty="0" smtClean="0">
                <a:solidFill>
                  <a:srgbClr val="0000CC"/>
                </a:solidFill>
              </a:rPr>
              <a:t> store a </a:t>
            </a:r>
            <a:r>
              <a:rPr lang="en-US" altLang="tr-TR" b="1" i="1" dirty="0" smtClean="0">
                <a:solidFill>
                  <a:srgbClr val="0000CC"/>
                </a:solidFill>
              </a:rPr>
              <a:t>type</a:t>
            </a:r>
            <a:r>
              <a:rPr lang="en-US" altLang="tr-TR" sz="2000" b="1" dirty="0" smtClean="0">
                <a:solidFill>
                  <a:srgbClr val="0000CC"/>
                </a:solidFill>
              </a:rPr>
              <a:t> value, but stores the address of a memory location that stores a </a:t>
            </a:r>
            <a:r>
              <a:rPr lang="en-US" altLang="tr-TR" b="1" i="1" dirty="0" smtClean="0">
                <a:solidFill>
                  <a:srgbClr val="0000CC"/>
                </a:solidFill>
              </a:rPr>
              <a:t>type</a:t>
            </a:r>
            <a:r>
              <a:rPr lang="en-US" altLang="tr-TR" sz="2000" b="1" dirty="0" smtClean="0">
                <a:solidFill>
                  <a:srgbClr val="0000CC"/>
                </a:solidFill>
              </a:rPr>
              <a:t> value</a:t>
            </a:r>
            <a:endParaRPr lang="en-US" altLang="tr-TR" sz="1800" b="1" dirty="0" smtClean="0">
              <a:solidFill>
                <a:srgbClr val="0000CC"/>
              </a:solidFill>
            </a:endParaRPr>
          </a:p>
          <a:p>
            <a:pPr>
              <a:buFontTx/>
              <a:buNone/>
            </a:pPr>
            <a:endParaRPr lang="en-US" altLang="tr-TR" dirty="0" smtClean="0">
              <a:solidFill>
                <a:srgbClr val="C81002"/>
              </a:solidFill>
            </a:endParaRPr>
          </a:p>
          <a:p>
            <a:pPr>
              <a:buFontTx/>
              <a:buNone/>
            </a:pPr>
            <a:r>
              <a:rPr lang="en-US" altLang="tr-TR" dirty="0" smtClean="0">
                <a:latin typeface="Arial Unicode MS" pitchFamily="34" charset="-128"/>
              </a:rPr>
              <a:t>	</a:t>
            </a:r>
            <a:r>
              <a:rPr lang="en-US" altLang="tr-TR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c = 'A';  		</a:t>
            </a:r>
          </a:p>
          <a:p>
            <a:pPr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char *p;</a:t>
            </a:r>
          </a:p>
          <a:p>
            <a:pPr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char *q = NULL</a:t>
            </a:r>
            <a:r>
              <a:rPr lang="en-US" altLang="tr-TR" sz="1600" dirty="0" smtClean="0">
                <a:latin typeface="Arial Unicode MS" pitchFamily="34" charset="-128"/>
              </a:rPr>
              <a:t> </a:t>
            </a:r>
            <a:r>
              <a:rPr lang="en-US" altLang="tr-TR" dirty="0" smtClean="0">
                <a:latin typeface="Arial Unicode MS" pitchFamily="34" charset="-128"/>
              </a:rPr>
              <a:t>    		</a:t>
            </a:r>
          </a:p>
        </p:txBody>
      </p:sp>
      <p:sp>
        <p:nvSpPr>
          <p:cNvPr id="20484" name="Text Box 10"/>
          <p:cNvSpPr txBox="1">
            <a:spLocks noChangeArrowheads="1"/>
          </p:cNvSpPr>
          <p:nvPr/>
        </p:nvSpPr>
        <p:spPr bwMode="white">
          <a:xfrm>
            <a:off x="250825" y="5140325"/>
            <a:ext cx="8642350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 err="1"/>
              <a:t>You</a:t>
            </a:r>
            <a:r>
              <a:rPr lang="tr-TR" altLang="tr-TR" sz="1800" dirty="0"/>
              <a:t> can </a:t>
            </a:r>
            <a:r>
              <a:rPr lang="tr-TR" altLang="tr-TR" sz="1800" dirty="0" err="1"/>
              <a:t>never</a:t>
            </a:r>
            <a:r>
              <a:rPr lang="tr-TR" altLang="tr-TR" sz="1800" dirty="0"/>
              <a:t> </a:t>
            </a:r>
            <a:r>
              <a:rPr lang="tr-TR" altLang="tr-TR" sz="1800" dirty="0" err="1"/>
              <a:t>know</a:t>
            </a:r>
            <a:r>
              <a:rPr lang="tr-TR" altLang="tr-TR" sz="1800" dirty="0"/>
              <a:t> </a:t>
            </a:r>
            <a:r>
              <a:rPr lang="en-US" altLang="tr-TR" sz="1800" dirty="0"/>
              <a:t>to </a:t>
            </a:r>
            <a:r>
              <a:rPr lang="tr-TR" altLang="tr-TR" sz="1800" dirty="0" err="1"/>
              <a:t>where</a:t>
            </a:r>
            <a:r>
              <a:rPr lang="tr-TR" altLang="tr-TR" sz="1800" dirty="0"/>
              <a:t> an </a:t>
            </a:r>
            <a:r>
              <a:rPr lang="tr-TR" altLang="tr-TR" sz="1800" dirty="0" err="1"/>
              <a:t>unititialized</a:t>
            </a:r>
            <a:r>
              <a:rPr lang="tr-TR" altLang="tr-TR" sz="1800" dirty="0"/>
              <a:t> </a:t>
            </a:r>
            <a:r>
              <a:rPr lang="tr-TR" altLang="tr-TR" sz="1800" dirty="0" err="1"/>
              <a:t>pointer</a:t>
            </a:r>
            <a:r>
              <a:rPr lang="tr-TR" altLang="tr-TR" sz="1800" dirty="0"/>
              <a:t> </a:t>
            </a:r>
            <a:r>
              <a:rPr lang="tr-TR" altLang="tr-TR" sz="1800" dirty="0" err="1"/>
              <a:t>points</a:t>
            </a:r>
            <a:r>
              <a:rPr lang="tr-TR" altLang="tr-TR" sz="1800" dirty="0"/>
              <a:t> (</a:t>
            </a:r>
            <a:r>
              <a:rPr lang="tr-TR" altLang="tr-TR" sz="1800" dirty="0" err="1"/>
              <a:t>i.e</a:t>
            </a:r>
            <a:r>
              <a:rPr lang="tr-TR" altLang="tr-TR" sz="1800" dirty="0"/>
              <a:t>. </a:t>
            </a:r>
            <a:r>
              <a:rPr lang="tr-TR" altLang="tr-TR" sz="1800" dirty="0" err="1"/>
              <a:t>the</a:t>
            </a:r>
            <a:r>
              <a:rPr lang="tr-TR" altLang="tr-TR" sz="1800" dirty="0"/>
              <a:t> </a:t>
            </a:r>
            <a:r>
              <a:rPr lang="tr-TR" altLang="tr-TR" sz="1800" dirty="0" err="1"/>
              <a:t>address</a:t>
            </a:r>
            <a:r>
              <a:rPr lang="tr-TR" altLang="tr-TR" sz="1800" dirty="0"/>
              <a:t> of </a:t>
            </a:r>
            <a:r>
              <a:rPr lang="tr-TR" altLang="tr-TR" sz="1800" dirty="0" err="1"/>
              <a:t>the</a:t>
            </a:r>
            <a:r>
              <a:rPr lang="tr-TR" altLang="tr-TR" sz="1800" dirty="0"/>
              <a:t> </a:t>
            </a:r>
            <a:r>
              <a:rPr lang="tr-TR" altLang="tr-TR" sz="1800" dirty="0" err="1"/>
              <a:t>memory</a:t>
            </a:r>
            <a:r>
              <a:rPr lang="tr-TR" altLang="tr-TR" sz="1800" dirty="0"/>
              <a:t> </a:t>
            </a:r>
            <a:r>
              <a:rPr lang="tr-TR" altLang="tr-TR" sz="1800" dirty="0" err="1"/>
              <a:t>location</a:t>
            </a:r>
            <a:r>
              <a:rPr lang="tr-TR" altLang="tr-TR" sz="1800" dirty="0"/>
              <a:t> </a:t>
            </a:r>
            <a:r>
              <a:rPr lang="tr-TR" altLang="tr-TR" sz="1800" dirty="0" err="1"/>
              <a:t>that</a:t>
            </a:r>
            <a:r>
              <a:rPr lang="tr-TR" altLang="tr-TR" sz="1800" dirty="0"/>
              <a:t> it </a:t>
            </a:r>
            <a:r>
              <a:rPr lang="tr-TR" altLang="tr-TR" sz="1800" dirty="0" err="1"/>
              <a:t>keeps</a:t>
            </a:r>
            <a:r>
              <a:rPr lang="tr-TR" altLang="tr-TR" sz="1800" dirty="0"/>
              <a:t>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tr-TR" altLang="tr-TR" sz="800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tr-T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tr-TR" sz="1800" dirty="0"/>
              <a:t> </a:t>
            </a:r>
            <a:r>
              <a:rPr lang="tr-TR" altLang="tr-TR" sz="1800" dirty="0"/>
              <a:t>is </a:t>
            </a:r>
            <a:r>
              <a:rPr lang="tr-TR" altLang="tr-TR" sz="1800" dirty="0" err="1"/>
              <a:t>defined</a:t>
            </a:r>
            <a:r>
              <a:rPr lang="tr-TR" altLang="tr-TR" sz="1800" dirty="0"/>
              <a:t> in </a:t>
            </a:r>
            <a:r>
              <a:rPr lang="tr-TR" altLang="tr-TR" sz="1800" dirty="0" err="1"/>
              <a:t>standard</a:t>
            </a:r>
            <a:r>
              <a:rPr lang="tr-TR" altLang="tr-TR" sz="1800" dirty="0"/>
              <a:t> </a:t>
            </a:r>
            <a:r>
              <a:rPr lang="tr-TR" altLang="tr-TR" sz="1800" dirty="0" err="1"/>
              <a:t>header</a:t>
            </a:r>
            <a:r>
              <a:rPr lang="tr-TR" altLang="tr-TR" sz="1800" dirty="0"/>
              <a:t> </a:t>
            </a:r>
            <a:r>
              <a:rPr lang="tr-TR" altLang="tr-TR" sz="1800" dirty="0" err="1"/>
              <a:t>files</a:t>
            </a:r>
            <a:r>
              <a:rPr lang="tr-TR" altLang="tr-TR" sz="1800" dirty="0"/>
              <a:t> </a:t>
            </a:r>
            <a:r>
              <a:rPr lang="tr-TR" altLang="tr-TR" sz="1800" dirty="0" err="1"/>
              <a:t>to</a:t>
            </a:r>
            <a:r>
              <a:rPr lang="tr-TR" altLang="tr-TR" sz="1800" dirty="0"/>
              <a:t> </a:t>
            </a:r>
            <a:r>
              <a:rPr lang="tr-TR" altLang="tr-TR" sz="1800" dirty="0" err="1"/>
              <a:t>mean</a:t>
            </a:r>
            <a:r>
              <a:rPr lang="tr-TR" altLang="tr-TR" sz="1800" dirty="0"/>
              <a:t> “</a:t>
            </a:r>
            <a:r>
              <a:rPr lang="tr-TR" altLang="tr-TR" sz="1800" dirty="0" err="1"/>
              <a:t>nowhere</a:t>
            </a:r>
            <a:r>
              <a:rPr lang="tr-TR" altLang="tr-TR" sz="1800" dirty="0"/>
              <a:t>” </a:t>
            </a:r>
            <a:r>
              <a:rPr lang="tr-TR" altLang="tr-TR" sz="1800" dirty="0" err="1"/>
              <a:t>or</a:t>
            </a:r>
            <a:r>
              <a:rPr lang="tr-TR" altLang="tr-TR" sz="1800" dirty="0"/>
              <a:t> ”</a:t>
            </a:r>
            <a:r>
              <a:rPr lang="tr-TR" altLang="tr-TR" sz="1800" dirty="0" err="1"/>
              <a:t>nothing</a:t>
            </a:r>
            <a:r>
              <a:rPr lang="tr-TR" altLang="tr-TR" sz="1800" dirty="0"/>
              <a:t>”. </a:t>
            </a:r>
            <a:r>
              <a:rPr lang="tr-TR" altLang="tr-TR" sz="1800" dirty="0" err="1"/>
              <a:t>It</a:t>
            </a:r>
            <a:r>
              <a:rPr lang="tr-TR" altLang="tr-TR" sz="1800" dirty="0"/>
              <a:t> can be </a:t>
            </a:r>
            <a:r>
              <a:rPr lang="tr-TR" altLang="tr-TR" sz="1800" dirty="0" err="1"/>
              <a:t>used</a:t>
            </a:r>
            <a:r>
              <a:rPr lang="tr-TR" altLang="tr-TR" sz="1800" dirty="0"/>
              <a:t> as </a:t>
            </a:r>
            <a:r>
              <a:rPr lang="tr-TR" altLang="tr-TR" sz="1800" dirty="0" err="1"/>
              <a:t>the</a:t>
            </a:r>
            <a:r>
              <a:rPr lang="tr-TR" altLang="tr-TR" sz="1800" dirty="0"/>
              <a:t> </a:t>
            </a:r>
            <a:r>
              <a:rPr lang="tr-TR" altLang="tr-TR" sz="1800" dirty="0" err="1"/>
              <a:t>initial</a:t>
            </a:r>
            <a:r>
              <a:rPr lang="tr-TR" altLang="tr-TR" sz="1800" dirty="0"/>
              <a:t> </a:t>
            </a:r>
            <a:r>
              <a:rPr lang="tr-TR" altLang="tr-TR" sz="1800" dirty="0" err="1"/>
              <a:t>value</a:t>
            </a:r>
            <a:r>
              <a:rPr lang="tr-TR" altLang="tr-TR" sz="1800" dirty="0"/>
              <a:t> </a:t>
            </a:r>
            <a:r>
              <a:rPr lang="tr-TR" altLang="tr-TR" sz="1800" dirty="0" err="1"/>
              <a:t>for</a:t>
            </a:r>
            <a:r>
              <a:rPr lang="tr-TR" altLang="tr-TR" sz="1800" dirty="0"/>
              <a:t> a </a:t>
            </a:r>
            <a:r>
              <a:rPr lang="tr-TR" altLang="tr-TR" sz="1800" dirty="0" err="1"/>
              <a:t>variable</a:t>
            </a:r>
            <a:r>
              <a:rPr lang="tr-TR" altLang="tr-TR" sz="1800" dirty="0"/>
              <a:t> </a:t>
            </a:r>
            <a:r>
              <a:rPr lang="tr-TR" altLang="tr-TR" sz="1800" dirty="0" err="1"/>
              <a:t>that</a:t>
            </a:r>
            <a:r>
              <a:rPr lang="tr-TR" altLang="tr-TR" sz="1800" dirty="0"/>
              <a:t> </a:t>
            </a:r>
            <a:r>
              <a:rPr lang="tr-TR" altLang="tr-TR" sz="1800" dirty="0" err="1"/>
              <a:t>does</a:t>
            </a:r>
            <a:r>
              <a:rPr lang="tr-TR" altLang="tr-TR" sz="1800" dirty="0"/>
              <a:t> not </a:t>
            </a:r>
            <a:r>
              <a:rPr lang="tr-TR" altLang="tr-TR" sz="1800" dirty="0" err="1"/>
              <a:t>point</a:t>
            </a:r>
            <a:r>
              <a:rPr lang="tr-TR" altLang="tr-TR" sz="1800" dirty="0"/>
              <a:t> </a:t>
            </a:r>
            <a:r>
              <a:rPr lang="tr-TR" altLang="tr-TR" sz="1800" dirty="0" err="1"/>
              <a:t>to</a:t>
            </a:r>
            <a:r>
              <a:rPr lang="tr-TR" altLang="tr-TR" sz="1800" dirty="0"/>
              <a:t> </a:t>
            </a:r>
            <a:r>
              <a:rPr lang="tr-TR" altLang="tr-TR" sz="1800" dirty="0" err="1"/>
              <a:t>anywhere</a:t>
            </a:r>
            <a:r>
              <a:rPr lang="tr-TR" altLang="tr-TR" sz="1800" dirty="0"/>
              <a:t>. </a:t>
            </a:r>
            <a:r>
              <a:rPr lang="tr-TR" altLang="tr-TR" sz="1800" dirty="0" err="1"/>
              <a:t>Normally</a:t>
            </a:r>
            <a:r>
              <a:rPr lang="tr-TR" altLang="tr-TR" sz="1800" dirty="0"/>
              <a:t> </a:t>
            </a:r>
            <a:r>
              <a:rPr lang="tr-TR" altLang="tr-TR" sz="1800" dirty="0" err="1"/>
              <a:t>this</a:t>
            </a:r>
            <a:r>
              <a:rPr lang="tr-TR" altLang="tr-TR" sz="1800" dirty="0"/>
              <a:t> </a:t>
            </a:r>
            <a:r>
              <a:rPr lang="tr-TR" altLang="tr-TR" sz="1800" dirty="0" err="1"/>
              <a:t>value</a:t>
            </a:r>
            <a:r>
              <a:rPr lang="tr-TR" altLang="tr-TR" sz="1800" dirty="0"/>
              <a:t> is 0</a:t>
            </a:r>
            <a:r>
              <a:rPr lang="en-US" altLang="tr-TR" sz="1800" dirty="0"/>
              <a:t> and it can also be used as </a:t>
            </a:r>
            <a:r>
              <a:rPr lang="en-US" altLang="tr-T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endParaRPr lang="en-US" altLang="tr-TR" sz="1800" dirty="0">
              <a:solidFill>
                <a:srgbClr val="CC0000"/>
              </a:solidFill>
            </a:endParaRPr>
          </a:p>
        </p:txBody>
      </p:sp>
      <p:sp>
        <p:nvSpPr>
          <p:cNvPr id="20485" name="Text Box 8"/>
          <p:cNvSpPr txBox="1">
            <a:spLocks noChangeArrowheads="1"/>
          </p:cNvSpPr>
          <p:nvPr/>
        </p:nvSpPr>
        <p:spPr bwMode="white">
          <a:xfrm>
            <a:off x="6296025" y="3929063"/>
            <a:ext cx="398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 ?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grpSp>
        <p:nvGrpSpPr>
          <p:cNvPr id="20486" name="Group 15"/>
          <p:cNvGrpSpPr>
            <a:grpSpLocks/>
          </p:cNvGrpSpPr>
          <p:nvPr/>
        </p:nvGrpSpPr>
        <p:grpSpPr bwMode="auto">
          <a:xfrm>
            <a:off x="2786063" y="3286125"/>
            <a:ext cx="4192587" cy="1384300"/>
            <a:chOff x="1679" y="1392"/>
            <a:chExt cx="2641" cy="872"/>
          </a:xfrm>
        </p:grpSpPr>
        <p:sp>
          <p:nvSpPr>
            <p:cNvPr id="20495" name="Rectangle 6"/>
            <p:cNvSpPr>
              <a:spLocks noChangeArrowheads="1"/>
            </p:cNvSpPr>
            <p:nvPr/>
          </p:nvSpPr>
          <p:spPr bwMode="white">
            <a:xfrm>
              <a:off x="3312" y="1420"/>
              <a:ext cx="100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20496" name="Text Box 7"/>
            <p:cNvSpPr txBox="1">
              <a:spLocks noChangeArrowheads="1"/>
            </p:cNvSpPr>
            <p:nvPr/>
          </p:nvSpPr>
          <p:spPr bwMode="white">
            <a:xfrm>
              <a:off x="3072" y="1392"/>
              <a:ext cx="1000" cy="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2400" dirty="0">
                  <a:latin typeface="Times New Roman" panose="02020603050405020304" pitchFamily="18" charset="0"/>
                </a:rPr>
                <a:t>c             A 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lang="tr-TR" altLang="tr-TR" sz="12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lang="tr-TR" altLang="tr-TR" sz="24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lang="tr-TR" altLang="tr-TR" sz="24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7" name="AutoShape 9"/>
            <p:cNvSpPr>
              <a:spLocks noChangeArrowheads="1"/>
            </p:cNvSpPr>
            <p:nvPr/>
          </p:nvSpPr>
          <p:spPr bwMode="white">
            <a:xfrm>
              <a:off x="1872" y="1728"/>
              <a:ext cx="672" cy="144"/>
            </a:xfrm>
            <a:prstGeom prst="rightArrow">
              <a:avLst>
                <a:gd name="adj1" fmla="val 50000"/>
                <a:gd name="adj2" fmla="val 1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20498" name="Text Box 11"/>
            <p:cNvSpPr txBox="1">
              <a:spLocks noChangeArrowheads="1"/>
            </p:cNvSpPr>
            <p:nvPr/>
          </p:nvSpPr>
          <p:spPr bwMode="white">
            <a:xfrm>
              <a:off x="1679" y="1887"/>
              <a:ext cx="124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tr-TR" sz="1400">
                  <a:latin typeface="Times New Roman" panose="02020603050405020304" pitchFamily="18" charset="0"/>
                </a:rPr>
                <a:t>what happens in memory</a:t>
              </a:r>
            </a:p>
          </p:txBody>
        </p:sp>
        <p:sp>
          <p:nvSpPr>
            <p:cNvPr id="20499" name="Rectangle 12"/>
            <p:cNvSpPr>
              <a:spLocks noChangeArrowheads="1"/>
            </p:cNvSpPr>
            <p:nvPr/>
          </p:nvSpPr>
          <p:spPr bwMode="white">
            <a:xfrm>
              <a:off x="3324" y="1797"/>
              <a:ext cx="213" cy="2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2400">
                  <a:latin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20487" name="Line 17"/>
          <p:cNvSpPr>
            <a:spLocks noChangeShapeType="1"/>
          </p:cNvSpPr>
          <p:nvPr/>
        </p:nvSpPr>
        <p:spPr bwMode="white">
          <a:xfrm>
            <a:off x="5762625" y="42148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88" name="Rectangle 12"/>
          <p:cNvSpPr>
            <a:spLocks noChangeArrowheads="1"/>
          </p:cNvSpPr>
          <p:nvPr/>
        </p:nvSpPr>
        <p:spPr bwMode="white">
          <a:xfrm>
            <a:off x="5305425" y="4538663"/>
            <a:ext cx="338138" cy="461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20489" name="Line 26"/>
          <p:cNvSpPr>
            <a:spLocks noChangeShapeType="1"/>
          </p:cNvSpPr>
          <p:nvPr/>
        </p:nvSpPr>
        <p:spPr bwMode="auto">
          <a:xfrm>
            <a:off x="5651500" y="4714875"/>
            <a:ext cx="449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27"/>
          <p:cNvSpPr>
            <a:spLocks noChangeShapeType="1"/>
          </p:cNvSpPr>
          <p:nvPr/>
        </p:nvSpPr>
        <p:spPr bwMode="auto">
          <a:xfrm>
            <a:off x="6100763" y="4705350"/>
            <a:ext cx="0" cy="246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28"/>
          <p:cNvSpPr>
            <a:spLocks noChangeShapeType="1"/>
          </p:cNvSpPr>
          <p:nvPr/>
        </p:nvSpPr>
        <p:spPr bwMode="auto">
          <a:xfrm flipV="1">
            <a:off x="5978525" y="4976813"/>
            <a:ext cx="258763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Line 29"/>
          <p:cNvSpPr>
            <a:spLocks noChangeShapeType="1"/>
          </p:cNvSpPr>
          <p:nvPr/>
        </p:nvSpPr>
        <p:spPr bwMode="auto">
          <a:xfrm flipV="1">
            <a:off x="6046788" y="5019675"/>
            <a:ext cx="138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3" name="Line 29"/>
          <p:cNvSpPr>
            <a:spLocks noChangeShapeType="1"/>
          </p:cNvSpPr>
          <p:nvPr/>
        </p:nvSpPr>
        <p:spPr bwMode="auto">
          <a:xfrm flipV="1">
            <a:off x="6080125" y="5072063"/>
            <a:ext cx="714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804025" y="6453188"/>
            <a:ext cx="1905000" cy="2841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0CCC94-3163-4567-B62D-BBDF6C16AFCA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 bwMode="auto">
          <a:xfrm>
            <a:off x="250825" y="2276872"/>
            <a:ext cx="8209607" cy="936104"/>
          </a:xfrm>
          <a:prstGeom prst="roundRect">
            <a:avLst/>
          </a:prstGeom>
          <a:noFill/>
          <a:ln w="28575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152400"/>
            <a:ext cx="885825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Pointers: </a:t>
            </a:r>
            <a:r>
              <a:rPr lang="en-US" smtClean="0">
                <a:solidFill>
                  <a:srgbClr val="DC2A00"/>
                </a:solidFill>
              </a:rPr>
              <a:t>“address of” operator (&amp;)</a:t>
            </a:r>
            <a:endParaRPr lang="en-US" sz="3200" smtClean="0">
              <a:solidFill>
                <a:srgbClr val="DC2A00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95400"/>
            <a:ext cx="8785225" cy="537686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tr-TR" dirty="0" smtClean="0"/>
              <a:t>You can store the address of variable  in a pointer variable:</a:t>
            </a:r>
            <a:endParaRPr lang="en-US" altLang="tr-TR" sz="1800" dirty="0" smtClean="0"/>
          </a:p>
          <a:p>
            <a:pPr>
              <a:lnSpc>
                <a:spcPct val="90000"/>
              </a:lnSpc>
              <a:buFontTx/>
              <a:buNone/>
            </a:pPr>
            <a:endParaRPr lang="en-US" altLang="tr-TR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dirty="0" smtClean="0">
                <a:latin typeface="Arial Unicode MS" pitchFamily="34" charset="-128"/>
              </a:rPr>
              <a:t>	</a:t>
            </a:r>
            <a:r>
              <a:rPr lang="en-US" alt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char c = 'A';  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char *  p;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dirty="0" smtClean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p = &amp;c;</a:t>
            </a:r>
            <a:r>
              <a:rPr lang="en-US" alt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tr-TR" dirty="0" smtClean="0">
              <a:latin typeface="Arial Unicode MS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tr-TR" dirty="0" smtClean="0">
              <a:latin typeface="Arial Unicode MS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tr-TR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2000" dirty="0" smtClean="0"/>
              <a:t>Be careful about the types; the type of variable used with &amp; must be the same as the pointer’s type used with * (e.g. address of a char variable can be assigned to a char pointer, address of int var. to int pointer, etc.).</a:t>
            </a:r>
          </a:p>
          <a:p>
            <a:pPr>
              <a:lnSpc>
                <a:spcPct val="90000"/>
              </a:lnSpc>
              <a:spcBef>
                <a:spcPts val="1800"/>
              </a:spcBef>
              <a:buFontTx/>
              <a:buNone/>
            </a:pPr>
            <a:r>
              <a:rPr lang="tr-TR" altLang="tr-TR" sz="2000" dirty="0" smtClean="0"/>
              <a:t>A</a:t>
            </a:r>
            <a:r>
              <a:rPr lang="en-US" altLang="tr-TR" sz="2000" dirty="0" err="1" smtClean="0"/>
              <a:t>ssigning</a:t>
            </a:r>
            <a:r>
              <a:rPr lang="en-US" altLang="tr-TR" sz="2000" dirty="0" smtClean="0"/>
              <a:t> an existing variable’s address is not the main use of pointers</a:t>
            </a:r>
            <a:r>
              <a:rPr lang="tr-TR" altLang="tr-TR" sz="2000" dirty="0" smtClean="0"/>
              <a:t>;</a:t>
            </a:r>
            <a:r>
              <a:rPr lang="en-US" altLang="tr-TR" sz="2000" dirty="0" smtClean="0"/>
              <a:t> but</a:t>
            </a:r>
            <a:r>
              <a:rPr lang="tr-TR" altLang="tr-TR" sz="2000" dirty="0" smtClean="0"/>
              <a:t>, </a:t>
            </a:r>
            <a:r>
              <a:rPr lang="tr-TR" altLang="tr-TR" sz="2000" dirty="0" err="1" smtClean="0"/>
              <a:t>this</a:t>
            </a:r>
            <a:r>
              <a:rPr lang="en-US" altLang="tr-TR" sz="2000" dirty="0" smtClean="0"/>
              <a:t> is useful in explaining the concept of address storage. </a:t>
            </a:r>
            <a:r>
              <a:rPr lang="en-US" altLang="tr-TR" dirty="0" smtClean="0">
                <a:latin typeface="Arial Unicode MS" pitchFamily="34" charset="-128"/>
              </a:rPr>
              <a:t>		</a:t>
            </a:r>
          </a:p>
        </p:txBody>
      </p:sp>
      <p:grpSp>
        <p:nvGrpSpPr>
          <p:cNvPr id="22532" name="Group 16"/>
          <p:cNvGrpSpPr>
            <a:grpSpLocks/>
          </p:cNvGrpSpPr>
          <p:nvPr/>
        </p:nvGrpSpPr>
        <p:grpSpPr bwMode="auto">
          <a:xfrm>
            <a:off x="3522663" y="2143125"/>
            <a:ext cx="4440237" cy="1552575"/>
            <a:chOff x="1344" y="2160"/>
            <a:chExt cx="2797" cy="978"/>
          </a:xfrm>
        </p:grpSpPr>
        <p:grpSp>
          <p:nvGrpSpPr>
            <p:cNvPr id="22537" name="Group 6"/>
            <p:cNvGrpSpPr>
              <a:grpSpLocks/>
            </p:cNvGrpSpPr>
            <p:nvPr/>
          </p:nvGrpSpPr>
          <p:grpSpPr bwMode="auto">
            <a:xfrm>
              <a:off x="1344" y="2160"/>
              <a:ext cx="2797" cy="978"/>
              <a:chOff x="1344" y="2160"/>
              <a:chExt cx="2797" cy="978"/>
            </a:xfrm>
          </p:grpSpPr>
          <p:sp>
            <p:nvSpPr>
              <p:cNvPr id="22539" name="Text Box 7"/>
              <p:cNvSpPr txBox="1">
                <a:spLocks noChangeArrowheads="1"/>
              </p:cNvSpPr>
              <p:nvPr/>
            </p:nvSpPr>
            <p:spPr bwMode="white">
              <a:xfrm>
                <a:off x="3011" y="2868"/>
                <a:ext cx="113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tr-TR" altLang="tr-TR" dirty="0" smtClean="0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0x</a:t>
                </a:r>
                <a:r>
                  <a:rPr lang="en-US" altLang="tr-TR" dirty="0" smtClean="0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183</a:t>
                </a:r>
                <a:r>
                  <a:rPr lang="tr-TR" altLang="tr-TR" dirty="0" smtClean="0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2435af00</a:t>
                </a:r>
                <a:endParaRPr lang="en-US" altLang="tr-TR" dirty="0">
                  <a:solidFill>
                    <a:srgbClr val="CC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540" name="Group 8"/>
              <p:cNvGrpSpPr>
                <a:grpSpLocks/>
              </p:cNvGrpSpPr>
              <p:nvPr/>
            </p:nvGrpSpPr>
            <p:grpSpPr bwMode="auto">
              <a:xfrm>
                <a:off x="1344" y="2160"/>
                <a:ext cx="2731" cy="978"/>
                <a:chOff x="1589" y="1392"/>
                <a:chExt cx="2731" cy="978"/>
              </a:xfrm>
            </p:grpSpPr>
            <p:sp>
              <p:nvSpPr>
                <p:cNvPr id="22541" name="Rectangle 9"/>
                <p:cNvSpPr>
                  <a:spLocks noChangeArrowheads="1"/>
                </p:cNvSpPr>
                <p:nvPr/>
              </p:nvSpPr>
              <p:spPr bwMode="white">
                <a:xfrm>
                  <a:off x="3312" y="1420"/>
                  <a:ext cx="1008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tr-TR" altLang="tr-T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42" name="Text Box 10"/>
                <p:cNvSpPr txBox="1">
                  <a:spLocks noChangeArrowheads="1"/>
                </p:cNvSpPr>
                <p:nvPr/>
              </p:nvSpPr>
              <p:spPr bwMode="white">
                <a:xfrm>
                  <a:off x="3072" y="1392"/>
                  <a:ext cx="1012" cy="97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tr-TR" altLang="tr-TR" sz="2400" dirty="0">
                      <a:latin typeface="Times New Roman" panose="02020603050405020304" pitchFamily="18" charset="0"/>
                    </a:rPr>
                    <a:t>c             A 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tr-TR" altLang="tr-TR" sz="2400" dirty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tr-TR" altLang="tr-TR" sz="2400" dirty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tr-TR" altLang="tr-TR" sz="2400" dirty="0">
                      <a:solidFill>
                        <a:srgbClr val="CC0000"/>
                      </a:solidFill>
                      <a:latin typeface="Times New Roman" panose="02020603050405020304" pitchFamily="18" charset="0"/>
                    </a:rPr>
                    <a:t>p</a:t>
                  </a:r>
                  <a:endParaRPr lang="en-US" altLang="tr-TR" sz="2400" dirty="0">
                    <a:solidFill>
                      <a:srgbClr val="CC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43" name="AutoShape 11"/>
                <p:cNvSpPr>
                  <a:spLocks noChangeArrowheads="1"/>
                </p:cNvSpPr>
                <p:nvPr/>
              </p:nvSpPr>
              <p:spPr bwMode="white">
                <a:xfrm>
                  <a:off x="1872" y="1728"/>
                  <a:ext cx="672" cy="144"/>
                </a:xfrm>
                <a:prstGeom prst="rightArrow">
                  <a:avLst>
                    <a:gd name="adj1" fmla="val 50000"/>
                    <a:gd name="adj2" fmla="val 116667"/>
                  </a:avLst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tr-TR" altLang="tr-T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44" name="Text Box 12"/>
                <p:cNvSpPr txBox="1">
                  <a:spLocks noChangeArrowheads="1"/>
                </p:cNvSpPr>
                <p:nvPr/>
              </p:nvSpPr>
              <p:spPr bwMode="white">
                <a:xfrm>
                  <a:off x="1589" y="1932"/>
                  <a:ext cx="124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tr-TR" sz="1400">
                      <a:latin typeface="Times New Roman" panose="02020603050405020304" pitchFamily="18" charset="0"/>
                    </a:rPr>
                    <a:t>what happens in memory</a:t>
                  </a:r>
                </a:p>
              </p:txBody>
            </p:sp>
            <p:sp>
              <p:nvSpPr>
                <p:cNvPr id="22545" name="Rectangle 13"/>
                <p:cNvSpPr>
                  <a:spLocks noChangeArrowheads="1"/>
                </p:cNvSpPr>
                <p:nvPr/>
              </p:nvSpPr>
              <p:spPr bwMode="white">
                <a:xfrm>
                  <a:off x="3287" y="2112"/>
                  <a:ext cx="1008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tr-TR" altLang="tr-T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46" name="Text Box 14"/>
                <p:cNvSpPr txBox="1">
                  <a:spLocks noChangeArrowheads="1"/>
                </p:cNvSpPr>
                <p:nvPr/>
              </p:nvSpPr>
              <p:spPr bwMode="white">
                <a:xfrm>
                  <a:off x="3792" y="1680"/>
                  <a:ext cx="192" cy="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tr-TR" altLang="tr-TR" sz="1000">
                      <a:latin typeface="Times New Roman" panose="02020603050405020304" pitchFamily="18" charset="0"/>
                    </a:rPr>
                    <a:t>.</a:t>
                  </a:r>
                </a:p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tr-TR" altLang="tr-TR" sz="1000">
                      <a:latin typeface="Times New Roman" panose="02020603050405020304" pitchFamily="18" charset="0"/>
                    </a:rPr>
                    <a:t>.</a:t>
                  </a:r>
                </a:p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tr-TR" altLang="tr-TR" sz="1000">
                      <a:latin typeface="Times New Roman" panose="02020603050405020304" pitchFamily="18" charset="0"/>
                    </a:rPr>
                    <a:t>.</a:t>
                  </a:r>
                  <a:endParaRPr lang="en-US" altLang="tr-TR" sz="1000">
                    <a:latin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22538" name="AutoShape 15"/>
            <p:cNvCxnSpPr>
              <a:cxnSpLocks noChangeShapeType="1"/>
              <a:stCxn id="22545" idx="3"/>
              <a:endCxn id="22541" idx="3"/>
            </p:cNvCxnSpPr>
            <p:nvPr/>
          </p:nvCxnSpPr>
          <p:spPr bwMode="white">
            <a:xfrm flipV="1">
              <a:off x="4050" y="2308"/>
              <a:ext cx="25" cy="692"/>
            </a:xfrm>
            <a:prstGeom prst="bentConnector3">
              <a:avLst>
                <a:gd name="adj1" fmla="val 676065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" name="Line Callout 2 14"/>
          <p:cNvSpPr/>
          <p:nvPr/>
        </p:nvSpPr>
        <p:spPr bwMode="auto">
          <a:xfrm>
            <a:off x="2555875" y="3786188"/>
            <a:ext cx="3214688" cy="461962"/>
          </a:xfrm>
          <a:prstGeom prst="borderCallout2">
            <a:avLst>
              <a:gd name="adj1" fmla="val 26368"/>
              <a:gd name="adj2" fmla="val -2567"/>
              <a:gd name="adj3" fmla="val 18750"/>
              <a:gd name="adj4" fmla="val -16667"/>
              <a:gd name="adj5" fmla="val -102398"/>
              <a:gd name="adj6" fmla="val -14454"/>
            </a:avLst>
          </a:prstGeom>
          <a:solidFill>
            <a:schemeClr val="accent5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tr-TR" dirty="0" err="1">
                <a:latin typeface="+mn-lt"/>
              </a:rPr>
              <a:t>Means</a:t>
            </a:r>
            <a:r>
              <a:rPr lang="tr-TR" dirty="0">
                <a:latin typeface="+mn-lt"/>
              </a:rPr>
              <a:t> "</a:t>
            </a:r>
            <a:r>
              <a:rPr lang="tr-TR" dirty="0" err="1">
                <a:latin typeface="+mn-lt"/>
              </a:rPr>
              <a:t>address</a:t>
            </a:r>
            <a:r>
              <a:rPr lang="tr-TR" dirty="0">
                <a:latin typeface="+mn-lt"/>
              </a:rPr>
              <a:t> of c"</a:t>
            </a:r>
          </a:p>
        </p:txBody>
      </p:sp>
      <p:sp>
        <p:nvSpPr>
          <p:cNvPr id="22534" name="TextBox 3"/>
          <p:cNvSpPr txBox="1">
            <a:spLocks noChangeArrowheads="1"/>
          </p:cNvSpPr>
          <p:nvPr/>
        </p:nvSpPr>
        <p:spPr bwMode="auto">
          <a:xfrm>
            <a:off x="7348538" y="1663700"/>
            <a:ext cx="1481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400">
                <a:latin typeface="Times New Roman" panose="02020603050405020304" pitchFamily="18" charset="0"/>
              </a:rPr>
              <a:t>Actually stores the code of 'A'</a:t>
            </a:r>
          </a:p>
        </p:txBody>
      </p:sp>
      <p:cxnSp>
        <p:nvCxnSpPr>
          <p:cNvPr id="22535" name="Straight Arrow Connector 8"/>
          <p:cNvCxnSpPr>
            <a:cxnSpLocks noChangeShapeType="1"/>
          </p:cNvCxnSpPr>
          <p:nvPr/>
        </p:nvCxnSpPr>
        <p:spPr bwMode="auto">
          <a:xfrm flipV="1">
            <a:off x="7018338" y="1925638"/>
            <a:ext cx="465137" cy="2174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641B846-A0CC-4957-8BC4-1593ED1CE3F4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152400"/>
            <a:ext cx="8786812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Pointers: </a:t>
            </a:r>
            <a:r>
              <a:rPr lang="en-US" dirty="0" smtClean="0">
                <a:solidFill>
                  <a:srgbClr val="DC2A00"/>
                </a:solidFill>
              </a:rPr>
              <a:t>dereferencing</a:t>
            </a:r>
            <a:endParaRPr lang="en-US" sz="3200" dirty="0" smtClean="0">
              <a:solidFill>
                <a:srgbClr val="DC2A00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309688"/>
            <a:ext cx="8482012" cy="5229225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200" dirty="0" smtClean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200" i="1" dirty="0" smtClean="0">
                <a:solidFill>
                  <a:srgbClr val="CC0000"/>
                </a:solidFill>
              </a:rPr>
              <a:t>pointer-variable</a:t>
            </a:r>
          </a:p>
          <a:p>
            <a:pPr>
              <a:buFontTx/>
              <a:buNone/>
              <a:defRPr/>
            </a:pPr>
            <a:r>
              <a:rPr lang="en-US" sz="2200" dirty="0" smtClean="0">
                <a:solidFill>
                  <a:srgbClr val="CC0000"/>
                </a:solidFill>
              </a:rPr>
              <a:t>	</a:t>
            </a:r>
            <a:r>
              <a:rPr lang="en-US" sz="2200" dirty="0" err="1" smtClean="0"/>
              <a:t>derefence</a:t>
            </a:r>
            <a:r>
              <a:rPr lang="en-US" sz="2200" dirty="0" smtClean="0"/>
              <a:t> (or indirection) operator. It gives the content of memory location pointed by the </a:t>
            </a:r>
            <a:r>
              <a:rPr lang="en-US" sz="2200" i="1" dirty="0" smtClean="0"/>
              <a:t>pointer-variable</a:t>
            </a:r>
            <a:endParaRPr lang="en-US" sz="1700" i="1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sz="2200" u="sng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200" dirty="0" smtClean="0">
                <a:latin typeface="Arial Unicode MS" pitchFamily="34" charset="-128"/>
              </a:rPr>
              <a:t>	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 char c = 'A';  		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	 char * p;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	 p = &amp;c;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sz="2200" dirty="0" smtClean="0">
              <a:latin typeface="Arial Unicode MS" pitchFamily="34" charset="-128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200" dirty="0" smtClean="0">
                <a:solidFill>
                  <a:srgbClr val="CC0000"/>
                </a:solidFill>
                <a:latin typeface="Arial Unicode MS" pitchFamily="34" charset="-128"/>
              </a:rPr>
              <a:t>	    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200" dirty="0" smtClean="0">
                <a:solidFill>
                  <a:srgbClr val="CC0000"/>
                </a:solidFill>
                <a:latin typeface="Arial Unicode MS" pitchFamily="34" charset="-128"/>
              </a:rPr>
              <a:t>	</a:t>
            </a:r>
            <a:r>
              <a:rPr lang="tr-TR" sz="2200" dirty="0" smtClean="0">
                <a:solidFill>
                  <a:srgbClr val="CC0000"/>
                </a:solidFill>
                <a:latin typeface="Arial Unicode MS" pitchFamily="34" charset="-128"/>
              </a:rPr>
              <a:t>  </a:t>
            </a:r>
            <a:r>
              <a:rPr lang="en-US" sz="220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 &lt;&lt; *p;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200" dirty="0" smtClean="0">
                <a:latin typeface="Arial Unicode MS" pitchFamily="34" charset="-128"/>
              </a:rPr>
              <a:t>	         </a:t>
            </a:r>
            <a:endParaRPr lang="tr-TR" sz="2200" dirty="0" smtClean="0">
              <a:latin typeface="Arial Unicode MS" pitchFamily="34" charset="-128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tr-TR" sz="2200" dirty="0">
                <a:latin typeface="Arial Unicode MS" pitchFamily="34" charset="-128"/>
              </a:rPr>
              <a:t>	</a:t>
            </a:r>
            <a:r>
              <a:rPr lang="en-US" sz="2200" dirty="0" smtClean="0">
                <a:latin typeface="Arial Unicode MS" pitchFamily="34" charset="-128"/>
              </a:rPr>
              <a:t>prints the value of </a:t>
            </a:r>
            <a:r>
              <a:rPr lang="tr-TR" sz="2200" dirty="0" err="1" smtClean="0">
                <a:latin typeface="Arial Unicode MS" pitchFamily="34" charset="-128"/>
              </a:rPr>
              <a:t>memory</a:t>
            </a:r>
            <a:r>
              <a:rPr lang="tr-TR" sz="2200" dirty="0" smtClean="0">
                <a:latin typeface="Arial Unicode MS" pitchFamily="34" charset="-128"/>
              </a:rPr>
              <a:t> </a:t>
            </a:r>
            <a:r>
              <a:rPr lang="tr-TR" sz="2200" dirty="0" err="1" smtClean="0">
                <a:latin typeface="Arial Unicode MS" pitchFamily="34" charset="-128"/>
              </a:rPr>
              <a:t>location</a:t>
            </a:r>
            <a:r>
              <a:rPr lang="tr-TR" sz="2200" dirty="0" smtClean="0">
                <a:latin typeface="Arial Unicode MS" pitchFamily="34" charset="-128"/>
              </a:rPr>
              <a:t> </a:t>
            </a:r>
            <a:r>
              <a:rPr lang="tr-TR" sz="2200" dirty="0" err="1" smtClean="0">
                <a:latin typeface="Arial Unicode MS" pitchFamily="34" charset="-128"/>
              </a:rPr>
              <a:t>pointed</a:t>
            </a:r>
            <a:r>
              <a:rPr lang="tr-TR" sz="2200" dirty="0" smtClean="0">
                <a:latin typeface="Arial Unicode MS" pitchFamily="34" charset="-128"/>
              </a:rPr>
              <a:t> </a:t>
            </a:r>
            <a:r>
              <a:rPr lang="tr-TR" sz="2200" dirty="0" err="1" smtClean="0">
                <a:latin typeface="Arial Unicode MS" pitchFamily="34" charset="-128"/>
              </a:rPr>
              <a:t>by</a:t>
            </a:r>
            <a:r>
              <a:rPr lang="tr-TR" sz="2200" dirty="0" smtClean="0">
                <a:latin typeface="Arial Unicode MS" pitchFamily="34" charset="-128"/>
              </a:rPr>
              <a:t> </a:t>
            </a:r>
            <a:r>
              <a:rPr lang="tr-TR" sz="2200" dirty="0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tr-TR" sz="2200" dirty="0" smtClean="0">
                <a:latin typeface="Arial Unicode MS" pitchFamily="34" charset="-128"/>
              </a:rPr>
              <a:t>. </a:t>
            </a:r>
            <a:r>
              <a:rPr lang="tr-TR" sz="2200" dirty="0" err="1" smtClean="0">
                <a:latin typeface="Arial Unicode MS" pitchFamily="34" charset="-128"/>
              </a:rPr>
              <a:t>This</a:t>
            </a:r>
            <a:r>
              <a:rPr lang="en-US" sz="2200" dirty="0" smtClean="0">
                <a:latin typeface="Arial Unicode MS" pitchFamily="34" charset="-128"/>
              </a:rPr>
              <a:t> is </a:t>
            </a:r>
            <a:r>
              <a:rPr lang="tr-TR" sz="2200" dirty="0" smtClean="0">
                <a:latin typeface="Arial Unicode MS" pitchFamily="34" charset="-128"/>
              </a:rPr>
              <a:t>    </a:t>
            </a:r>
            <a:r>
              <a:rPr lang="en-US" sz="2200" dirty="0" smtClean="0">
                <a:latin typeface="Arial Unicode MS" pitchFamily="34" charset="-128"/>
              </a:rPr>
              <a:t> </a:t>
            </a:r>
            <a:endParaRPr lang="tr-TR" sz="2200" dirty="0" smtClean="0">
              <a:latin typeface="Arial Unicode MS" pitchFamily="34" charset="-128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tr-TR" sz="2200" dirty="0">
                <a:latin typeface="Arial Unicode MS" pitchFamily="34" charset="-128"/>
              </a:rPr>
              <a:t>	</a:t>
            </a:r>
            <a:r>
              <a:rPr lang="tr-TR" sz="2200" dirty="0" err="1" smtClean="0">
                <a:latin typeface="Arial Unicode MS" pitchFamily="34" charset="-128"/>
              </a:rPr>
              <a:t>and</a:t>
            </a:r>
            <a:r>
              <a:rPr lang="tr-TR" sz="2200" dirty="0" smtClean="0">
                <a:latin typeface="Arial Unicode MS" pitchFamily="34" charset="-128"/>
              </a:rPr>
              <a:t> </a:t>
            </a:r>
            <a:r>
              <a:rPr lang="tr-TR" sz="2200" dirty="0" err="1" smtClean="0">
                <a:latin typeface="Arial Unicode MS" pitchFamily="34" charset="-128"/>
              </a:rPr>
              <a:t>this</a:t>
            </a:r>
            <a:r>
              <a:rPr lang="tr-TR" sz="2200" dirty="0" smtClean="0">
                <a:latin typeface="Arial Unicode MS" pitchFamily="34" charset="-128"/>
              </a:rPr>
              <a:t> is </a:t>
            </a:r>
            <a:r>
              <a:rPr lang="tr-TR" sz="2200" dirty="0" err="1" smtClean="0">
                <a:latin typeface="Arial Unicode MS" pitchFamily="34" charset="-128"/>
              </a:rPr>
              <a:t>the</a:t>
            </a:r>
            <a:r>
              <a:rPr lang="tr-TR" sz="2200" dirty="0" smtClean="0">
                <a:latin typeface="Arial Unicode MS" pitchFamily="34" charset="-128"/>
              </a:rPr>
              <a:t> </a:t>
            </a:r>
            <a:r>
              <a:rPr lang="tr-TR" sz="2200" dirty="0" err="1" smtClean="0">
                <a:latin typeface="Arial Unicode MS" pitchFamily="34" charset="-128"/>
              </a:rPr>
              <a:t>same</a:t>
            </a:r>
            <a:r>
              <a:rPr lang="tr-TR" sz="2200" dirty="0" smtClean="0">
                <a:latin typeface="Arial Unicode MS" pitchFamily="34" charset="-128"/>
              </a:rPr>
              <a:t> of </a:t>
            </a:r>
            <a:r>
              <a:rPr lang="tr-TR" sz="2200" dirty="0" err="1" smtClean="0">
                <a:latin typeface="Arial Unicode MS" pitchFamily="34" charset="-128"/>
              </a:rPr>
              <a:t>the</a:t>
            </a:r>
            <a:r>
              <a:rPr lang="tr-TR" sz="2200" dirty="0" smtClean="0">
                <a:latin typeface="Arial Unicode MS" pitchFamily="34" charset="-128"/>
              </a:rPr>
              <a:t> </a:t>
            </a:r>
            <a:r>
              <a:rPr lang="tr-TR" sz="2200" dirty="0" err="1" smtClean="0">
                <a:latin typeface="Arial Unicode MS" pitchFamily="34" charset="-128"/>
              </a:rPr>
              <a:t>value</a:t>
            </a:r>
            <a:r>
              <a:rPr lang="tr-TR" sz="2200" dirty="0" smtClean="0">
                <a:latin typeface="Arial Unicode MS" pitchFamily="34" charset="-128"/>
              </a:rPr>
              <a:t> of </a:t>
            </a:r>
            <a:r>
              <a:rPr lang="tr-TR" sz="2200" dirty="0" err="1" smtClean="0">
                <a:latin typeface="Arial Unicode MS" pitchFamily="34" charset="-128"/>
              </a:rPr>
              <a:t>regular</a:t>
            </a:r>
            <a:r>
              <a:rPr lang="tr-TR" sz="2200" dirty="0" smtClean="0">
                <a:latin typeface="Arial Unicode MS" pitchFamily="34" charset="-128"/>
              </a:rPr>
              <a:t> </a:t>
            </a:r>
            <a:r>
              <a:rPr lang="tr-TR" sz="2200" dirty="0" err="1" smtClean="0">
                <a:latin typeface="Arial Unicode MS" pitchFamily="34" charset="-128"/>
              </a:rPr>
              <a:t>variable</a:t>
            </a:r>
            <a:r>
              <a:rPr lang="tr-TR" sz="2200" dirty="0" smtClean="0">
                <a:latin typeface="Arial Unicode MS" pitchFamily="34" charset="-128"/>
              </a:rPr>
              <a:t> </a:t>
            </a:r>
            <a:r>
              <a:rPr lang="tr-TR" sz="2200" dirty="0" smtClean="0">
                <a:latin typeface="Courier New" pitchFamily="49" charset="0"/>
                <a:cs typeface="Courier New" pitchFamily="49" charset="0"/>
              </a:rPr>
              <a:t>c</a:t>
            </a:r>
            <a:r>
              <a:rPr lang="tr-TR" sz="2200" dirty="0" smtClean="0">
                <a:latin typeface="Arial Unicode MS" pitchFamily="34" charset="-128"/>
              </a:rPr>
              <a:t>.</a:t>
            </a:r>
            <a:endParaRPr lang="en-US" sz="2200" dirty="0" smtClean="0">
              <a:latin typeface="Arial Unicode MS" pitchFamily="34" charset="-128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sz="2200" dirty="0" smtClean="0">
              <a:latin typeface="Arial Unicode MS" pitchFamily="34" charset="-128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200" dirty="0" smtClean="0">
                <a:latin typeface="Arial Unicode MS" pitchFamily="34" charset="-128"/>
              </a:rPr>
              <a:t>	 just like “</a:t>
            </a:r>
            <a:r>
              <a:rPr lang="en-US" sz="2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c</a:t>
            </a:r>
            <a:r>
              <a:rPr lang="tr-TR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200" dirty="0" smtClean="0">
                <a:latin typeface="Arial Unicode MS" pitchFamily="34" charset="-128"/>
              </a:rPr>
              <a:t>” prints the value of the char variable 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200" dirty="0" smtClean="0">
                <a:latin typeface="Arial Unicode MS" pitchFamily="34" charset="-128"/>
              </a:rPr>
              <a:t>	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200" dirty="0" smtClean="0">
                <a:solidFill>
                  <a:srgbClr val="CC0000"/>
                </a:solidFill>
                <a:latin typeface="Arial Unicode MS" pitchFamily="34" charset="-128"/>
              </a:rPr>
              <a:t>	     </a:t>
            </a:r>
            <a:r>
              <a:rPr lang="en-US" sz="2200" dirty="0" smtClean="0">
                <a:latin typeface="Arial Unicode MS" pitchFamily="34" charset="-128"/>
              </a:rPr>
              <a:t>     		</a:t>
            </a:r>
          </a:p>
        </p:txBody>
      </p:sp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3074988" y="2590800"/>
            <a:ext cx="4354512" cy="1552575"/>
            <a:chOff x="1344" y="2160"/>
            <a:chExt cx="2743" cy="978"/>
          </a:xfrm>
        </p:grpSpPr>
        <p:grpSp>
          <p:nvGrpSpPr>
            <p:cNvPr id="24585" name="Group 7"/>
            <p:cNvGrpSpPr>
              <a:grpSpLocks/>
            </p:cNvGrpSpPr>
            <p:nvPr/>
          </p:nvGrpSpPr>
          <p:grpSpPr bwMode="auto">
            <a:xfrm>
              <a:off x="1344" y="2160"/>
              <a:ext cx="2743" cy="978"/>
              <a:chOff x="1589" y="1392"/>
              <a:chExt cx="2743" cy="978"/>
            </a:xfrm>
          </p:grpSpPr>
          <p:sp>
            <p:nvSpPr>
              <p:cNvPr id="24587" name="Rectangle 8"/>
              <p:cNvSpPr>
                <a:spLocks noChangeArrowheads="1"/>
              </p:cNvSpPr>
              <p:nvPr/>
            </p:nvSpPr>
            <p:spPr bwMode="white">
              <a:xfrm>
                <a:off x="3312" y="1420"/>
                <a:ext cx="1008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tr-TR" altLang="tr-T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88" name="Text Box 9"/>
              <p:cNvSpPr txBox="1">
                <a:spLocks noChangeArrowheads="1"/>
              </p:cNvSpPr>
              <p:nvPr/>
            </p:nvSpPr>
            <p:spPr bwMode="white">
              <a:xfrm>
                <a:off x="3072" y="1392"/>
                <a:ext cx="1012" cy="9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tr-TR" altLang="tr-TR" sz="2400">
                    <a:latin typeface="Times New Roman" panose="02020603050405020304" pitchFamily="18" charset="0"/>
                  </a:rPr>
                  <a:t>c             A 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tr-TR" altLang="tr-TR" sz="240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tr-TR" altLang="tr-TR" sz="240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tr-TR" altLang="tr-TR" sz="2400">
                    <a:latin typeface="Times New Roman" panose="02020603050405020304" pitchFamily="18" charset="0"/>
                  </a:rPr>
                  <a:t>p</a:t>
                </a:r>
                <a:endParaRPr lang="en-US" altLang="tr-T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89" name="AutoShape 10"/>
              <p:cNvSpPr>
                <a:spLocks noChangeArrowheads="1"/>
              </p:cNvSpPr>
              <p:nvPr/>
            </p:nvSpPr>
            <p:spPr bwMode="white">
              <a:xfrm>
                <a:off x="1872" y="1728"/>
                <a:ext cx="672" cy="144"/>
              </a:xfrm>
              <a:prstGeom prst="rightArrow">
                <a:avLst>
                  <a:gd name="adj1" fmla="val 50000"/>
                  <a:gd name="adj2" fmla="val 116667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tr-TR" altLang="tr-T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0" name="Text Box 11"/>
              <p:cNvSpPr txBox="1">
                <a:spLocks noChangeArrowheads="1"/>
              </p:cNvSpPr>
              <p:nvPr/>
            </p:nvSpPr>
            <p:spPr bwMode="white">
              <a:xfrm>
                <a:off x="1589" y="1932"/>
                <a:ext cx="124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tr-TR" sz="1400">
                    <a:latin typeface="Times New Roman" panose="02020603050405020304" pitchFamily="18" charset="0"/>
                  </a:rPr>
                  <a:t>what happens in memory</a:t>
                </a:r>
              </a:p>
            </p:txBody>
          </p:sp>
          <p:sp>
            <p:nvSpPr>
              <p:cNvPr id="24591" name="Rectangle 12"/>
              <p:cNvSpPr>
                <a:spLocks noChangeArrowheads="1"/>
              </p:cNvSpPr>
              <p:nvPr/>
            </p:nvSpPr>
            <p:spPr bwMode="white">
              <a:xfrm>
                <a:off x="3324" y="2112"/>
                <a:ext cx="1008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tr-TR" altLang="tr-T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2" name="Text Box 13"/>
              <p:cNvSpPr txBox="1">
                <a:spLocks noChangeArrowheads="1"/>
              </p:cNvSpPr>
              <p:nvPr/>
            </p:nvSpPr>
            <p:spPr bwMode="white">
              <a:xfrm>
                <a:off x="3792" y="1680"/>
                <a:ext cx="192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tr-TR" altLang="tr-TR" sz="1000">
                    <a:latin typeface="Times New Roman" panose="02020603050405020304" pitchFamily="18" charset="0"/>
                  </a:rPr>
                  <a:t>.</a:t>
                </a:r>
              </a:p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tr-TR" altLang="tr-TR" sz="1000">
                    <a:latin typeface="Times New Roman" panose="02020603050405020304" pitchFamily="18" charset="0"/>
                  </a:rPr>
                  <a:t>.</a:t>
                </a:r>
              </a:p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tr-TR" altLang="tr-TR" sz="1000">
                    <a:latin typeface="Times New Roman" panose="02020603050405020304" pitchFamily="18" charset="0"/>
                  </a:rPr>
                  <a:t>.</a:t>
                </a:r>
                <a:endParaRPr lang="en-US" altLang="tr-TR" sz="1000">
                  <a:latin typeface="Times New Roman" panose="02020603050405020304" pitchFamily="18" charset="0"/>
                </a:endParaRPr>
              </a:p>
            </p:txBody>
          </p:sp>
        </p:grpSp>
        <p:cxnSp>
          <p:nvCxnSpPr>
            <p:cNvPr id="24586" name="AutoShape 14"/>
            <p:cNvCxnSpPr>
              <a:cxnSpLocks noChangeShapeType="1"/>
              <a:stCxn id="24591" idx="3"/>
              <a:endCxn id="24587" idx="3"/>
            </p:cNvCxnSpPr>
            <p:nvPr/>
          </p:nvCxnSpPr>
          <p:spPr bwMode="white">
            <a:xfrm flipH="1" flipV="1">
              <a:off x="4075" y="2308"/>
              <a:ext cx="12" cy="692"/>
            </a:xfrm>
            <a:prstGeom prst="bentConnector3">
              <a:avLst>
                <a:gd name="adj1" fmla="val -1200000"/>
              </a:avLst>
            </a:prstGeom>
            <a:noFill/>
            <a:ln w="9525">
              <a:solidFill>
                <a:srgbClr val="CC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581" name="Text Box 7"/>
          <p:cNvSpPr txBox="1">
            <a:spLocks noChangeArrowheads="1"/>
          </p:cNvSpPr>
          <p:nvPr/>
        </p:nvSpPr>
        <p:spPr bwMode="white">
          <a:xfrm>
            <a:off x="5699022" y="3743325"/>
            <a:ext cx="17940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dirty="0" smtClean="0">
                <a:solidFill>
                  <a:srgbClr val="CC0000"/>
                </a:solidFill>
                <a:latin typeface="Times New Roman" panose="02020603050405020304" pitchFamily="18" charset="0"/>
              </a:rPr>
              <a:t>0x</a:t>
            </a:r>
            <a:r>
              <a:rPr lang="en-US" altLang="tr-TR" dirty="0" smtClean="0">
                <a:solidFill>
                  <a:srgbClr val="CC0000"/>
                </a:solidFill>
                <a:latin typeface="Times New Roman" panose="02020603050405020304" pitchFamily="18" charset="0"/>
              </a:rPr>
              <a:t>183</a:t>
            </a:r>
            <a:r>
              <a:rPr lang="tr-TR" altLang="tr-TR" dirty="0" smtClean="0">
                <a:solidFill>
                  <a:srgbClr val="CC0000"/>
                </a:solidFill>
                <a:latin typeface="Times New Roman" panose="02020603050405020304" pitchFamily="18" charset="0"/>
              </a:rPr>
              <a:t>2435af00</a:t>
            </a:r>
            <a:endParaRPr lang="en-US" altLang="tr-TR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2" name="TextBox 1"/>
          <p:cNvSpPr txBox="1">
            <a:spLocks noChangeArrowheads="1"/>
          </p:cNvSpPr>
          <p:nvPr/>
        </p:nvSpPr>
        <p:spPr bwMode="auto">
          <a:xfrm>
            <a:off x="7524750" y="4437063"/>
            <a:ext cx="1150938" cy="4619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4583" name="TextBox 1"/>
          <p:cNvSpPr txBox="1">
            <a:spLocks noChangeArrowheads="1"/>
          </p:cNvSpPr>
          <p:nvPr/>
        </p:nvSpPr>
        <p:spPr bwMode="auto">
          <a:xfrm>
            <a:off x="6172200" y="5861050"/>
            <a:ext cx="1150938" cy="4619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458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65A462-AA58-488D-9EBD-3A90572A2DDE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096250" cy="82867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Pointer</a:t>
            </a:r>
            <a:r>
              <a:rPr lang="tr-TR" dirty="0" smtClean="0"/>
              <a:t>s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DC2A00"/>
                </a:solidFill>
              </a:rPr>
              <a:t>assignment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6388" y="1063625"/>
            <a:ext cx="8591550" cy="4932363"/>
          </a:xfrm>
        </p:spPr>
        <p:txBody>
          <a:bodyPr/>
          <a:lstStyle/>
          <a:p>
            <a:pPr lvl="1">
              <a:buFontTx/>
              <a:buNone/>
            </a:pPr>
            <a:endParaRPr lang="en-US" altLang="tr-TR" sz="1600" b="1" dirty="0" smtClean="0"/>
          </a:p>
          <a:p>
            <a:pPr>
              <a:buFontTx/>
              <a:buNone/>
            </a:pPr>
            <a:r>
              <a:rPr lang="en-US" altLang="tr-TR" sz="2000" dirty="0" smtClean="0"/>
              <a:t>A pointer can be assigned to another pointer of the same type.</a:t>
            </a:r>
          </a:p>
          <a:p>
            <a:pPr>
              <a:buFontTx/>
              <a:buNone/>
            </a:pPr>
            <a:endParaRPr lang="en-US" altLang="tr-TR" sz="2000" dirty="0" smtClean="0"/>
          </a:p>
          <a:p>
            <a:pPr>
              <a:buFontTx/>
              <a:buNone/>
            </a:pPr>
            <a:r>
              <a:rPr lang="en-US" altLang="tr-TR" sz="2000" dirty="0" smtClean="0"/>
              <a:t>Assume we have done as before:</a:t>
            </a:r>
          </a:p>
          <a:p>
            <a:pPr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</a:rPr>
              <a:t>	  double n;</a:t>
            </a:r>
          </a:p>
          <a:p>
            <a:pPr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</a:rPr>
              <a:t>	  double * p;</a:t>
            </a:r>
          </a:p>
          <a:p>
            <a:pPr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</a:rPr>
              <a:t>	  p = &amp;n;</a:t>
            </a:r>
          </a:p>
          <a:p>
            <a:pPr lvl="1">
              <a:buFontTx/>
              <a:buNone/>
            </a:pP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*p = 17.5;</a:t>
            </a:r>
            <a:r>
              <a:rPr lang="en-US" altLang="tr-TR" sz="1600" b="1" dirty="0" smtClean="0">
                <a:latin typeface="Courier New" panose="02070309020205020404" pitchFamily="49" charset="0"/>
              </a:rPr>
              <a:t>		</a:t>
            </a:r>
            <a:r>
              <a:rPr lang="en-US" altLang="tr-TR" sz="1600" b="1" dirty="0" smtClean="0"/>
              <a:t>// memory location pointed by p contains 17.5</a:t>
            </a:r>
            <a:endParaRPr lang="en-US" altLang="tr-TR" sz="1600" b="1" dirty="0" smtClean="0">
              <a:solidFill>
                <a:schemeClr val="tx1"/>
              </a:solidFill>
            </a:endParaRPr>
          </a:p>
          <a:p>
            <a:pPr>
              <a:buFontTx/>
              <a:buNone/>
            </a:pPr>
            <a:endParaRPr lang="en-US" altLang="tr-TR" dirty="0" smtClean="0"/>
          </a:p>
          <a:p>
            <a:pPr>
              <a:buFontTx/>
              <a:buNone/>
            </a:pPr>
            <a:endParaRPr lang="en-US" altLang="tr-TR" sz="2000" dirty="0" smtClean="0"/>
          </a:p>
          <a:p>
            <a:pPr>
              <a:buFontTx/>
              <a:buNone/>
            </a:pPr>
            <a:endParaRPr lang="tr-TR" altLang="tr-TR" sz="800" dirty="0" smtClean="0"/>
          </a:p>
          <a:p>
            <a:pPr>
              <a:buFontTx/>
              <a:buNone/>
            </a:pPr>
            <a:r>
              <a:rPr lang="en-US" altLang="tr-TR" sz="2000" dirty="0" smtClean="0"/>
              <a:t>Now you can assign p to another pointer variable:</a:t>
            </a:r>
          </a:p>
          <a:p>
            <a:pPr lvl="1">
              <a:buFontTx/>
              <a:buNone/>
            </a:pP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double *q;</a:t>
            </a:r>
          </a:p>
          <a:p>
            <a:pPr lvl="1">
              <a:buFontTx/>
              <a:buNone/>
            </a:pP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q = p;</a:t>
            </a:r>
            <a:r>
              <a:rPr lang="en-US" altLang="tr-TR" sz="1600" b="1" dirty="0" smtClean="0">
                <a:latin typeface="Courier New" panose="02070309020205020404" pitchFamily="49" charset="0"/>
              </a:rPr>
              <a:t> 		</a:t>
            </a:r>
            <a:r>
              <a:rPr lang="en-US" altLang="tr-TR" sz="1600" b="1" dirty="0" smtClean="0">
                <a:solidFill>
                  <a:srgbClr val="CC0000"/>
                </a:solidFill>
              </a:rPr>
              <a:t>// q and p points to the same location in memory</a:t>
            </a:r>
          </a:p>
        </p:txBody>
      </p:sp>
      <p:sp>
        <p:nvSpPr>
          <p:cNvPr id="26628" name="Line 6"/>
          <p:cNvSpPr>
            <a:spLocks noChangeShapeType="1"/>
          </p:cNvSpPr>
          <p:nvPr/>
        </p:nvSpPr>
        <p:spPr bwMode="auto">
          <a:xfrm>
            <a:off x="3000375" y="3946525"/>
            <a:ext cx="777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3778250" y="3714750"/>
            <a:ext cx="1173163" cy="4492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 b="1">
                <a:solidFill>
                  <a:srgbClr val="CC0000"/>
                </a:solidFill>
                <a:latin typeface="Courier New" panose="02070309020205020404" pitchFamily="49" charset="0"/>
              </a:rPr>
              <a:t>17.5</a:t>
            </a: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2700338" y="3727450"/>
            <a:ext cx="381000" cy="4238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5929313" y="6148388"/>
            <a:ext cx="381000" cy="4238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26632" name="Rectangle 10"/>
          <p:cNvSpPr>
            <a:spLocks noChangeArrowheads="1"/>
          </p:cNvSpPr>
          <p:nvPr/>
        </p:nvSpPr>
        <p:spPr bwMode="auto">
          <a:xfrm>
            <a:off x="5929313" y="5572125"/>
            <a:ext cx="381000" cy="4238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 b="1">
                <a:solidFill>
                  <a:srgbClr val="CC0000"/>
                </a:solidFill>
                <a:latin typeface="Courier New" panose="02070309020205020404" pitchFamily="49" charset="0"/>
              </a:rPr>
              <a:t>q</a:t>
            </a:r>
          </a:p>
        </p:txBody>
      </p:sp>
      <p:grpSp>
        <p:nvGrpSpPr>
          <p:cNvPr id="26633" name="Group 20"/>
          <p:cNvGrpSpPr>
            <a:grpSpLocks/>
          </p:cNvGrpSpPr>
          <p:nvPr/>
        </p:nvGrpSpPr>
        <p:grpSpPr bwMode="auto">
          <a:xfrm>
            <a:off x="6289675" y="5716588"/>
            <a:ext cx="1951038" cy="815975"/>
            <a:chOff x="1444" y="3518"/>
            <a:chExt cx="1229" cy="514"/>
          </a:xfrm>
        </p:grpSpPr>
        <p:sp>
          <p:nvSpPr>
            <p:cNvPr id="26638" name="Rectangle 7"/>
            <p:cNvSpPr>
              <a:spLocks noChangeArrowheads="1"/>
            </p:cNvSpPr>
            <p:nvPr/>
          </p:nvSpPr>
          <p:spPr bwMode="auto">
            <a:xfrm>
              <a:off x="1934" y="3749"/>
              <a:ext cx="739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tr-TR" sz="1800">
                  <a:latin typeface="Courier New" panose="02070309020205020404" pitchFamily="49" charset="0"/>
                </a:rPr>
                <a:t>17.5</a:t>
              </a:r>
            </a:p>
          </p:txBody>
        </p:sp>
        <p:sp>
          <p:nvSpPr>
            <p:cNvPr id="26639" name="Line 9"/>
            <p:cNvSpPr>
              <a:spLocks noChangeShapeType="1"/>
            </p:cNvSpPr>
            <p:nvPr/>
          </p:nvSpPr>
          <p:spPr bwMode="auto">
            <a:xfrm>
              <a:off x="1444" y="3895"/>
              <a:ext cx="4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Freeform 11"/>
            <p:cNvSpPr>
              <a:spLocks/>
            </p:cNvSpPr>
            <p:nvPr/>
          </p:nvSpPr>
          <p:spPr bwMode="auto">
            <a:xfrm>
              <a:off x="1461" y="3518"/>
              <a:ext cx="472" cy="306"/>
            </a:xfrm>
            <a:custGeom>
              <a:avLst/>
              <a:gdLst>
                <a:gd name="T0" fmla="*/ 0 w 472"/>
                <a:gd name="T1" fmla="*/ 31 h 306"/>
                <a:gd name="T2" fmla="*/ 266 w 472"/>
                <a:gd name="T3" fmla="*/ 39 h 306"/>
                <a:gd name="T4" fmla="*/ 309 w 472"/>
                <a:gd name="T5" fmla="*/ 263 h 306"/>
                <a:gd name="T6" fmla="*/ 472 w 472"/>
                <a:gd name="T7" fmla="*/ 297 h 3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2"/>
                <a:gd name="T13" fmla="*/ 0 h 306"/>
                <a:gd name="T14" fmla="*/ 472 w 472"/>
                <a:gd name="T15" fmla="*/ 306 h 3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2" h="306">
                  <a:moveTo>
                    <a:pt x="0" y="31"/>
                  </a:moveTo>
                  <a:cubicBezTo>
                    <a:pt x="107" y="15"/>
                    <a:pt x="215" y="0"/>
                    <a:pt x="266" y="39"/>
                  </a:cubicBezTo>
                  <a:cubicBezTo>
                    <a:pt x="317" y="78"/>
                    <a:pt x="275" y="220"/>
                    <a:pt x="309" y="263"/>
                  </a:cubicBezTo>
                  <a:cubicBezTo>
                    <a:pt x="343" y="306"/>
                    <a:pt x="445" y="293"/>
                    <a:pt x="472" y="297"/>
                  </a:cubicBezTo>
                </a:path>
              </a:pathLst>
            </a:cu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4" name="Text Box 14"/>
          <p:cNvSpPr txBox="1">
            <a:spLocks noChangeArrowheads="1"/>
          </p:cNvSpPr>
          <p:nvPr/>
        </p:nvSpPr>
        <p:spPr bwMode="white">
          <a:xfrm>
            <a:off x="7510463" y="570706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>
                <a:latin typeface="Courier New" panose="02070309020205020404" pitchFamily="49" charset="0"/>
              </a:rPr>
              <a:t>n</a:t>
            </a:r>
            <a:endParaRPr lang="en-US" altLang="tr-TR">
              <a:latin typeface="Courier New" panose="02070309020205020404" pitchFamily="49" charset="0"/>
            </a:endParaRPr>
          </a:p>
        </p:txBody>
      </p:sp>
      <p:sp>
        <p:nvSpPr>
          <p:cNvPr id="26635" name="Text Box 17"/>
          <p:cNvSpPr txBox="1">
            <a:spLocks noChangeArrowheads="1"/>
          </p:cNvSpPr>
          <p:nvPr/>
        </p:nvSpPr>
        <p:spPr bwMode="white">
          <a:xfrm>
            <a:off x="4211638" y="414655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>
                <a:latin typeface="Courier New" panose="02070309020205020404" pitchFamily="49" charset="0"/>
              </a:rPr>
              <a:t>n</a:t>
            </a:r>
            <a:endParaRPr lang="en-US" altLang="tr-TR">
              <a:latin typeface="Courier New" panose="02070309020205020404" pitchFamily="49" charset="0"/>
            </a:endParaRPr>
          </a:p>
        </p:txBody>
      </p:sp>
      <p:sp>
        <p:nvSpPr>
          <p:cNvPr id="26636" name="Text Box 19"/>
          <p:cNvSpPr txBox="1">
            <a:spLocks noChangeArrowheads="1"/>
          </p:cNvSpPr>
          <p:nvPr/>
        </p:nvSpPr>
        <p:spPr bwMode="white">
          <a:xfrm>
            <a:off x="2700338" y="414655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>
                <a:latin typeface="Courier New" panose="02070309020205020404" pitchFamily="49" charset="0"/>
              </a:rPr>
              <a:t>p</a:t>
            </a:r>
            <a:endParaRPr lang="en-US" altLang="tr-TR">
              <a:latin typeface="Courier New" panose="02070309020205020404" pitchFamily="49" charset="0"/>
            </a:endParaRPr>
          </a:p>
        </p:txBody>
      </p:sp>
      <p:sp>
        <p:nvSpPr>
          <p:cNvPr id="26637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992938" y="620395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67F42F-983D-4F3B-9491-C4D5EF096A13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Pointers: definition</a:t>
            </a:r>
            <a:r>
              <a:rPr lang="en-US" smtClean="0">
                <a:solidFill>
                  <a:srgbClr val="DC2A00"/>
                </a:solidFill>
              </a:rPr>
              <a:t/>
            </a:r>
            <a:br>
              <a:rPr lang="en-US" smtClean="0">
                <a:solidFill>
                  <a:srgbClr val="DC2A00"/>
                </a:solidFill>
              </a:rPr>
            </a:br>
            <a:r>
              <a:rPr lang="en-US" smtClean="0">
                <a:solidFill>
                  <a:srgbClr val="CC0000"/>
                </a:solidFill>
              </a:rPr>
              <a:t>(what happens behind the scenes)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5400"/>
            <a:ext cx="8410575" cy="4886325"/>
          </a:xfrm>
        </p:spPr>
        <p:txBody>
          <a:bodyPr/>
          <a:lstStyle/>
          <a:p>
            <a:pPr>
              <a:buFontTx/>
              <a:buNone/>
            </a:pPr>
            <a:endParaRPr lang="en-US" altLang="tr-TR" dirty="0" smtClean="0">
              <a:solidFill>
                <a:srgbClr val="CC0000"/>
              </a:solidFill>
            </a:endParaRPr>
          </a:p>
          <a:p>
            <a:pPr>
              <a:buFontTx/>
              <a:buNone/>
            </a:pPr>
            <a:r>
              <a:rPr lang="en-US" alt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c = 'A';     </a:t>
            </a:r>
          </a:p>
          <a:p>
            <a:pPr>
              <a:buFontTx/>
              <a:buNone/>
            </a:pPr>
            <a:r>
              <a:rPr lang="en-US" alt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*p; </a:t>
            </a:r>
            <a:r>
              <a:rPr lang="en-US" alt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altLang="tr-TR" dirty="0" smtClean="0">
                <a:latin typeface="Arial Unicode MS" pitchFamily="34" charset="-128"/>
              </a:rPr>
              <a:t>   </a:t>
            </a:r>
          </a:p>
          <a:p>
            <a:pPr>
              <a:buFontTx/>
              <a:buNone/>
            </a:pPr>
            <a:endParaRPr lang="tr-TR" altLang="tr-TR" sz="1400" dirty="0" smtClean="0">
              <a:latin typeface="Arial Unicode MS" pitchFamily="34" charset="-128"/>
            </a:endParaRPr>
          </a:p>
          <a:p>
            <a:pPr>
              <a:buFontTx/>
              <a:buNone/>
            </a:pPr>
            <a:endParaRPr lang="en-US" altLang="tr-TR" sz="1400" dirty="0" smtClean="0">
              <a:latin typeface="Arial Unicode MS" pitchFamily="34" charset="-128"/>
            </a:endParaRPr>
          </a:p>
          <a:p>
            <a:pPr>
              <a:spcAft>
                <a:spcPts val="1200"/>
              </a:spcAft>
              <a:buFontTx/>
              <a:buNone/>
            </a:pPr>
            <a:r>
              <a:rPr lang="en-US" altLang="tr-TR" sz="1400" dirty="0" smtClean="0">
                <a:latin typeface="+mj-lt"/>
              </a:rPr>
              <a:t>0x1832435af00</a:t>
            </a:r>
          </a:p>
          <a:p>
            <a:pPr>
              <a:buFontTx/>
              <a:buNone/>
            </a:pPr>
            <a:r>
              <a:rPr lang="en-US" altLang="tr-TR" sz="1400" dirty="0" smtClean="0">
                <a:latin typeface="+mj-lt"/>
              </a:rPr>
              <a:t>0x1832435af01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white">
          <a:xfrm>
            <a:off x="2493406" y="4636334"/>
            <a:ext cx="261610" cy="77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.</a:t>
            </a:r>
          </a:p>
          <a:p>
            <a:pPr algn="ctr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.</a:t>
            </a:r>
          </a:p>
          <a:p>
            <a:pPr algn="ctr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.</a:t>
            </a:r>
            <a:endParaRPr lang="en-US" altLang="tr-TR" sz="2400" dirty="0">
              <a:latin typeface="Times New Roman" panose="02020603050405020304" pitchFamily="18" charset="0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white">
          <a:xfrm>
            <a:off x="1800299" y="3048000"/>
            <a:ext cx="16764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white">
          <a:xfrm>
            <a:off x="1800299" y="3048000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white">
          <a:xfrm>
            <a:off x="1800299" y="3352800"/>
            <a:ext cx="1676400" cy="133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white">
          <a:xfrm>
            <a:off x="1800299" y="5562600"/>
            <a:ext cx="16764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white">
          <a:xfrm>
            <a:off x="2333429" y="3048000"/>
            <a:ext cx="351378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tr-TR" altLang="tr-TR" sz="1800" dirty="0">
                <a:solidFill>
                  <a:srgbClr val="CC0000"/>
                </a:solidFill>
                <a:latin typeface="Times New Roman" panose="02020603050405020304" pitchFamily="18" charset="0"/>
              </a:rPr>
              <a:t>A</a:t>
            </a:r>
            <a:endParaRPr lang="en-US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endParaRPr lang="en-US" altLang="tr-TR" sz="1800" dirty="0" smtClean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tr-TR" altLang="tr-TR" sz="1800" dirty="0" smtClean="0">
                <a:solidFill>
                  <a:srgbClr val="CC0000"/>
                </a:solidFill>
                <a:latin typeface="Times New Roman" panose="02020603050405020304" pitchFamily="18" charset="0"/>
              </a:rPr>
              <a:t>?</a:t>
            </a:r>
            <a:endParaRPr lang="en-US" altLang="tr-TR" sz="18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white">
          <a:xfrm>
            <a:off x="5334000" y="2286000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white">
          <a:xfrm>
            <a:off x="5334000" y="2590800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grpSp>
        <p:nvGrpSpPr>
          <p:cNvPr id="28684" name="Group 12"/>
          <p:cNvGrpSpPr>
            <a:grpSpLocks/>
          </p:cNvGrpSpPr>
          <p:nvPr/>
        </p:nvGrpSpPr>
        <p:grpSpPr bwMode="auto">
          <a:xfrm>
            <a:off x="4792662" y="2209800"/>
            <a:ext cx="2443163" cy="1905000"/>
            <a:chOff x="3019" y="1392"/>
            <a:chExt cx="1539" cy="1200"/>
          </a:xfrm>
        </p:grpSpPr>
        <p:sp>
          <p:nvSpPr>
            <p:cNvPr id="28692" name="Rectangle 13"/>
            <p:cNvSpPr>
              <a:spLocks noChangeArrowheads="1"/>
            </p:cNvSpPr>
            <p:nvPr/>
          </p:nvSpPr>
          <p:spPr bwMode="white">
            <a:xfrm>
              <a:off x="3360" y="1440"/>
              <a:ext cx="105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28693" name="Rectangle 14"/>
            <p:cNvSpPr>
              <a:spLocks noChangeArrowheads="1"/>
            </p:cNvSpPr>
            <p:nvPr/>
          </p:nvSpPr>
          <p:spPr bwMode="white">
            <a:xfrm>
              <a:off x="3360" y="2448"/>
              <a:ext cx="1056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28694" name="Text Box 15"/>
            <p:cNvSpPr txBox="1">
              <a:spLocks noChangeArrowheads="1"/>
            </p:cNvSpPr>
            <p:nvPr/>
          </p:nvSpPr>
          <p:spPr bwMode="white">
            <a:xfrm>
              <a:off x="3019" y="1392"/>
              <a:ext cx="15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1800" dirty="0">
                  <a:latin typeface="Times New Roman" panose="02020603050405020304" pitchFamily="18" charset="0"/>
                </a:rPr>
                <a:t>        </a:t>
              </a:r>
              <a:r>
                <a:rPr lang="tr-TR" altLang="tr-TR" sz="1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tr-TR" altLang="tr-TR" sz="24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tr-TR" altLang="tr-TR" sz="2400" dirty="0" smtClean="0">
                  <a:latin typeface="Times New Roman" panose="02020603050405020304" pitchFamily="18" charset="0"/>
                </a:rPr>
                <a:t>   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0x</a:t>
              </a:r>
              <a:r>
                <a:rPr lang="en-US" altLang="tr-TR" sz="1400" dirty="0" smtClean="0">
                  <a:solidFill>
                    <a:srgbClr val="3333CC"/>
                  </a:solidFill>
                  <a:latin typeface="+mj-lt"/>
                </a:rPr>
                <a:t>183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2435af00</a:t>
              </a:r>
              <a:r>
                <a:rPr lang="tr-TR" altLang="tr-TR" sz="2400" dirty="0" smtClean="0">
                  <a:solidFill>
                    <a:srgbClr val="CC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tr-TR" sz="24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5" name="Text Box 16"/>
            <p:cNvSpPr txBox="1">
              <a:spLocks noChangeArrowheads="1"/>
            </p:cNvSpPr>
            <p:nvPr/>
          </p:nvSpPr>
          <p:spPr bwMode="white">
            <a:xfrm>
              <a:off x="3297" y="1630"/>
              <a:ext cx="11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1800" dirty="0">
                  <a:latin typeface="Times New Roman" panose="02020603050405020304" pitchFamily="18" charset="0"/>
                </a:rPr>
                <a:t> </a:t>
              </a:r>
              <a:r>
                <a:rPr lang="tr-TR" altLang="tr-TR" sz="1800" dirty="0" smtClean="0">
                  <a:solidFill>
                    <a:srgbClr val="CC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tr-TR" altLang="tr-TR" sz="1800" dirty="0" smtClean="0">
                  <a:latin typeface="Times New Roman" panose="02020603050405020304" pitchFamily="18" charset="0"/>
                </a:rPr>
                <a:t>     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0x</a:t>
              </a:r>
              <a:r>
                <a:rPr lang="en-US" altLang="tr-TR" sz="1400" dirty="0" smtClean="0">
                  <a:solidFill>
                    <a:srgbClr val="3333CC"/>
                  </a:solidFill>
                  <a:latin typeface="+mj-lt"/>
                </a:rPr>
                <a:t>183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2435af01</a:t>
              </a:r>
              <a:endParaRPr lang="en-US" altLang="tr-TR" sz="1400" dirty="0">
                <a:solidFill>
                  <a:srgbClr val="3333CC"/>
                </a:solidFill>
                <a:latin typeface="+mj-lt"/>
              </a:endParaRPr>
            </a:p>
          </p:txBody>
        </p:sp>
      </p:grpSp>
      <p:sp>
        <p:nvSpPr>
          <p:cNvPr id="28685" name="Text Box 17"/>
          <p:cNvSpPr txBox="1">
            <a:spLocks noChangeArrowheads="1"/>
          </p:cNvSpPr>
          <p:nvPr/>
        </p:nvSpPr>
        <p:spPr bwMode="white">
          <a:xfrm>
            <a:off x="6029325" y="2892425"/>
            <a:ext cx="2413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  <a:endParaRPr lang="en-US" altLang="tr-TR" sz="1800">
              <a:latin typeface="Times New Roman" panose="02020603050405020304" pitchFamily="18" charset="0"/>
            </a:endParaRPr>
          </a:p>
        </p:txBody>
      </p:sp>
      <p:sp>
        <p:nvSpPr>
          <p:cNvPr id="15374" name="Text Box 18"/>
          <p:cNvSpPr txBox="1">
            <a:spLocks noChangeArrowheads="1"/>
          </p:cNvSpPr>
          <p:nvPr/>
        </p:nvSpPr>
        <p:spPr bwMode="white">
          <a:xfrm>
            <a:off x="5513388" y="4243388"/>
            <a:ext cx="1517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tr-TR" altLang="tr-TR" sz="1800" dirty="0" err="1" smtClean="0">
                <a:latin typeface="+mn-lt"/>
              </a:rPr>
              <a:t>Symbol</a:t>
            </a:r>
            <a:r>
              <a:rPr lang="tr-TR" altLang="tr-TR" sz="1800" dirty="0" smtClean="0">
                <a:latin typeface="+mn-lt"/>
              </a:rPr>
              <a:t> </a:t>
            </a:r>
            <a:r>
              <a:rPr lang="tr-TR" altLang="tr-TR" sz="1800" dirty="0" err="1" smtClean="0">
                <a:latin typeface="+mn-lt"/>
              </a:rPr>
              <a:t>table</a:t>
            </a:r>
            <a:endParaRPr lang="en-US" altLang="tr-TR" sz="1800" dirty="0" smtClean="0">
              <a:latin typeface="+mn-lt"/>
            </a:endParaRPr>
          </a:p>
        </p:txBody>
      </p:sp>
      <p:sp>
        <p:nvSpPr>
          <p:cNvPr id="15375" name="Text Box 19"/>
          <p:cNvSpPr txBox="1">
            <a:spLocks noChangeArrowheads="1"/>
          </p:cNvSpPr>
          <p:nvPr/>
        </p:nvSpPr>
        <p:spPr bwMode="white">
          <a:xfrm>
            <a:off x="2114624" y="5919788"/>
            <a:ext cx="1019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tr-TR" altLang="tr-TR" sz="1800" dirty="0" smtClean="0">
                <a:latin typeface="+mn-lt"/>
              </a:rPr>
              <a:t>Memory</a:t>
            </a:r>
            <a:endParaRPr lang="en-US" altLang="tr-TR" sz="1800" dirty="0" smtClean="0">
              <a:latin typeface="+mn-lt"/>
            </a:endParaRPr>
          </a:p>
        </p:txBody>
      </p:sp>
      <p:sp>
        <p:nvSpPr>
          <p:cNvPr id="28688" name="Text Box 20"/>
          <p:cNvSpPr txBox="1">
            <a:spLocks noChangeArrowheads="1"/>
          </p:cNvSpPr>
          <p:nvPr/>
        </p:nvSpPr>
        <p:spPr bwMode="white">
          <a:xfrm>
            <a:off x="3481462" y="3092450"/>
            <a:ext cx="298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Times New Roman" panose="02020603050405020304" pitchFamily="18" charset="0"/>
              </a:rPr>
              <a:t>c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28689" name="Line 21"/>
          <p:cNvSpPr>
            <a:spLocks noChangeShapeType="1"/>
          </p:cNvSpPr>
          <p:nvPr/>
        </p:nvSpPr>
        <p:spPr bwMode="white">
          <a:xfrm>
            <a:off x="5791200" y="2286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690" name="Text Box 23"/>
          <p:cNvSpPr txBox="1">
            <a:spLocks noChangeArrowheads="1"/>
          </p:cNvSpPr>
          <p:nvPr/>
        </p:nvSpPr>
        <p:spPr bwMode="white">
          <a:xfrm>
            <a:off x="4792662" y="5297036"/>
            <a:ext cx="37240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 dirty="0" smtClean="0">
                <a:solidFill>
                  <a:srgbClr val="FF0000"/>
                </a:solidFill>
                <a:cs typeface="Arial" panose="020B0604020202020204" pitchFamily="34" charset="0"/>
              </a:rPr>
              <a:t>a pointer uses 8 bytes of memory</a:t>
            </a:r>
            <a:endParaRPr lang="tr-TR" altLang="tr-TR" sz="1800" dirty="0" smtClean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 err="1" smtClean="0">
                <a:solidFill>
                  <a:srgbClr val="FF0000"/>
                </a:solidFill>
                <a:cs typeface="Arial" panose="020B0604020202020204" pitchFamily="34" charset="0"/>
              </a:rPr>
              <a:t>when</a:t>
            </a:r>
            <a:r>
              <a:rPr lang="tr-TR" altLang="tr-TR" sz="1800" dirty="0" smtClean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tr-TR" altLang="tr-TR" sz="1800" dirty="0" err="1" smtClean="0">
                <a:solidFill>
                  <a:srgbClr val="FF0000"/>
                </a:solidFill>
                <a:cs typeface="Arial" panose="020B0604020202020204" pitchFamily="34" charset="0"/>
              </a:rPr>
              <a:t>you</a:t>
            </a:r>
            <a:r>
              <a:rPr lang="tr-TR" altLang="tr-TR" sz="1800" dirty="0" smtClean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tr-TR" altLang="tr-TR" sz="1800" dirty="0" err="1" smtClean="0">
                <a:solidFill>
                  <a:srgbClr val="FF0000"/>
                </a:solidFill>
                <a:cs typeface="Arial" panose="020B0604020202020204" pitchFamily="34" charset="0"/>
              </a:rPr>
              <a:t>have</a:t>
            </a:r>
            <a:r>
              <a:rPr lang="tr-TR" altLang="tr-TR" sz="1800" dirty="0" smtClean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tr-TR" sz="1800" dirty="0" smtClean="0">
                <a:solidFill>
                  <a:srgbClr val="FF0000"/>
                </a:solidFill>
                <a:cs typeface="Arial" panose="020B0604020202020204" pitchFamily="34" charset="0"/>
              </a:rPr>
              <a:t>64</a:t>
            </a:r>
            <a:r>
              <a:rPr lang="tr-TR" altLang="tr-TR" sz="1800" dirty="0" smtClean="0">
                <a:solidFill>
                  <a:srgbClr val="FF0000"/>
                </a:solidFill>
                <a:cs typeface="Arial" panose="020B0604020202020204" pitchFamily="34" charset="0"/>
              </a:rPr>
              <a:t>-bit ad</a:t>
            </a:r>
            <a:r>
              <a:rPr lang="en-US" altLang="tr-TR" sz="1800" dirty="0" smtClean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r>
              <a:rPr lang="tr-TR" altLang="tr-TR" sz="1800" dirty="0" err="1" smtClean="0">
                <a:solidFill>
                  <a:srgbClr val="FF0000"/>
                </a:solidFill>
                <a:cs typeface="Arial" panose="020B0604020202020204" pitchFamily="34" charset="0"/>
              </a:rPr>
              <a:t>resses</a:t>
            </a:r>
            <a:endParaRPr lang="en-US" altLang="tr-TR" sz="18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8691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DD694D-389D-495F-8311-1E66892C095A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400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7"/>
          <p:cNvSpPr>
            <a:spLocks noChangeArrowheads="1"/>
          </p:cNvSpPr>
          <p:nvPr/>
        </p:nvSpPr>
        <p:spPr bwMode="white">
          <a:xfrm>
            <a:off x="4495800" y="4260850"/>
            <a:ext cx="3505200" cy="1828800"/>
          </a:xfrm>
          <a:prstGeom prst="rect">
            <a:avLst/>
          </a:prstGeom>
          <a:solidFill>
            <a:srgbClr val="CCECFF">
              <a:alpha val="49803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Pointer</a:t>
            </a:r>
            <a:r>
              <a:rPr lang="tr-TR" dirty="0" smtClean="0"/>
              <a:t>s</a:t>
            </a:r>
            <a:r>
              <a:rPr lang="en-US" dirty="0" smtClean="0"/>
              <a:t>: address of a variable</a:t>
            </a:r>
            <a:br>
              <a:rPr lang="en-US" dirty="0" smtClean="0"/>
            </a:br>
            <a:r>
              <a:rPr lang="en-US" dirty="0" smtClean="0">
                <a:solidFill>
                  <a:srgbClr val="DC2A00"/>
                </a:solidFill>
              </a:rPr>
              <a:t> </a:t>
            </a:r>
            <a:r>
              <a:rPr lang="en-US" dirty="0" smtClean="0">
                <a:solidFill>
                  <a:srgbClr val="CC0000"/>
                </a:solidFill>
              </a:rPr>
              <a:t>(what happens behind the scenes)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295400"/>
            <a:ext cx="8389937" cy="4092575"/>
          </a:xfrm>
        </p:spPr>
        <p:txBody>
          <a:bodyPr/>
          <a:lstStyle/>
          <a:p>
            <a:pPr>
              <a:buFontTx/>
              <a:buNone/>
            </a:pPr>
            <a:endParaRPr lang="en-US" altLang="tr-TR" dirty="0" smtClean="0"/>
          </a:p>
          <a:p>
            <a:pPr>
              <a:buFontTx/>
              <a:buNone/>
            </a:pPr>
            <a:r>
              <a:rPr lang="en-US" alt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char c = 'A';     </a:t>
            </a:r>
          </a:p>
          <a:p>
            <a:pPr>
              <a:buFontTx/>
              <a:buNone/>
            </a:pPr>
            <a:r>
              <a:rPr lang="en-US" alt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char *p;     </a:t>
            </a:r>
          </a:p>
          <a:p>
            <a:pPr>
              <a:buFontTx/>
              <a:buNone/>
            </a:pPr>
            <a:r>
              <a:rPr lang="en-US" alt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 = &amp;c; 	// p now points to c.</a:t>
            </a:r>
            <a:r>
              <a:rPr lang="en-US" alt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</a:p>
          <a:p>
            <a:pPr>
              <a:buFontTx/>
              <a:buNone/>
            </a:pPr>
            <a:r>
              <a:rPr lang="en-US" altLang="tr-TR" sz="1400" dirty="0" smtClean="0">
                <a:latin typeface="Arial Unicode MS" pitchFamily="34" charset="-128"/>
              </a:rPr>
              <a:t>         </a:t>
            </a: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white">
          <a:xfrm>
            <a:off x="1905000" y="3498850"/>
            <a:ext cx="16764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0727" name="Rectangle 6"/>
          <p:cNvSpPr>
            <a:spLocks noChangeArrowheads="1"/>
          </p:cNvSpPr>
          <p:nvPr/>
        </p:nvSpPr>
        <p:spPr bwMode="white">
          <a:xfrm>
            <a:off x="1905000" y="3498850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white">
          <a:xfrm>
            <a:off x="1905000" y="3803650"/>
            <a:ext cx="1676400" cy="133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0729" name="Rectangle 8"/>
          <p:cNvSpPr>
            <a:spLocks noChangeArrowheads="1"/>
          </p:cNvSpPr>
          <p:nvPr/>
        </p:nvSpPr>
        <p:spPr bwMode="white">
          <a:xfrm>
            <a:off x="1905000" y="6013450"/>
            <a:ext cx="16764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0730" name="Text Box 9"/>
          <p:cNvSpPr txBox="1">
            <a:spLocks noChangeArrowheads="1"/>
          </p:cNvSpPr>
          <p:nvPr/>
        </p:nvSpPr>
        <p:spPr bwMode="white">
          <a:xfrm>
            <a:off x="1957445" y="3498850"/>
            <a:ext cx="15969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dirty="0">
                <a:latin typeface="Times New Roman" panose="02020603050405020304" pitchFamily="18" charset="0"/>
              </a:rPr>
              <a:t>A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600" dirty="0" smtClean="0">
              <a:solidFill>
                <a:srgbClr val="C81002"/>
              </a:solidFill>
              <a:latin typeface="+mj-lt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600" dirty="0">
              <a:solidFill>
                <a:srgbClr val="C81002"/>
              </a:solidFill>
              <a:latin typeface="+mj-lt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600" dirty="0" smtClean="0">
                <a:solidFill>
                  <a:srgbClr val="C81002"/>
                </a:solidFill>
                <a:latin typeface="+mj-lt"/>
              </a:rPr>
              <a:t>0x</a:t>
            </a:r>
            <a:r>
              <a:rPr lang="en-US" altLang="tr-TR" sz="1600" dirty="0" smtClean="0">
                <a:solidFill>
                  <a:srgbClr val="C81002"/>
                </a:solidFill>
                <a:latin typeface="+mj-lt"/>
              </a:rPr>
              <a:t>183</a:t>
            </a:r>
            <a:r>
              <a:rPr lang="tr-TR" altLang="tr-TR" sz="1600" dirty="0" smtClean="0">
                <a:solidFill>
                  <a:srgbClr val="C81002"/>
                </a:solidFill>
                <a:latin typeface="+mj-lt"/>
              </a:rPr>
              <a:t>2435af00</a:t>
            </a:r>
            <a:endParaRPr lang="tr-TR" altLang="tr-TR" sz="1600" dirty="0">
              <a:solidFill>
                <a:srgbClr val="C81002"/>
              </a:solidFill>
              <a:latin typeface="+mj-lt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600" dirty="0">
              <a:solidFill>
                <a:srgbClr val="C8100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9" name="Text Box 18"/>
          <p:cNvSpPr txBox="1">
            <a:spLocks noChangeArrowheads="1"/>
          </p:cNvSpPr>
          <p:nvPr/>
        </p:nvSpPr>
        <p:spPr bwMode="white">
          <a:xfrm>
            <a:off x="5756275" y="3502025"/>
            <a:ext cx="13700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tr-TR" altLang="tr-TR" sz="1600" dirty="0" err="1" smtClean="0">
                <a:latin typeface="+mn-lt"/>
              </a:rPr>
              <a:t>Symbol</a:t>
            </a:r>
            <a:r>
              <a:rPr lang="tr-TR" altLang="tr-TR" sz="1600" dirty="0" smtClean="0">
                <a:latin typeface="+mn-lt"/>
              </a:rPr>
              <a:t> </a:t>
            </a:r>
            <a:r>
              <a:rPr lang="tr-TR" altLang="tr-TR" sz="1600" dirty="0" err="1" smtClean="0">
                <a:latin typeface="+mn-lt"/>
              </a:rPr>
              <a:t>table</a:t>
            </a:r>
            <a:endParaRPr lang="en-US" altLang="tr-TR" sz="1600" dirty="0" smtClean="0">
              <a:latin typeface="+mn-lt"/>
            </a:endParaRPr>
          </a:p>
        </p:txBody>
      </p:sp>
      <p:sp>
        <p:nvSpPr>
          <p:cNvPr id="16400" name="Text Box 19"/>
          <p:cNvSpPr txBox="1">
            <a:spLocks noChangeArrowheads="1"/>
          </p:cNvSpPr>
          <p:nvPr/>
        </p:nvSpPr>
        <p:spPr bwMode="white">
          <a:xfrm>
            <a:off x="2227263" y="6307138"/>
            <a:ext cx="927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tr-TR" altLang="tr-TR" sz="1600" dirty="0" smtClean="0">
                <a:latin typeface="+mn-lt"/>
              </a:rPr>
              <a:t>Memory</a:t>
            </a:r>
            <a:endParaRPr lang="en-US" altLang="tr-TR" sz="1600" dirty="0" smtClean="0">
              <a:latin typeface="+mn-lt"/>
            </a:endParaRPr>
          </a:p>
        </p:txBody>
      </p:sp>
      <p:sp>
        <p:nvSpPr>
          <p:cNvPr id="30737" name="Text Box 20"/>
          <p:cNvSpPr txBox="1">
            <a:spLocks noChangeArrowheads="1"/>
          </p:cNvSpPr>
          <p:nvPr/>
        </p:nvSpPr>
        <p:spPr bwMode="white">
          <a:xfrm>
            <a:off x="67905" y="3520495"/>
            <a:ext cx="1864613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buFontTx/>
              <a:buNone/>
            </a:pPr>
            <a:r>
              <a:rPr lang="tr-TR" altLang="tr-TR" sz="1400" dirty="0">
                <a:solidFill>
                  <a:srgbClr val="3333CC"/>
                </a:solidFill>
                <a:latin typeface="+mj-lt"/>
              </a:rPr>
              <a:t>         </a:t>
            </a:r>
            <a:r>
              <a:rPr lang="tr-TR" altLang="tr-TR" sz="1400" dirty="0" smtClean="0">
                <a:solidFill>
                  <a:srgbClr val="3333CC"/>
                </a:solidFill>
                <a:latin typeface="+mj-lt"/>
              </a:rPr>
              <a:t>0x</a:t>
            </a:r>
            <a:r>
              <a:rPr lang="en-US" altLang="tr-TR" sz="1400" dirty="0" smtClean="0">
                <a:solidFill>
                  <a:srgbClr val="3333CC"/>
                </a:solidFill>
                <a:latin typeface="+mj-lt"/>
              </a:rPr>
              <a:t>183</a:t>
            </a:r>
            <a:r>
              <a:rPr lang="tr-TR" altLang="tr-TR" sz="1400" dirty="0" smtClean="0">
                <a:solidFill>
                  <a:srgbClr val="3333CC"/>
                </a:solidFill>
                <a:latin typeface="+mj-lt"/>
              </a:rPr>
              <a:t>2435af00</a:t>
            </a:r>
            <a:endParaRPr lang="tr-TR" altLang="tr-TR" sz="1400" dirty="0">
              <a:solidFill>
                <a:srgbClr val="3333CC"/>
              </a:solidFill>
              <a:latin typeface="+mj-lt"/>
            </a:endParaRPr>
          </a:p>
          <a:p>
            <a:pPr algn="ctr">
              <a:buFontTx/>
              <a:buNone/>
            </a:pPr>
            <a:r>
              <a:rPr lang="tr-TR" altLang="tr-TR" sz="1400" dirty="0">
                <a:solidFill>
                  <a:srgbClr val="3333CC"/>
                </a:solidFill>
                <a:latin typeface="+mj-lt"/>
              </a:rPr>
              <a:t>         </a:t>
            </a:r>
            <a:r>
              <a:rPr lang="tr-TR" altLang="tr-TR" sz="1400" dirty="0" smtClean="0">
                <a:solidFill>
                  <a:srgbClr val="3333CC"/>
                </a:solidFill>
                <a:latin typeface="+mj-lt"/>
              </a:rPr>
              <a:t>0x</a:t>
            </a:r>
            <a:r>
              <a:rPr lang="en-US" altLang="tr-TR" sz="1400" dirty="0" smtClean="0">
                <a:solidFill>
                  <a:srgbClr val="3333CC"/>
                </a:solidFill>
                <a:latin typeface="+mj-lt"/>
              </a:rPr>
              <a:t>183</a:t>
            </a:r>
            <a:r>
              <a:rPr lang="tr-TR" altLang="tr-TR" sz="1400" dirty="0" smtClean="0">
                <a:solidFill>
                  <a:srgbClr val="3333CC"/>
                </a:solidFill>
                <a:latin typeface="+mj-lt"/>
              </a:rPr>
              <a:t>2435af01</a:t>
            </a:r>
            <a:endParaRPr lang="en-US" altLang="tr-TR" sz="1400" dirty="0">
              <a:solidFill>
                <a:srgbClr val="3333CC"/>
              </a:solidFill>
              <a:latin typeface="+mj-lt"/>
            </a:endParaRPr>
          </a:p>
        </p:txBody>
      </p:sp>
      <p:sp>
        <p:nvSpPr>
          <p:cNvPr id="30738" name="Rectangle 21"/>
          <p:cNvSpPr>
            <a:spLocks noChangeArrowheads="1"/>
          </p:cNvSpPr>
          <p:nvPr/>
        </p:nvSpPr>
        <p:spPr bwMode="white">
          <a:xfrm>
            <a:off x="5791200" y="4838700"/>
            <a:ext cx="1600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0739" name="Text Box 22"/>
          <p:cNvSpPr txBox="1">
            <a:spLocks noChangeArrowheads="1"/>
          </p:cNvSpPr>
          <p:nvPr/>
        </p:nvSpPr>
        <p:spPr bwMode="white">
          <a:xfrm>
            <a:off x="5410200" y="4794250"/>
            <a:ext cx="16065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c             A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p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30740" name="Text Box 23"/>
          <p:cNvSpPr txBox="1">
            <a:spLocks noChangeArrowheads="1"/>
          </p:cNvSpPr>
          <p:nvPr/>
        </p:nvSpPr>
        <p:spPr bwMode="white">
          <a:xfrm>
            <a:off x="6996113" y="55657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0741" name="Line 24"/>
          <p:cNvSpPr>
            <a:spLocks noChangeShapeType="1"/>
          </p:cNvSpPr>
          <p:nvPr/>
        </p:nvSpPr>
        <p:spPr bwMode="white">
          <a:xfrm flipV="1">
            <a:off x="5791200" y="5327650"/>
            <a:ext cx="838200" cy="457200"/>
          </a:xfrm>
          <a:prstGeom prst="line">
            <a:avLst/>
          </a:prstGeom>
          <a:noFill/>
          <a:ln w="9525">
            <a:solidFill>
              <a:srgbClr val="C8100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0742" name="Text Box 25"/>
          <p:cNvSpPr txBox="1">
            <a:spLocks noChangeArrowheads="1"/>
          </p:cNvSpPr>
          <p:nvPr/>
        </p:nvSpPr>
        <p:spPr bwMode="white">
          <a:xfrm>
            <a:off x="4513263" y="4270375"/>
            <a:ext cx="33988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600">
                <a:latin typeface="Times New Roman" panose="02020603050405020304" pitchFamily="18" charset="0"/>
              </a:rPr>
              <a:t>Alternative and more meaningful view:</a:t>
            </a:r>
          </a:p>
        </p:txBody>
      </p:sp>
      <p:cxnSp>
        <p:nvCxnSpPr>
          <p:cNvPr id="30743" name="AutoShape 26"/>
          <p:cNvCxnSpPr>
            <a:cxnSpLocks noChangeShapeType="1"/>
            <a:stCxn id="30728" idx="3"/>
            <a:endCxn id="30727" idx="3"/>
          </p:cNvCxnSpPr>
          <p:nvPr/>
        </p:nvCxnSpPr>
        <p:spPr bwMode="white">
          <a:xfrm flipV="1">
            <a:off x="3581400" y="3651250"/>
            <a:ext cx="12700" cy="818400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4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B3B935-E2CB-40C7-B934-DA65EEE598CA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white">
          <a:xfrm>
            <a:off x="5550495" y="1560984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0" name="Rectangle 11"/>
          <p:cNvSpPr>
            <a:spLocks noChangeArrowheads="1"/>
          </p:cNvSpPr>
          <p:nvPr/>
        </p:nvSpPr>
        <p:spPr bwMode="white">
          <a:xfrm>
            <a:off x="5550495" y="1865784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grpSp>
        <p:nvGrpSpPr>
          <p:cNvPr id="31" name="Group 12"/>
          <p:cNvGrpSpPr>
            <a:grpSpLocks/>
          </p:cNvGrpSpPr>
          <p:nvPr/>
        </p:nvGrpSpPr>
        <p:grpSpPr bwMode="auto">
          <a:xfrm>
            <a:off x="5009157" y="1484784"/>
            <a:ext cx="2443163" cy="1905000"/>
            <a:chOff x="3019" y="1392"/>
            <a:chExt cx="1539" cy="1200"/>
          </a:xfrm>
        </p:grpSpPr>
        <p:sp>
          <p:nvSpPr>
            <p:cNvPr id="32" name="Rectangle 13"/>
            <p:cNvSpPr>
              <a:spLocks noChangeArrowheads="1"/>
            </p:cNvSpPr>
            <p:nvPr/>
          </p:nvSpPr>
          <p:spPr bwMode="white">
            <a:xfrm>
              <a:off x="3360" y="1440"/>
              <a:ext cx="105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33" name="Rectangle 14"/>
            <p:cNvSpPr>
              <a:spLocks noChangeArrowheads="1"/>
            </p:cNvSpPr>
            <p:nvPr/>
          </p:nvSpPr>
          <p:spPr bwMode="white">
            <a:xfrm>
              <a:off x="3360" y="2448"/>
              <a:ext cx="1056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15"/>
            <p:cNvSpPr txBox="1">
              <a:spLocks noChangeArrowheads="1"/>
            </p:cNvSpPr>
            <p:nvPr/>
          </p:nvSpPr>
          <p:spPr bwMode="white">
            <a:xfrm>
              <a:off x="3019" y="1392"/>
              <a:ext cx="15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1800" dirty="0">
                  <a:latin typeface="Times New Roman" panose="02020603050405020304" pitchFamily="18" charset="0"/>
                </a:rPr>
                <a:t>        </a:t>
              </a:r>
              <a:r>
                <a:rPr lang="tr-TR" altLang="tr-TR" sz="1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tr-TR" altLang="tr-TR" sz="24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tr-TR" altLang="tr-TR" sz="2400" dirty="0" smtClean="0">
                  <a:latin typeface="Times New Roman" panose="02020603050405020304" pitchFamily="18" charset="0"/>
                </a:rPr>
                <a:t>   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0x</a:t>
              </a:r>
              <a:r>
                <a:rPr lang="en-US" altLang="tr-TR" sz="1400" dirty="0" smtClean="0">
                  <a:solidFill>
                    <a:srgbClr val="3333CC"/>
                  </a:solidFill>
                  <a:latin typeface="+mj-lt"/>
                </a:rPr>
                <a:t>183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2435af00</a:t>
              </a:r>
              <a:r>
                <a:rPr lang="tr-TR" altLang="tr-TR" sz="2400" dirty="0" smtClean="0">
                  <a:solidFill>
                    <a:srgbClr val="CC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tr-TR" sz="24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Text Box 16"/>
            <p:cNvSpPr txBox="1">
              <a:spLocks noChangeArrowheads="1"/>
            </p:cNvSpPr>
            <p:nvPr/>
          </p:nvSpPr>
          <p:spPr bwMode="white">
            <a:xfrm>
              <a:off x="3297" y="1630"/>
              <a:ext cx="11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1800" dirty="0">
                  <a:latin typeface="Times New Roman" panose="02020603050405020304" pitchFamily="18" charset="0"/>
                </a:rPr>
                <a:t> </a:t>
              </a:r>
              <a:r>
                <a:rPr lang="tr-TR" altLang="tr-TR" sz="1800" dirty="0" smtClean="0">
                  <a:solidFill>
                    <a:srgbClr val="CC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tr-TR" altLang="tr-TR" sz="1800" dirty="0" smtClean="0">
                  <a:latin typeface="Times New Roman" panose="02020603050405020304" pitchFamily="18" charset="0"/>
                </a:rPr>
                <a:t>     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0x</a:t>
              </a:r>
              <a:r>
                <a:rPr lang="en-US" altLang="tr-TR" sz="1400" dirty="0" smtClean="0">
                  <a:solidFill>
                    <a:srgbClr val="3333CC"/>
                  </a:solidFill>
                  <a:latin typeface="+mj-lt"/>
                </a:rPr>
                <a:t>183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2435af01</a:t>
              </a:r>
              <a:endParaRPr lang="en-US" altLang="tr-TR" sz="1400" dirty="0">
                <a:solidFill>
                  <a:srgbClr val="3333CC"/>
                </a:solidFill>
                <a:latin typeface="+mj-lt"/>
              </a:endParaRPr>
            </a:p>
          </p:txBody>
        </p:sp>
      </p:grpSp>
      <p:sp>
        <p:nvSpPr>
          <p:cNvPr id="36" name="Text Box 17"/>
          <p:cNvSpPr txBox="1">
            <a:spLocks noChangeArrowheads="1"/>
          </p:cNvSpPr>
          <p:nvPr/>
        </p:nvSpPr>
        <p:spPr bwMode="white">
          <a:xfrm>
            <a:off x="6245820" y="2167409"/>
            <a:ext cx="2413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  <a:endParaRPr lang="en-US" altLang="tr-TR" sz="1800">
              <a:latin typeface="Times New Roman" panose="02020603050405020304" pitchFamily="18" charset="0"/>
            </a:endParaRPr>
          </a:p>
        </p:txBody>
      </p:sp>
      <p:sp>
        <p:nvSpPr>
          <p:cNvPr id="37" name="Line 21"/>
          <p:cNvSpPr>
            <a:spLocks noChangeShapeType="1"/>
          </p:cNvSpPr>
          <p:nvPr/>
        </p:nvSpPr>
        <p:spPr bwMode="white">
          <a:xfrm>
            <a:off x="6007695" y="1560984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" name="Text Box 4"/>
          <p:cNvSpPr txBox="1">
            <a:spLocks noChangeArrowheads="1"/>
          </p:cNvSpPr>
          <p:nvPr/>
        </p:nvSpPr>
        <p:spPr bwMode="white">
          <a:xfrm>
            <a:off x="2612395" y="5175414"/>
            <a:ext cx="261610" cy="77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.</a:t>
            </a:r>
          </a:p>
          <a:p>
            <a:pPr algn="ctr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.</a:t>
            </a:r>
          </a:p>
          <a:p>
            <a:pPr algn="ctr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.</a:t>
            </a:r>
            <a:endParaRPr lang="en-US" altLang="tr-TR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152400"/>
            <a:ext cx="8858250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Pointer</a:t>
            </a:r>
            <a:r>
              <a:rPr lang="tr-TR" dirty="0" smtClean="0"/>
              <a:t>s</a:t>
            </a:r>
            <a:r>
              <a:rPr lang="en-US" dirty="0" smtClean="0"/>
              <a:t>: dereferencing</a:t>
            </a:r>
            <a:br>
              <a:rPr lang="en-US" dirty="0" smtClean="0"/>
            </a:br>
            <a:r>
              <a:rPr lang="en-US" dirty="0" smtClean="0">
                <a:solidFill>
                  <a:srgbClr val="DC2A00"/>
                </a:solidFill>
              </a:rPr>
              <a:t> </a:t>
            </a:r>
            <a:r>
              <a:rPr lang="en-US" dirty="0" smtClean="0">
                <a:solidFill>
                  <a:srgbClr val="CC0000"/>
                </a:solidFill>
              </a:rPr>
              <a:t>(what happens behind the scenes)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500188"/>
            <a:ext cx="8410575" cy="48863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c = 'A';     </a:t>
            </a:r>
          </a:p>
          <a:p>
            <a:pPr>
              <a:buFontTx/>
              <a:buNone/>
            </a:pPr>
            <a:r>
              <a:rPr lang="en-US" alt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*p;</a:t>
            </a:r>
          </a:p>
          <a:p>
            <a:pPr>
              <a:buFontTx/>
              <a:buNone/>
            </a:pPr>
            <a:r>
              <a:rPr lang="en-US" altLang="tr-T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 = &amp;c; 	 // p now points to c.  </a:t>
            </a:r>
          </a:p>
          <a:p>
            <a:pPr>
              <a:buFontTx/>
              <a:buNone/>
            </a:pPr>
            <a:r>
              <a:rPr lang="en-US" altLang="tr-TR" sz="1600" dirty="0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*p = 'B';         	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white">
          <a:xfrm>
            <a:off x="1676400" y="3514725"/>
            <a:ext cx="16764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white">
          <a:xfrm>
            <a:off x="1676400" y="3514725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white">
          <a:xfrm>
            <a:off x="1676400" y="3819525"/>
            <a:ext cx="1676400" cy="133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white">
          <a:xfrm>
            <a:off x="1676400" y="6029325"/>
            <a:ext cx="16764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white">
          <a:xfrm>
            <a:off x="1728844" y="3514725"/>
            <a:ext cx="15969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dirty="0">
                <a:solidFill>
                  <a:srgbClr val="C81002"/>
                </a:solidFill>
                <a:latin typeface="Times New Roman" panose="02020603050405020304" pitchFamily="18" charset="0"/>
              </a:rPr>
              <a:t>A  B</a:t>
            </a:r>
            <a:endParaRPr lang="en-US" altLang="tr-TR" dirty="0">
              <a:solidFill>
                <a:srgbClr val="C81002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600" dirty="0" smtClean="0">
              <a:solidFill>
                <a:srgbClr val="C00000"/>
              </a:solidFill>
              <a:latin typeface="+mn-lt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600" dirty="0">
              <a:solidFill>
                <a:srgbClr val="C00000"/>
              </a:solidFill>
              <a:latin typeface="+mn-lt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600" dirty="0" smtClean="0">
                <a:solidFill>
                  <a:srgbClr val="C00000"/>
                </a:solidFill>
                <a:latin typeface="+mn-lt"/>
              </a:rPr>
              <a:t>0x</a:t>
            </a:r>
            <a:r>
              <a:rPr lang="en-US" altLang="tr-TR" sz="1600" dirty="0" smtClean="0">
                <a:solidFill>
                  <a:srgbClr val="C00000"/>
                </a:solidFill>
                <a:latin typeface="+mn-lt"/>
              </a:rPr>
              <a:t>183</a:t>
            </a:r>
            <a:r>
              <a:rPr lang="tr-TR" altLang="tr-TR" sz="1600" dirty="0" smtClean="0">
                <a:solidFill>
                  <a:srgbClr val="C00000"/>
                </a:solidFill>
                <a:latin typeface="+mn-lt"/>
              </a:rPr>
              <a:t>2435af00</a:t>
            </a:r>
            <a:endParaRPr lang="tr-TR" altLang="tr-TR" sz="1600" dirty="0">
              <a:solidFill>
                <a:srgbClr val="C00000"/>
              </a:solidFill>
              <a:latin typeface="+mn-lt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600" dirty="0">
              <a:latin typeface="Times New Roman" panose="02020603050405020304" pitchFamily="18" charset="0"/>
            </a:endParaRPr>
          </a:p>
        </p:txBody>
      </p:sp>
      <p:sp>
        <p:nvSpPr>
          <p:cNvPr id="17423" name="Text Box 19"/>
          <p:cNvSpPr txBox="1">
            <a:spLocks noChangeArrowheads="1"/>
          </p:cNvSpPr>
          <p:nvPr/>
        </p:nvSpPr>
        <p:spPr bwMode="white">
          <a:xfrm>
            <a:off x="2036763" y="6226175"/>
            <a:ext cx="9271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tr-TR" altLang="tr-TR" sz="1600" dirty="0" smtClean="0">
                <a:latin typeface="+mn-lt"/>
              </a:rPr>
              <a:t>Memory</a:t>
            </a:r>
            <a:endParaRPr lang="en-US" altLang="tr-TR" sz="1600" dirty="0" smtClean="0">
              <a:latin typeface="+mn-lt"/>
            </a:endParaRPr>
          </a:p>
        </p:txBody>
      </p:sp>
      <p:sp>
        <p:nvSpPr>
          <p:cNvPr id="32784" name="Text Box 20"/>
          <p:cNvSpPr txBox="1">
            <a:spLocks noChangeArrowheads="1"/>
          </p:cNvSpPr>
          <p:nvPr/>
        </p:nvSpPr>
        <p:spPr bwMode="white">
          <a:xfrm>
            <a:off x="-108520" y="3590925"/>
            <a:ext cx="1864613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buFontTx/>
              <a:buNone/>
            </a:pPr>
            <a:r>
              <a:rPr lang="tr-TR" altLang="tr-TR" sz="1400" dirty="0">
                <a:solidFill>
                  <a:srgbClr val="3333CC"/>
                </a:solidFill>
                <a:latin typeface="+mj-lt"/>
              </a:rPr>
              <a:t>         </a:t>
            </a:r>
            <a:r>
              <a:rPr lang="tr-TR" altLang="tr-TR" sz="1400" dirty="0" smtClean="0">
                <a:solidFill>
                  <a:srgbClr val="3333CC"/>
                </a:solidFill>
                <a:latin typeface="+mj-lt"/>
              </a:rPr>
              <a:t>0x</a:t>
            </a:r>
            <a:r>
              <a:rPr lang="en-US" altLang="tr-TR" sz="1400" dirty="0" smtClean="0">
                <a:solidFill>
                  <a:srgbClr val="3333CC"/>
                </a:solidFill>
                <a:latin typeface="+mj-lt"/>
              </a:rPr>
              <a:t>183</a:t>
            </a:r>
            <a:r>
              <a:rPr lang="tr-TR" altLang="tr-TR" sz="1400" dirty="0" smtClean="0">
                <a:solidFill>
                  <a:srgbClr val="3333CC"/>
                </a:solidFill>
                <a:latin typeface="+mj-lt"/>
              </a:rPr>
              <a:t>2435af00</a:t>
            </a:r>
            <a:endParaRPr lang="tr-TR" altLang="tr-TR" sz="1400" dirty="0">
              <a:solidFill>
                <a:srgbClr val="3333CC"/>
              </a:solidFill>
              <a:latin typeface="+mj-lt"/>
            </a:endParaRPr>
          </a:p>
          <a:p>
            <a:pPr algn="ctr">
              <a:buFontTx/>
              <a:buNone/>
            </a:pPr>
            <a:r>
              <a:rPr lang="tr-TR" altLang="tr-TR" sz="1400" dirty="0">
                <a:solidFill>
                  <a:srgbClr val="3333CC"/>
                </a:solidFill>
                <a:latin typeface="+mj-lt"/>
              </a:rPr>
              <a:t>         </a:t>
            </a:r>
            <a:r>
              <a:rPr lang="tr-TR" altLang="tr-TR" sz="1400" dirty="0" smtClean="0">
                <a:solidFill>
                  <a:srgbClr val="3333CC"/>
                </a:solidFill>
                <a:latin typeface="+mj-lt"/>
              </a:rPr>
              <a:t>0x</a:t>
            </a:r>
            <a:r>
              <a:rPr lang="en-US" altLang="tr-TR" sz="1400" dirty="0" smtClean="0">
                <a:solidFill>
                  <a:srgbClr val="3333CC"/>
                </a:solidFill>
                <a:latin typeface="+mj-lt"/>
              </a:rPr>
              <a:t>183</a:t>
            </a:r>
            <a:r>
              <a:rPr lang="tr-TR" altLang="tr-TR" sz="1400" dirty="0" smtClean="0">
                <a:solidFill>
                  <a:srgbClr val="3333CC"/>
                </a:solidFill>
                <a:latin typeface="+mj-lt"/>
              </a:rPr>
              <a:t>2435af01</a:t>
            </a:r>
            <a:endParaRPr lang="en-US" altLang="tr-TR" sz="1400" dirty="0">
              <a:solidFill>
                <a:srgbClr val="3333CC"/>
              </a:solidFill>
              <a:latin typeface="+mj-lt"/>
            </a:endParaRPr>
          </a:p>
        </p:txBody>
      </p:sp>
      <p:sp>
        <p:nvSpPr>
          <p:cNvPr id="32785" name="Text Box 21"/>
          <p:cNvSpPr txBox="1">
            <a:spLocks noChangeArrowheads="1"/>
          </p:cNvSpPr>
          <p:nvPr/>
        </p:nvSpPr>
        <p:spPr bwMode="white">
          <a:xfrm>
            <a:off x="7239000" y="2066925"/>
            <a:ext cx="1501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 dirty="0">
                <a:solidFill>
                  <a:srgbClr val="CC0000"/>
                </a:solidFill>
                <a:latin typeface="Times New Roman" panose="02020603050405020304" pitchFamily="18" charset="0"/>
              </a:rPr>
              <a:t>//unchanged</a:t>
            </a:r>
          </a:p>
        </p:txBody>
      </p:sp>
      <p:cxnSp>
        <p:nvCxnSpPr>
          <p:cNvPr id="32786" name="AutoShape 22"/>
          <p:cNvCxnSpPr>
            <a:cxnSpLocks noChangeShapeType="1"/>
            <a:stCxn id="32775" idx="3"/>
            <a:endCxn id="32774" idx="3"/>
          </p:cNvCxnSpPr>
          <p:nvPr/>
        </p:nvCxnSpPr>
        <p:spPr bwMode="white">
          <a:xfrm flipV="1">
            <a:off x="3352800" y="3667125"/>
            <a:ext cx="12700" cy="818400"/>
          </a:xfrm>
          <a:prstGeom prst="bentConnector3">
            <a:avLst>
              <a:gd name="adj1" fmla="val 1800000"/>
            </a:avLst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7" name="Straight Connector 23"/>
          <p:cNvCxnSpPr>
            <a:cxnSpLocks noChangeShapeType="1"/>
          </p:cNvCxnSpPr>
          <p:nvPr/>
        </p:nvCxnSpPr>
        <p:spPr bwMode="auto">
          <a:xfrm rot="16200000" flipH="1">
            <a:off x="2286001" y="3643312"/>
            <a:ext cx="214312" cy="2143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8" name="Straight Connector 25"/>
          <p:cNvCxnSpPr>
            <a:cxnSpLocks noChangeShapeType="1"/>
          </p:cNvCxnSpPr>
          <p:nvPr/>
        </p:nvCxnSpPr>
        <p:spPr bwMode="auto">
          <a:xfrm rot="10800000" flipV="1">
            <a:off x="2286000" y="3643313"/>
            <a:ext cx="214313" cy="1428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9" name="Rectangle 27"/>
          <p:cNvSpPr>
            <a:spLocks noChangeArrowheads="1"/>
          </p:cNvSpPr>
          <p:nvPr/>
        </p:nvSpPr>
        <p:spPr bwMode="white">
          <a:xfrm>
            <a:off x="4495800" y="4624388"/>
            <a:ext cx="3505200" cy="1828800"/>
          </a:xfrm>
          <a:prstGeom prst="rect">
            <a:avLst/>
          </a:prstGeom>
          <a:solidFill>
            <a:srgbClr val="CCECFF">
              <a:alpha val="49803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2790" name="Rectangle 21"/>
          <p:cNvSpPr>
            <a:spLocks noChangeArrowheads="1"/>
          </p:cNvSpPr>
          <p:nvPr/>
        </p:nvSpPr>
        <p:spPr bwMode="white">
          <a:xfrm>
            <a:off x="5791200" y="5202238"/>
            <a:ext cx="1600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2791" name="Text Box 22"/>
          <p:cNvSpPr txBox="1">
            <a:spLocks noChangeArrowheads="1"/>
          </p:cNvSpPr>
          <p:nvPr/>
        </p:nvSpPr>
        <p:spPr bwMode="white">
          <a:xfrm>
            <a:off x="5410200" y="5157788"/>
            <a:ext cx="19462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c             A   B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p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32792" name="Text Box 23"/>
          <p:cNvSpPr txBox="1">
            <a:spLocks noChangeArrowheads="1"/>
          </p:cNvSpPr>
          <p:nvPr/>
        </p:nvSpPr>
        <p:spPr bwMode="white">
          <a:xfrm>
            <a:off x="6996113" y="59293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2793" name="Line 24"/>
          <p:cNvSpPr>
            <a:spLocks noChangeShapeType="1"/>
          </p:cNvSpPr>
          <p:nvPr/>
        </p:nvSpPr>
        <p:spPr bwMode="white">
          <a:xfrm flipV="1">
            <a:off x="5791200" y="5691188"/>
            <a:ext cx="838200" cy="457200"/>
          </a:xfrm>
          <a:prstGeom prst="line">
            <a:avLst/>
          </a:prstGeom>
          <a:noFill/>
          <a:ln w="9525">
            <a:solidFill>
              <a:srgbClr val="C8100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94" name="Text Box 25"/>
          <p:cNvSpPr txBox="1">
            <a:spLocks noChangeArrowheads="1"/>
          </p:cNvSpPr>
          <p:nvPr/>
        </p:nvSpPr>
        <p:spPr bwMode="white">
          <a:xfrm>
            <a:off x="4513263" y="4633913"/>
            <a:ext cx="33988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600">
                <a:latin typeface="Times New Roman" panose="02020603050405020304" pitchFamily="18" charset="0"/>
              </a:rPr>
              <a:t>Alternative and more meaningful view:</a:t>
            </a:r>
          </a:p>
        </p:txBody>
      </p:sp>
      <p:cxnSp>
        <p:nvCxnSpPr>
          <p:cNvPr id="32795" name="Straight Connector 23"/>
          <p:cNvCxnSpPr>
            <a:cxnSpLocks noChangeShapeType="1"/>
          </p:cNvCxnSpPr>
          <p:nvPr/>
        </p:nvCxnSpPr>
        <p:spPr bwMode="auto">
          <a:xfrm rot="16200000" flipH="1">
            <a:off x="6629400" y="5321300"/>
            <a:ext cx="214313" cy="2143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6" name="Straight Connector 25"/>
          <p:cNvCxnSpPr>
            <a:cxnSpLocks noChangeShapeType="1"/>
          </p:cNvCxnSpPr>
          <p:nvPr/>
        </p:nvCxnSpPr>
        <p:spPr bwMode="auto">
          <a:xfrm rot="10800000" flipV="1">
            <a:off x="6629400" y="5321300"/>
            <a:ext cx="214313" cy="1428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97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72998E-BFF0-4A26-B96A-FA938881BF0E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  <p:sp>
        <p:nvSpPr>
          <p:cNvPr id="34" name="Rectangle 10"/>
          <p:cNvSpPr>
            <a:spLocks noChangeArrowheads="1"/>
          </p:cNvSpPr>
          <p:nvPr/>
        </p:nvSpPr>
        <p:spPr bwMode="white">
          <a:xfrm>
            <a:off x="5334000" y="1416968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5" name="Rectangle 11"/>
          <p:cNvSpPr>
            <a:spLocks noChangeArrowheads="1"/>
          </p:cNvSpPr>
          <p:nvPr/>
        </p:nvSpPr>
        <p:spPr bwMode="white">
          <a:xfrm>
            <a:off x="5334000" y="1721768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grpSp>
        <p:nvGrpSpPr>
          <p:cNvPr id="36" name="Group 12"/>
          <p:cNvGrpSpPr>
            <a:grpSpLocks/>
          </p:cNvGrpSpPr>
          <p:nvPr/>
        </p:nvGrpSpPr>
        <p:grpSpPr bwMode="auto">
          <a:xfrm>
            <a:off x="4792662" y="1340768"/>
            <a:ext cx="2443163" cy="1905000"/>
            <a:chOff x="3019" y="1392"/>
            <a:chExt cx="1539" cy="1200"/>
          </a:xfrm>
        </p:grpSpPr>
        <p:sp>
          <p:nvSpPr>
            <p:cNvPr id="37" name="Rectangle 13"/>
            <p:cNvSpPr>
              <a:spLocks noChangeArrowheads="1"/>
            </p:cNvSpPr>
            <p:nvPr/>
          </p:nvSpPr>
          <p:spPr bwMode="white">
            <a:xfrm>
              <a:off x="3360" y="1440"/>
              <a:ext cx="1056" cy="1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white">
            <a:xfrm>
              <a:off x="3360" y="2448"/>
              <a:ext cx="1056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15"/>
            <p:cNvSpPr txBox="1">
              <a:spLocks noChangeArrowheads="1"/>
            </p:cNvSpPr>
            <p:nvPr/>
          </p:nvSpPr>
          <p:spPr bwMode="white">
            <a:xfrm>
              <a:off x="3019" y="1392"/>
              <a:ext cx="15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1800" dirty="0">
                  <a:latin typeface="Times New Roman" panose="02020603050405020304" pitchFamily="18" charset="0"/>
                </a:rPr>
                <a:t>        </a:t>
              </a:r>
              <a:r>
                <a:rPr lang="tr-TR" altLang="tr-TR" sz="1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tr-TR" altLang="tr-TR" sz="24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tr-TR" altLang="tr-TR" sz="2400" dirty="0" smtClean="0">
                  <a:latin typeface="Times New Roman" panose="02020603050405020304" pitchFamily="18" charset="0"/>
                </a:rPr>
                <a:t>   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0x</a:t>
              </a:r>
              <a:r>
                <a:rPr lang="en-US" altLang="tr-TR" sz="1400" dirty="0" smtClean="0">
                  <a:solidFill>
                    <a:srgbClr val="3333CC"/>
                  </a:solidFill>
                  <a:latin typeface="+mj-lt"/>
                </a:rPr>
                <a:t>183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2435af00</a:t>
              </a:r>
              <a:r>
                <a:rPr lang="tr-TR" altLang="tr-TR" sz="2400" dirty="0" smtClean="0">
                  <a:solidFill>
                    <a:srgbClr val="CC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tr-TR" sz="24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16"/>
            <p:cNvSpPr txBox="1">
              <a:spLocks noChangeArrowheads="1"/>
            </p:cNvSpPr>
            <p:nvPr/>
          </p:nvSpPr>
          <p:spPr bwMode="white">
            <a:xfrm>
              <a:off x="3297" y="1630"/>
              <a:ext cx="11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1800" dirty="0">
                  <a:latin typeface="Times New Roman" panose="02020603050405020304" pitchFamily="18" charset="0"/>
                </a:rPr>
                <a:t> </a:t>
              </a:r>
              <a:r>
                <a:rPr lang="tr-TR" altLang="tr-TR" sz="1800" dirty="0" smtClean="0">
                  <a:solidFill>
                    <a:srgbClr val="CC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tr-TR" altLang="tr-TR" sz="1800" dirty="0" smtClean="0">
                  <a:latin typeface="Times New Roman" panose="02020603050405020304" pitchFamily="18" charset="0"/>
                </a:rPr>
                <a:t>     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0x</a:t>
              </a:r>
              <a:r>
                <a:rPr lang="en-US" altLang="tr-TR" sz="1400" dirty="0" smtClean="0">
                  <a:solidFill>
                    <a:srgbClr val="3333CC"/>
                  </a:solidFill>
                  <a:latin typeface="+mj-lt"/>
                </a:rPr>
                <a:t>183</a:t>
              </a:r>
              <a:r>
                <a:rPr lang="tr-TR" altLang="tr-TR" sz="1400" dirty="0" smtClean="0">
                  <a:solidFill>
                    <a:srgbClr val="3333CC"/>
                  </a:solidFill>
                  <a:latin typeface="+mj-lt"/>
                </a:rPr>
                <a:t>2435af01</a:t>
              </a:r>
              <a:endParaRPr lang="en-US" altLang="tr-TR" sz="1400" dirty="0">
                <a:solidFill>
                  <a:srgbClr val="3333CC"/>
                </a:solidFill>
                <a:latin typeface="+mj-lt"/>
              </a:endParaRPr>
            </a:p>
          </p:txBody>
        </p:sp>
      </p:grpSp>
      <p:sp>
        <p:nvSpPr>
          <p:cNvPr id="41" name="Text Box 17"/>
          <p:cNvSpPr txBox="1">
            <a:spLocks noChangeArrowheads="1"/>
          </p:cNvSpPr>
          <p:nvPr/>
        </p:nvSpPr>
        <p:spPr bwMode="white">
          <a:xfrm>
            <a:off x="6029325" y="2023393"/>
            <a:ext cx="2413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latin typeface="Times New Roman" panose="02020603050405020304" pitchFamily="18" charset="0"/>
              </a:rPr>
              <a:t>.</a:t>
            </a:r>
            <a:endParaRPr lang="en-US" altLang="tr-TR" sz="1800">
              <a:latin typeface="Times New Roman" panose="02020603050405020304" pitchFamily="18" charset="0"/>
            </a:endParaRPr>
          </a:p>
        </p:txBody>
      </p:sp>
      <p:sp>
        <p:nvSpPr>
          <p:cNvPr id="42" name="Line 21"/>
          <p:cNvSpPr>
            <a:spLocks noChangeShapeType="1"/>
          </p:cNvSpPr>
          <p:nvPr/>
        </p:nvSpPr>
        <p:spPr bwMode="white">
          <a:xfrm>
            <a:off x="5791200" y="1416968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" name="Text Box 18"/>
          <p:cNvSpPr txBox="1">
            <a:spLocks noChangeArrowheads="1"/>
          </p:cNvSpPr>
          <p:nvPr/>
        </p:nvSpPr>
        <p:spPr bwMode="white">
          <a:xfrm>
            <a:off x="5563393" y="3412330"/>
            <a:ext cx="13700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tr-TR" altLang="tr-TR" sz="1600" dirty="0" err="1" smtClean="0">
                <a:latin typeface="+mn-lt"/>
              </a:rPr>
              <a:t>Symbol</a:t>
            </a:r>
            <a:r>
              <a:rPr lang="tr-TR" altLang="tr-TR" sz="1600" dirty="0" smtClean="0">
                <a:latin typeface="+mn-lt"/>
              </a:rPr>
              <a:t> </a:t>
            </a:r>
            <a:r>
              <a:rPr lang="tr-TR" altLang="tr-TR" sz="1600" dirty="0" err="1" smtClean="0">
                <a:latin typeface="+mn-lt"/>
              </a:rPr>
              <a:t>table</a:t>
            </a:r>
            <a:endParaRPr lang="en-US" altLang="tr-TR" sz="1600" dirty="0" smtClean="0">
              <a:latin typeface="+mn-lt"/>
            </a:endParaRPr>
          </a:p>
        </p:txBody>
      </p:sp>
      <p:sp>
        <p:nvSpPr>
          <p:cNvPr id="44" name="Text Box 4"/>
          <p:cNvSpPr txBox="1">
            <a:spLocks noChangeArrowheads="1"/>
          </p:cNvSpPr>
          <p:nvPr/>
        </p:nvSpPr>
        <p:spPr bwMode="white">
          <a:xfrm>
            <a:off x="2412093" y="5131924"/>
            <a:ext cx="261610" cy="77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.</a:t>
            </a:r>
          </a:p>
          <a:p>
            <a:pPr algn="ctr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.</a:t>
            </a:r>
          </a:p>
          <a:p>
            <a:pPr algn="ctr">
              <a:lnSpc>
                <a:spcPct val="60000"/>
              </a:lnSpc>
              <a:spcBef>
                <a:spcPct val="0"/>
              </a:spcBef>
              <a:buClrTx/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.</a:t>
            </a:r>
            <a:endParaRPr lang="en-US" altLang="tr-TR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152400"/>
            <a:ext cx="8786812" cy="35401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Some Remarks</a:t>
            </a:r>
          </a:p>
        </p:txBody>
      </p:sp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250" y="548680"/>
            <a:ext cx="8553450" cy="6309321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  <a:defRPr/>
            </a:pPr>
            <a:r>
              <a:rPr lang="en-US" altLang="tr-TR" dirty="0" smtClean="0"/>
              <a:t>What happens if you try to assign a string/</a:t>
            </a:r>
            <a:r>
              <a:rPr lang="en-US" altLang="tr-TR" dirty="0" err="1" smtClean="0"/>
              <a:t>int</a:t>
            </a:r>
            <a:r>
              <a:rPr lang="en-US" altLang="tr-TR" dirty="0" smtClean="0"/>
              <a:t>/double expression to a pointer variable?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tr-TR" sz="1800" dirty="0" smtClean="0"/>
              <a:t>e.g.        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double *q; </a:t>
            </a:r>
          </a:p>
          <a:p>
            <a:pPr lvl="3">
              <a:lnSpc>
                <a:spcPct val="80000"/>
              </a:lnSpc>
              <a:buFontTx/>
              <a:buNone/>
              <a:defRPr/>
            </a:pPr>
            <a:r>
              <a:rPr lang="en-US" altLang="tr-TR" sz="1800" b="1" dirty="0" smtClean="0">
                <a:latin typeface="Courier New" panose="02070309020205020404" pitchFamily="49" charset="0"/>
              </a:rPr>
              <a:t>	q = 123.45;</a:t>
            </a:r>
            <a:r>
              <a:rPr lang="en-US" altLang="tr-TR" sz="1800" b="1" dirty="0" smtClean="0"/>
              <a:t> 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dirty="0" smtClean="0">
                <a:solidFill>
                  <a:srgbClr val="CC0000"/>
                </a:solidFill>
              </a:rPr>
              <a:t>	:syntax error – type mismatch</a:t>
            </a:r>
          </a:p>
          <a:p>
            <a:pPr lvl="2">
              <a:lnSpc>
                <a:spcPct val="80000"/>
              </a:lnSpc>
              <a:defRPr/>
            </a:pPr>
            <a:endParaRPr lang="en-US" altLang="tr-TR" dirty="0" smtClean="0">
              <a:solidFill>
                <a:srgbClr val="CC0000"/>
              </a:solidFill>
            </a:endParaRPr>
          </a:p>
          <a:p>
            <a:pPr>
              <a:buFontTx/>
              <a:buNone/>
              <a:defRPr/>
            </a:pPr>
            <a:r>
              <a:rPr lang="en-US" altLang="tr-TR" dirty="0" smtClean="0"/>
              <a:t>What happens if you try to access (dereference) a memory location pointed by a pointer that is not initialized?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tr-TR" sz="1800" dirty="0" smtClean="0"/>
              <a:t>e.g. 	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double *q;</a:t>
            </a:r>
          </a:p>
          <a:p>
            <a:pPr lvl="1">
              <a:lnSpc>
                <a:spcPct val="80000"/>
              </a:lnSpc>
              <a:buFontTx/>
              <a:buNone/>
              <a:defRPr/>
            </a:pPr>
            <a:r>
              <a:rPr lang="en-US" altLang="tr-TR" sz="1800" dirty="0" smtClean="0">
                <a:latin typeface="Courier New" panose="02070309020205020404" pitchFamily="49" charset="0"/>
              </a:rPr>
              <a:t>			</a:t>
            </a:r>
            <a:r>
              <a:rPr lang="en-US" altLang="tr-TR" sz="1800" b="1" dirty="0" err="1" smtClean="0">
                <a:latin typeface="Courier New" panose="02070309020205020404" pitchFamily="49" charset="0"/>
              </a:rPr>
              <a:t>cout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 &lt;&lt; *q &lt;&lt; </a:t>
            </a:r>
            <a:r>
              <a:rPr lang="en-US" altLang="tr-TR" sz="1800" b="1" dirty="0" err="1" smtClean="0">
                <a:latin typeface="Courier New" panose="02070309020205020404" pitchFamily="49" charset="0"/>
              </a:rPr>
              <a:t>endl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;</a:t>
            </a:r>
          </a:p>
          <a:p>
            <a:pPr>
              <a:buFontTx/>
              <a:buNone/>
              <a:defRPr/>
            </a:pPr>
            <a:r>
              <a:rPr lang="en-US" altLang="tr-TR" sz="2200" dirty="0" smtClean="0">
                <a:solidFill>
                  <a:srgbClr val="CC0000"/>
                </a:solidFill>
              </a:rPr>
              <a:t>	:most probably a run-time (a.k.a. application) error occurs (named as </a:t>
            </a:r>
            <a:r>
              <a:rPr lang="en-US" altLang="tr-TR" sz="2200" i="1" dirty="0" smtClean="0">
                <a:solidFill>
                  <a:srgbClr val="CC0000"/>
                </a:solidFill>
              </a:rPr>
              <a:t>segmentation fault</a:t>
            </a:r>
            <a:r>
              <a:rPr lang="en-US" altLang="tr-TR" sz="2200" dirty="0" smtClean="0">
                <a:solidFill>
                  <a:srgbClr val="CC0000"/>
                </a:solidFill>
              </a:rPr>
              <a:t>); even if it gives some dummy output in debug mode, do not think that everything is OK.</a:t>
            </a:r>
          </a:p>
          <a:p>
            <a:pPr lvl="1">
              <a:lnSpc>
                <a:spcPct val="80000"/>
              </a:lnSpc>
              <a:defRPr/>
            </a:pPr>
            <a:endParaRPr lang="en-US" altLang="tr-TR" sz="1800" dirty="0" smtClean="0">
              <a:solidFill>
                <a:srgbClr val="CC0000"/>
              </a:solidFill>
            </a:endParaRPr>
          </a:p>
          <a:p>
            <a:pPr>
              <a:buFontTx/>
              <a:buNone/>
              <a:defRPr/>
            </a:pPr>
            <a:r>
              <a:rPr lang="en-US" altLang="tr-TR" dirty="0" smtClean="0"/>
              <a:t>What happens if you display the value of a pointer?</a:t>
            </a:r>
          </a:p>
          <a:p>
            <a:pPr lvl="1">
              <a:defRPr/>
            </a:pPr>
            <a:r>
              <a:rPr lang="en-US" altLang="tr-TR" sz="1600" dirty="0" smtClean="0"/>
              <a:t>e.g. 	</a:t>
            </a:r>
            <a:r>
              <a:rPr lang="en-US" altLang="tr-TR" sz="1800" b="1" dirty="0" err="1" smtClean="0">
                <a:latin typeface="Courier New" panose="02070309020205020404" pitchFamily="49" charset="0"/>
              </a:rPr>
              <a:t>cout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 &lt;&lt; q &lt;&lt; </a:t>
            </a:r>
            <a:r>
              <a:rPr lang="en-US" altLang="tr-TR" sz="1800" b="1" dirty="0" err="1" smtClean="0">
                <a:latin typeface="Courier New" panose="02070309020205020404" pitchFamily="49" charset="0"/>
              </a:rPr>
              <a:t>endl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;</a:t>
            </a:r>
            <a:endParaRPr lang="en-US" altLang="tr-TR" sz="1800" dirty="0" smtClean="0"/>
          </a:p>
          <a:p>
            <a:pPr>
              <a:buFontTx/>
              <a:buNone/>
              <a:defRPr/>
            </a:pPr>
            <a:r>
              <a:rPr lang="en-US" altLang="tr-TR" dirty="0" smtClean="0">
                <a:solidFill>
                  <a:srgbClr val="CC0000"/>
                </a:solidFill>
              </a:rPr>
              <a:t>	:it displays the value of q, which is the address where it points to.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dirty="0">
              <a:solidFill>
                <a:srgbClr val="CC0000"/>
              </a:solidFill>
            </a:endParaRPr>
          </a:p>
          <a:p>
            <a:pPr>
              <a:buFontTx/>
              <a:buNone/>
              <a:defRPr/>
            </a:pPr>
            <a:r>
              <a:rPr lang="en-US" altLang="tr-TR" dirty="0" smtClean="0"/>
              <a:t>Is it possible to assign an address directly to a pointer?</a:t>
            </a:r>
          </a:p>
          <a:p>
            <a:pPr>
              <a:buFontTx/>
              <a:buNone/>
              <a:defRPr/>
            </a:pPr>
            <a:r>
              <a:rPr lang="en-US" altLang="tr-TR" dirty="0" smtClean="0"/>
              <a:t>	</a:t>
            </a:r>
            <a:r>
              <a:rPr lang="en-US" altLang="tr-TR" dirty="0" smtClean="0">
                <a:solidFill>
                  <a:srgbClr val="CC0000"/>
                </a:solidFill>
              </a:rPr>
              <a:t>:yes </a:t>
            </a:r>
            <a:r>
              <a:rPr lang="en-US" altLang="tr-TR" dirty="0">
                <a:solidFill>
                  <a:srgbClr val="CC0000"/>
                </a:solidFill>
              </a:rPr>
              <a:t>but we need </a:t>
            </a:r>
            <a:r>
              <a:rPr lang="en-US" altLang="tr-TR" dirty="0" smtClean="0">
                <a:solidFill>
                  <a:srgbClr val="CC0000"/>
                </a:solidFill>
              </a:rPr>
              <a:t>typecasting, and mostly causes a crash or an unexpected behavior 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tr-TR" dirty="0">
                <a:solidFill>
                  <a:srgbClr val="CC0000"/>
                </a:solidFill>
              </a:rPr>
              <a:t>	</a:t>
            </a:r>
            <a:r>
              <a:rPr lang="en-US" altLang="tr-TR" sz="1800" dirty="0"/>
              <a:t>- e.g. </a:t>
            </a:r>
            <a:r>
              <a:rPr lang="en-US" altLang="tr-TR" sz="1800" dirty="0" smtClean="0"/>
              <a:t>      </a:t>
            </a:r>
            <a:r>
              <a:rPr lang="en-US" altLang="tr-TR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double *q;</a:t>
            </a:r>
          </a:p>
          <a:p>
            <a:pPr marL="457200" lvl="1" indent="0">
              <a:lnSpc>
                <a:spcPct val="80000"/>
              </a:lnSpc>
              <a:buFontTx/>
              <a:buNone/>
              <a:defRPr/>
            </a:pPr>
            <a:r>
              <a:rPr lang="en-US" altLang="tr-TR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	q = </a:t>
            </a:r>
            <a:r>
              <a:rPr lang="en-US" altLang="tr-T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(double *) 0x185BEFF8A8;</a:t>
            </a:r>
          </a:p>
        </p:txBody>
      </p:sp>
      <p:sp>
        <p:nvSpPr>
          <p:cNvPr id="3482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072369-65DC-4E2C-9D1F-31AF78295121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400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91600" cy="1066800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DC2A00"/>
                </a:solidFill>
              </a:rPr>
              <a:t>Dynamic memory allocation with new</a:t>
            </a:r>
            <a:endParaRPr lang="en-US" dirty="0" smtClean="0">
              <a:solidFill>
                <a:srgbClr val="DC2A00"/>
              </a:solidFill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371600"/>
            <a:ext cx="8388350" cy="4495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tr-TR" smtClean="0"/>
              <a:t>Dynamic memory allocation using </a:t>
            </a:r>
            <a:r>
              <a:rPr lang="en-US" altLang="tr-TR" smtClean="0">
                <a:latin typeface="Courier New" panose="02070309020205020404" pitchFamily="49" charset="0"/>
              </a:rPr>
              <a:t>new</a:t>
            </a:r>
            <a:r>
              <a:rPr lang="en-US" altLang="tr-TR" smtClean="0"/>
              <a:t> statement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mtClean="0">
                <a:solidFill>
                  <a:srgbClr val="CC0000"/>
                </a:solidFill>
              </a:rPr>
              <a:t>	</a:t>
            </a:r>
            <a:r>
              <a:rPr lang="en-US" altLang="tr-TR" smtClean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tr-TR" smtClean="0">
                <a:solidFill>
                  <a:srgbClr val="CC0000"/>
                </a:solidFill>
              </a:rPr>
              <a:t> </a:t>
            </a:r>
            <a:r>
              <a:rPr lang="en-US" altLang="tr-TR" i="1" smtClean="0">
                <a:solidFill>
                  <a:srgbClr val="CC0000"/>
                </a:solidFill>
              </a:rPr>
              <a:t>type </a:t>
            </a:r>
          </a:p>
          <a:p>
            <a:pPr lvl="1">
              <a:lnSpc>
                <a:spcPct val="90000"/>
              </a:lnSpc>
            </a:pPr>
            <a:r>
              <a:rPr lang="en-US" altLang="tr-TR" sz="1800" smtClean="0"/>
              <a:t>allocates enough memory from heap (a special part of memory reserved for dynamic allocation - will discuss later) to store a </a:t>
            </a:r>
            <a:r>
              <a:rPr lang="en-US" altLang="tr-TR" sz="1800" i="1" smtClean="0"/>
              <a:t>type</a:t>
            </a:r>
            <a:r>
              <a:rPr lang="en-US" altLang="tr-TR" sz="1800" smtClean="0"/>
              <a:t> value</a:t>
            </a:r>
          </a:p>
          <a:p>
            <a:pPr lvl="1">
              <a:lnSpc>
                <a:spcPct val="90000"/>
              </a:lnSpc>
            </a:pPr>
            <a:r>
              <a:rPr lang="en-US" altLang="tr-TR" sz="1800" smtClean="0"/>
              <a:t>also returns the address of this memory location</a:t>
            </a:r>
          </a:p>
          <a:p>
            <a:pPr lvl="1">
              <a:lnSpc>
                <a:spcPct val="90000"/>
              </a:lnSpc>
            </a:pPr>
            <a:r>
              <a:rPr lang="en-US" altLang="tr-TR" sz="1800" smtClean="0"/>
              <a:t>need to assign this address to a pointer variable for processing</a:t>
            </a:r>
          </a:p>
          <a:p>
            <a:pPr lvl="1">
              <a:lnSpc>
                <a:spcPct val="90000"/>
              </a:lnSpc>
            </a:pPr>
            <a:endParaRPr lang="en-US" altLang="tr-TR" sz="180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mtClean="0"/>
              <a:t>Example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1800" b="1" smtClean="0">
                <a:solidFill>
                  <a:srgbClr val="CC0000"/>
                </a:solidFill>
                <a:latin typeface="Courier New" panose="02070309020205020404" pitchFamily="49" charset="0"/>
              </a:rPr>
              <a:t>double *p;</a:t>
            </a:r>
            <a:r>
              <a:rPr lang="en-US" altLang="tr-TR" sz="1800" b="1" smtClean="0">
                <a:solidFill>
                  <a:srgbClr val="CC0000"/>
                </a:solidFill>
              </a:rPr>
              <a:t>  </a:t>
            </a:r>
            <a:r>
              <a:rPr lang="en-US" altLang="tr-TR" sz="1800" smtClean="0"/>
              <a:t>//a pointer for double type, but currently points nowhere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tr-TR" sz="1800" smtClean="0"/>
          </a:p>
          <a:p>
            <a:pPr lvl="1">
              <a:lnSpc>
                <a:spcPct val="90000"/>
              </a:lnSpc>
              <a:buFontTx/>
              <a:buNone/>
            </a:pPr>
            <a:endParaRPr lang="en-US" altLang="tr-TR" sz="1600" smtClean="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altLang="tr-TR" sz="1600" smtClean="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p = </a:t>
            </a:r>
            <a:r>
              <a:rPr lang="en-US" altLang="tr-TR" sz="1800" b="1" smtClean="0">
                <a:solidFill>
                  <a:srgbClr val="CC0000"/>
                </a:solidFill>
                <a:latin typeface="Courier New" panose="02070309020205020404" pitchFamily="49" charset="0"/>
              </a:rPr>
              <a:t>new double;</a:t>
            </a:r>
            <a:r>
              <a:rPr lang="en-US" altLang="tr-TR" sz="1600" smtClean="0">
                <a:latin typeface="Courier New" panose="02070309020205020404" pitchFamily="49" charset="0"/>
              </a:rPr>
              <a:t> 	</a:t>
            </a:r>
            <a:r>
              <a:rPr lang="en-US" altLang="tr-TR" sz="1800" smtClean="0"/>
              <a:t>// memory is allocated to store a double value, but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1800" smtClean="0"/>
              <a:t>        		//currently not initialized. p now points to that location </a:t>
            </a:r>
          </a:p>
          <a:p>
            <a:pPr lvl="1">
              <a:lnSpc>
                <a:spcPct val="90000"/>
              </a:lnSpc>
            </a:pPr>
            <a:endParaRPr lang="en-US" altLang="tr-TR" sz="1800" smtClean="0"/>
          </a:p>
        </p:txBody>
      </p:sp>
      <p:grpSp>
        <p:nvGrpSpPr>
          <p:cNvPr id="36868" name="Group 14"/>
          <p:cNvGrpSpPr>
            <a:grpSpLocks/>
          </p:cNvGrpSpPr>
          <p:nvPr/>
        </p:nvGrpSpPr>
        <p:grpSpPr bwMode="auto">
          <a:xfrm>
            <a:off x="4929188" y="5929313"/>
            <a:ext cx="2632075" cy="449262"/>
            <a:chOff x="2496" y="3744"/>
            <a:chExt cx="1658" cy="283"/>
          </a:xfrm>
        </p:grpSpPr>
        <p:grpSp>
          <p:nvGrpSpPr>
            <p:cNvPr id="36875" name="Group 10"/>
            <p:cNvGrpSpPr>
              <a:grpSpLocks/>
            </p:cNvGrpSpPr>
            <p:nvPr/>
          </p:nvGrpSpPr>
          <p:grpSpPr bwMode="auto">
            <a:xfrm>
              <a:off x="2736" y="3744"/>
              <a:ext cx="1418" cy="283"/>
              <a:chOff x="2751" y="3611"/>
              <a:chExt cx="1418" cy="283"/>
            </a:xfrm>
          </p:grpSpPr>
          <p:sp>
            <p:nvSpPr>
              <p:cNvPr id="36877" name="Rectangle 7"/>
              <p:cNvSpPr>
                <a:spLocks noChangeArrowheads="1"/>
              </p:cNvSpPr>
              <p:nvPr/>
            </p:nvSpPr>
            <p:spPr bwMode="auto">
              <a:xfrm>
                <a:off x="3430" y="3611"/>
                <a:ext cx="739" cy="283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tr-TR" sz="1800">
                    <a:latin typeface="Courier New" panose="02070309020205020404" pitchFamily="49" charset="0"/>
                  </a:rPr>
                  <a:t>?</a:t>
                </a:r>
              </a:p>
            </p:txBody>
          </p:sp>
          <p:sp>
            <p:nvSpPr>
              <p:cNvPr id="36878" name="Rectangle 8"/>
              <p:cNvSpPr>
                <a:spLocks noChangeArrowheads="1"/>
              </p:cNvSpPr>
              <p:nvPr/>
            </p:nvSpPr>
            <p:spPr bwMode="auto">
              <a:xfrm>
                <a:off x="2751" y="3619"/>
                <a:ext cx="240" cy="267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tr-TR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36879" name="Line 9"/>
              <p:cNvSpPr>
                <a:spLocks noChangeShapeType="1"/>
              </p:cNvSpPr>
              <p:nvPr/>
            </p:nvSpPr>
            <p:spPr bwMode="auto">
              <a:xfrm flipV="1">
                <a:off x="2973" y="3757"/>
                <a:ext cx="457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876" name="Text Box 11"/>
            <p:cNvSpPr txBox="1">
              <a:spLocks noChangeArrowheads="1"/>
            </p:cNvSpPr>
            <p:nvPr/>
          </p:nvSpPr>
          <p:spPr bwMode="white">
            <a:xfrm>
              <a:off x="2496" y="374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2400">
                  <a:latin typeface="Times New Roman" panose="02020603050405020304" pitchFamily="18" charset="0"/>
                </a:rPr>
                <a:t>p</a:t>
              </a:r>
              <a:endParaRPr lang="en-US" altLang="tr-TR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869" name="Group 13"/>
          <p:cNvGrpSpPr>
            <a:grpSpLocks/>
          </p:cNvGrpSpPr>
          <p:nvPr/>
        </p:nvGrpSpPr>
        <p:grpSpPr bwMode="auto">
          <a:xfrm>
            <a:off x="4953000" y="4532313"/>
            <a:ext cx="1095375" cy="396875"/>
            <a:chOff x="96" y="2784"/>
            <a:chExt cx="690" cy="250"/>
          </a:xfrm>
        </p:grpSpPr>
        <p:sp>
          <p:nvSpPr>
            <p:cNvPr id="36872" name="Text Box 4"/>
            <p:cNvSpPr txBox="1">
              <a:spLocks noChangeArrowheads="1"/>
            </p:cNvSpPr>
            <p:nvPr/>
          </p:nvSpPr>
          <p:spPr bwMode="auto">
            <a:xfrm>
              <a:off x="336" y="2784"/>
              <a:ext cx="207" cy="23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endParaRPr lang="en-US" altLang="tr-TR" sz="1800">
                <a:latin typeface="Courier New" panose="02070309020205020404" pitchFamily="49" charset="0"/>
              </a:endParaRPr>
            </a:p>
          </p:txBody>
        </p:sp>
        <p:sp>
          <p:nvSpPr>
            <p:cNvPr id="36873" name="Line 5"/>
            <p:cNvSpPr>
              <a:spLocks noChangeShapeType="1"/>
            </p:cNvSpPr>
            <p:nvPr/>
          </p:nvSpPr>
          <p:spPr bwMode="auto">
            <a:xfrm>
              <a:off x="528" y="2928"/>
              <a:ext cx="2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4" name="Text Box 12"/>
            <p:cNvSpPr txBox="1">
              <a:spLocks noChangeArrowheads="1"/>
            </p:cNvSpPr>
            <p:nvPr/>
          </p:nvSpPr>
          <p:spPr bwMode="white">
            <a:xfrm>
              <a:off x="96" y="278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2400">
                  <a:latin typeface="Times New Roman" panose="02020603050405020304" pitchFamily="18" charset="0"/>
                </a:rPr>
                <a:t>p</a:t>
              </a:r>
              <a:endParaRPr lang="en-US" altLang="tr-TR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6870" name="Rectangle 1"/>
          <p:cNvSpPr>
            <a:spLocks noChangeArrowheads="1"/>
          </p:cNvSpPr>
          <p:nvPr/>
        </p:nvSpPr>
        <p:spPr bwMode="auto">
          <a:xfrm>
            <a:off x="6011863" y="4581525"/>
            <a:ext cx="338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>
                <a:latin typeface="Courier New" panose="02070309020205020404" pitchFamily="49" charset="0"/>
              </a:rPr>
              <a:t>?</a:t>
            </a:r>
          </a:p>
        </p:txBody>
      </p:sp>
      <p:sp>
        <p:nvSpPr>
          <p:cNvPr id="36871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EBE4AF-4862-4FD9-B475-2DD6ED9ABA6B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77813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Pointers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Dynamic</a:t>
            </a:r>
            <a:r>
              <a:rPr lang="tr-TR" dirty="0" smtClean="0"/>
              <a:t> </a:t>
            </a:r>
            <a:r>
              <a:rPr lang="tr-TR" dirty="0" err="1" smtClean="0"/>
              <a:t>Allocation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en-US" dirty="0" smtClean="0"/>
              <a:t>user-defined types/classes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581150"/>
            <a:ext cx="8629650" cy="47275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smtClean="0"/>
              <a:t>You can have pointers for any type:</a:t>
            </a:r>
          </a:p>
          <a:p>
            <a:pPr lvl="1"/>
            <a:r>
              <a:rPr lang="en-US" altLang="tr-TR" smtClean="0"/>
              <a:t>built-in </a:t>
            </a:r>
            <a:r>
              <a:rPr lang="en-US" altLang="tr-TR" smtClean="0">
                <a:solidFill>
                  <a:srgbClr val="CC0000"/>
                </a:solidFill>
              </a:rPr>
              <a:t>or</a:t>
            </a:r>
            <a:r>
              <a:rPr lang="en-US" altLang="tr-TR" smtClean="0"/>
              <a:t> user-defined types, classes and structs</a:t>
            </a:r>
          </a:p>
          <a:p>
            <a:pPr lvl="1"/>
            <a:r>
              <a:rPr lang="en-US" altLang="tr-TR" smtClean="0"/>
              <a:t>e.g. int, double, char, string, robot, dice, date, …</a:t>
            </a:r>
          </a:p>
          <a:p>
            <a:pPr lvl="1"/>
            <a:endParaRPr lang="en-US" altLang="tr-TR" smtClean="0"/>
          </a:p>
          <a:p>
            <a:pPr>
              <a:buFontTx/>
              <a:buNone/>
            </a:pPr>
            <a:r>
              <a:rPr lang="en-US" altLang="tr-TR" smtClean="0"/>
              <a:t>You can dynamically allocate memory for any type; note that the class constructor is called automatically to construct the object:</a:t>
            </a:r>
            <a:endParaRPr lang="en-US" altLang="tr-TR" sz="2800" smtClean="0">
              <a:solidFill>
                <a:srgbClr val="0000CC"/>
              </a:solidFill>
              <a:latin typeface="Courier New" panose="02070309020205020404" pitchFamily="49" charset="0"/>
            </a:endParaRPr>
          </a:p>
          <a:p>
            <a:pPr lvl="1"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myClass *  classPtr;</a:t>
            </a:r>
          </a:p>
          <a:p>
            <a:pPr lvl="1"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classPtr = </a:t>
            </a:r>
            <a:r>
              <a:rPr lang="en-US" altLang="tr-TR" sz="1800" b="1" smtClean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tr-TR" altLang="tr-TR" sz="1800" b="1" smtClean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tr-TR" sz="1800" b="1" smtClean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tr-TR" sz="1800" b="1" smtClean="0"/>
              <a:t> 	</a:t>
            </a:r>
            <a:endParaRPr lang="en-US" altLang="tr-TR" sz="2400" b="1" smtClean="0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 lvl="1"/>
            <a:endParaRPr lang="en-US" altLang="tr-TR" smtClean="0">
              <a:latin typeface="Courier New" panose="02070309020205020404" pitchFamily="49" charset="0"/>
            </a:endParaRPr>
          </a:p>
        </p:txBody>
      </p:sp>
      <p:sp>
        <p:nvSpPr>
          <p:cNvPr id="3891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3EB0A42-20CC-435F-A67A-40B2DF3560DE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Pointer to Class Members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143000"/>
            <a:ext cx="8750300" cy="5526088"/>
          </a:xfrm>
        </p:spPr>
        <p:txBody>
          <a:bodyPr/>
          <a:lstStyle/>
          <a:p>
            <a:pPr>
              <a:buFontTx/>
              <a:buNone/>
            </a:pPr>
            <a:endParaRPr lang="tr-TR" altLang="tr-TR" sz="2200" dirty="0" smtClean="0">
              <a:latin typeface="Arial Unicode MS" pitchFamily="34" charset="-128"/>
            </a:endParaRPr>
          </a:p>
          <a:p>
            <a:pPr>
              <a:buFontTx/>
              <a:buNone/>
            </a:pPr>
            <a:r>
              <a:rPr lang="en-US" altLang="tr-TR" sz="2200" dirty="0" smtClean="0"/>
              <a:t>Date *</a:t>
            </a:r>
            <a:r>
              <a:rPr lang="en-US" altLang="tr-TR" sz="2200" dirty="0" err="1" smtClean="0"/>
              <a:t>p_date</a:t>
            </a:r>
            <a:r>
              <a:rPr lang="en-US" altLang="tr-TR" sz="2200" dirty="0" smtClean="0"/>
              <a:t>;	</a:t>
            </a:r>
            <a:r>
              <a:rPr lang="tr-TR" altLang="tr-TR" sz="2200" dirty="0" smtClean="0"/>
              <a:t>           </a:t>
            </a:r>
            <a:r>
              <a:rPr lang="en-US" altLang="tr-TR" sz="2200" dirty="0" smtClean="0"/>
              <a:t>//preferred naming - starts with p</a:t>
            </a:r>
            <a:r>
              <a:rPr lang="tr-TR" altLang="tr-TR" sz="2200" dirty="0" smtClean="0"/>
              <a:t>, but not a </a:t>
            </a:r>
            <a:r>
              <a:rPr lang="tr-TR" altLang="tr-TR" sz="2200" dirty="0" err="1" smtClean="0"/>
              <a:t>rule</a:t>
            </a:r>
            <a:endParaRPr lang="en-US" altLang="tr-TR" sz="2200" dirty="0" smtClean="0"/>
          </a:p>
          <a:p>
            <a:pPr>
              <a:buFontTx/>
              <a:buNone/>
            </a:pPr>
            <a:endParaRPr lang="en-US" altLang="tr-TR" sz="2200" dirty="0" smtClean="0"/>
          </a:p>
          <a:p>
            <a:pPr>
              <a:buFontTx/>
              <a:buNone/>
            </a:pPr>
            <a:r>
              <a:rPr lang="en-US" altLang="tr-TR" sz="2200" dirty="0" smtClean="0"/>
              <a:t>Date *p1 = new Date;	</a:t>
            </a:r>
            <a:r>
              <a:rPr lang="tr-TR" altLang="tr-TR" sz="2200" dirty="0" smtClean="0"/>
              <a:t>            </a:t>
            </a:r>
            <a:r>
              <a:rPr lang="en-US" altLang="tr-TR" sz="2200" dirty="0" smtClean="0"/>
              <a:t>//p1 </a:t>
            </a:r>
          </a:p>
          <a:p>
            <a:pPr>
              <a:buFontTx/>
              <a:buNone/>
            </a:pPr>
            <a:endParaRPr lang="en-US" altLang="tr-TR" sz="2200" dirty="0" smtClean="0"/>
          </a:p>
          <a:p>
            <a:pPr>
              <a:buFontTx/>
              <a:buNone/>
            </a:pPr>
            <a:r>
              <a:rPr lang="en-US" altLang="tr-TR" sz="2200" dirty="0" smtClean="0"/>
              <a:t>Date *p2 = p1;			//p2</a:t>
            </a:r>
          </a:p>
          <a:p>
            <a:pPr>
              <a:buFontTx/>
              <a:buNone/>
            </a:pPr>
            <a:r>
              <a:rPr lang="en-US" altLang="tr-TR" sz="2200" dirty="0" smtClean="0"/>
              <a:t>Date tomorrow = *p1 + 1</a:t>
            </a:r>
            <a:r>
              <a:rPr lang="tr-TR" altLang="tr-TR" sz="2200" dirty="0" smtClean="0"/>
              <a:t>;</a:t>
            </a:r>
            <a:r>
              <a:rPr lang="en-US" altLang="tr-TR" sz="2200" dirty="0" smtClean="0"/>
              <a:t>     //tomorrow </a:t>
            </a:r>
          </a:p>
          <a:p>
            <a:pPr>
              <a:buFontTx/>
              <a:buNone/>
            </a:pPr>
            <a:r>
              <a:rPr lang="en-US" altLang="tr-TR" sz="2200" dirty="0" smtClean="0"/>
              <a:t>	</a:t>
            </a:r>
          </a:p>
          <a:p>
            <a:pPr>
              <a:buFontTx/>
              <a:buNone/>
            </a:pPr>
            <a:endParaRPr lang="en-US" altLang="tr-TR" sz="2200" dirty="0" smtClean="0"/>
          </a:p>
          <a:p>
            <a:pPr>
              <a:buFontTx/>
              <a:buNone/>
            </a:pPr>
            <a:r>
              <a:rPr lang="en-US" altLang="tr-TR" sz="2200" dirty="0" smtClean="0">
                <a:solidFill>
                  <a:srgbClr val="C81002"/>
                </a:solidFill>
              </a:rPr>
              <a:t>int month = (*p1).Month();	//month </a:t>
            </a:r>
          </a:p>
          <a:p>
            <a:pPr>
              <a:buFontTx/>
              <a:buNone/>
            </a:pPr>
            <a:endParaRPr lang="en-US" altLang="tr-TR" sz="2200" dirty="0" smtClean="0">
              <a:solidFill>
                <a:srgbClr val="C81002"/>
              </a:solidFill>
            </a:endParaRPr>
          </a:p>
          <a:p>
            <a:pPr>
              <a:buFontTx/>
              <a:buNone/>
            </a:pPr>
            <a:r>
              <a:rPr lang="en-US" altLang="tr-TR" sz="2200" dirty="0" smtClean="0">
                <a:solidFill>
                  <a:srgbClr val="C81002"/>
                </a:solidFill>
              </a:rPr>
              <a:t>int day = p1-&gt;Day();		//day</a:t>
            </a:r>
          </a:p>
          <a:p>
            <a:pPr>
              <a:buFontTx/>
              <a:buNone/>
            </a:pPr>
            <a:endParaRPr lang="en-US" altLang="tr-TR" sz="2200" dirty="0" smtClean="0">
              <a:solidFill>
                <a:srgbClr val="C81002"/>
              </a:solidFill>
              <a:latin typeface="Arial Unicode MS" pitchFamily="34" charset="-128"/>
            </a:endParaRPr>
          </a:p>
          <a:p>
            <a:pPr>
              <a:buFontTx/>
              <a:buNone/>
            </a:pPr>
            <a:endParaRPr lang="en-US" altLang="tr-TR" sz="2200" dirty="0" smtClean="0">
              <a:solidFill>
                <a:srgbClr val="C81002"/>
              </a:solidFill>
              <a:latin typeface="Arial Unicode MS" pitchFamily="34" charset="-128"/>
            </a:endParaRPr>
          </a:p>
        </p:txBody>
      </p:sp>
      <p:sp>
        <p:nvSpPr>
          <p:cNvPr id="40964" name="Line 4"/>
          <p:cNvSpPr>
            <a:spLocks noChangeShapeType="1"/>
          </p:cNvSpPr>
          <p:nvPr/>
        </p:nvSpPr>
        <p:spPr bwMode="white">
          <a:xfrm>
            <a:off x="4581525" y="26368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white">
          <a:xfrm>
            <a:off x="5334000" y="2362200"/>
            <a:ext cx="1595438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white">
          <a:xfrm flipV="1">
            <a:off x="4494213" y="2901950"/>
            <a:ext cx="7207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white">
          <a:xfrm>
            <a:off x="5214938" y="3548063"/>
            <a:ext cx="1643062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white">
          <a:xfrm>
            <a:off x="5214938" y="4724400"/>
            <a:ext cx="1524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white">
          <a:xfrm>
            <a:off x="5435663" y="2349500"/>
            <a:ext cx="14318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2400" dirty="0" smtClean="0">
                <a:latin typeface="Times New Roman" panose="02020603050405020304" pitchFamily="18" charset="0"/>
              </a:rPr>
              <a:t>23</a:t>
            </a:r>
            <a:r>
              <a:rPr lang="tr-TR" altLang="tr-TR" sz="2400" dirty="0" smtClean="0">
                <a:latin typeface="Times New Roman" panose="02020603050405020304" pitchFamily="18" charset="0"/>
              </a:rPr>
              <a:t>/</a:t>
            </a:r>
            <a:r>
              <a:rPr lang="en-US" altLang="tr-TR" sz="2400" dirty="0" smtClean="0">
                <a:latin typeface="Times New Roman" panose="02020603050405020304" pitchFamily="18" charset="0"/>
              </a:rPr>
              <a:t>2/2026</a:t>
            </a:r>
            <a:endParaRPr lang="en-US" altLang="tr-TR" sz="2400" dirty="0">
              <a:latin typeface="Times New Roman" panose="02020603050405020304" pitchFamily="18" charset="0"/>
            </a:endParaRPr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white">
          <a:xfrm>
            <a:off x="5364225" y="3543300"/>
            <a:ext cx="14318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2400" dirty="0" smtClean="0">
                <a:latin typeface="Times New Roman" panose="02020603050405020304" pitchFamily="18" charset="0"/>
              </a:rPr>
              <a:t>24</a:t>
            </a:r>
            <a:r>
              <a:rPr lang="tr-TR" altLang="tr-TR" sz="2400" dirty="0" smtClean="0">
                <a:latin typeface="Times New Roman" panose="02020603050405020304" pitchFamily="18" charset="0"/>
              </a:rPr>
              <a:t>/</a:t>
            </a:r>
            <a:r>
              <a:rPr lang="en-US" altLang="tr-TR" sz="2400" dirty="0" smtClean="0">
                <a:latin typeface="Times New Roman" panose="02020603050405020304" pitchFamily="18" charset="0"/>
              </a:rPr>
              <a:t>2/2026</a:t>
            </a:r>
            <a:endParaRPr lang="en-US" altLang="tr-TR" sz="2400" dirty="0">
              <a:latin typeface="Times New Roman" panose="02020603050405020304" pitchFamily="18" charset="0"/>
            </a:endParaRPr>
          </a:p>
        </p:txBody>
      </p:sp>
      <p:sp>
        <p:nvSpPr>
          <p:cNvPr id="40971" name="Text Box 11"/>
          <p:cNvSpPr txBox="1">
            <a:spLocks noChangeArrowheads="1"/>
          </p:cNvSpPr>
          <p:nvPr/>
        </p:nvSpPr>
        <p:spPr bwMode="white">
          <a:xfrm>
            <a:off x="5729288" y="4724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2400" dirty="0" smtClean="0">
                <a:latin typeface="Times New Roman" panose="02020603050405020304" pitchFamily="18" charset="0"/>
              </a:rPr>
              <a:t>2</a:t>
            </a:r>
            <a:endParaRPr lang="en-US" altLang="tr-TR" sz="2400" dirty="0">
              <a:latin typeface="Times New Roman" panose="02020603050405020304" pitchFamily="18" charset="0"/>
            </a:endParaRPr>
          </a:p>
        </p:txBody>
      </p:sp>
      <p:sp>
        <p:nvSpPr>
          <p:cNvPr id="40972" name="Rectangle 12"/>
          <p:cNvSpPr>
            <a:spLocks noChangeArrowheads="1"/>
          </p:cNvSpPr>
          <p:nvPr/>
        </p:nvSpPr>
        <p:spPr bwMode="white">
          <a:xfrm>
            <a:off x="5191125" y="5524500"/>
            <a:ext cx="1524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white">
          <a:xfrm>
            <a:off x="5461000" y="554355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2400" dirty="0" smtClean="0">
                <a:latin typeface="Times New Roman" panose="02020603050405020304" pitchFamily="18" charset="0"/>
              </a:rPr>
              <a:t>23</a:t>
            </a:r>
            <a:endParaRPr lang="en-US" altLang="tr-TR" sz="2400" dirty="0">
              <a:latin typeface="Times New Roman" panose="02020603050405020304" pitchFamily="18" charset="0"/>
            </a:endParaRPr>
          </a:p>
        </p:txBody>
      </p:sp>
      <p:sp>
        <p:nvSpPr>
          <p:cNvPr id="40974" name="Text Box 14"/>
          <p:cNvSpPr txBox="1">
            <a:spLocks noChangeArrowheads="1"/>
          </p:cNvSpPr>
          <p:nvPr/>
        </p:nvSpPr>
        <p:spPr bwMode="white">
          <a:xfrm>
            <a:off x="242888" y="6124575"/>
            <a:ext cx="7789862" cy="400050"/>
          </a:xfrm>
          <a:prstGeom prst="rect">
            <a:avLst/>
          </a:prstGeom>
          <a:solidFill>
            <a:srgbClr val="CC99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>
                <a:solidFill>
                  <a:srgbClr val="CC0000"/>
                </a:solidFill>
              </a:rPr>
              <a:t>ptr-&gt;</a:t>
            </a:r>
            <a:r>
              <a:rPr lang="tr-TR" altLang="tr-TR">
                <a:solidFill>
                  <a:srgbClr val="0000CC"/>
                </a:solidFill>
              </a:rPr>
              <a:t> is a shorthand for </a:t>
            </a:r>
            <a:r>
              <a:rPr lang="tr-TR" altLang="tr-TR">
                <a:solidFill>
                  <a:srgbClr val="CC0000"/>
                </a:solidFill>
              </a:rPr>
              <a:t>(*ptr). </a:t>
            </a:r>
            <a:r>
              <a:rPr lang="en-US" altLang="tr-TR"/>
              <a:t>if </a:t>
            </a:r>
            <a:r>
              <a:rPr lang="tr-TR" altLang="tr-TR"/>
              <a:t>ptr</a:t>
            </a:r>
            <a:r>
              <a:rPr lang="en-US" altLang="tr-TR"/>
              <a:t> is a pointer to a struct or a class</a:t>
            </a:r>
            <a:r>
              <a:rPr lang="tr-TR" altLang="tr-TR">
                <a:latin typeface="Times New Roman" panose="02020603050405020304" pitchFamily="18" charset="0"/>
              </a:rPr>
              <a:t> </a:t>
            </a:r>
            <a:endParaRPr lang="en-US" altLang="tr-TR">
              <a:latin typeface="Times New Roman" panose="02020603050405020304" pitchFamily="18" charset="0"/>
            </a:endParaRPr>
          </a:p>
        </p:txBody>
      </p:sp>
      <p:sp>
        <p:nvSpPr>
          <p:cNvPr id="40975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AB795C-70EF-47F8-86B3-50E406104E19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357188"/>
            <a:ext cx="8643937" cy="9906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DC2A00"/>
                </a:solidFill>
              </a:rPr>
              <a:t>Dynamic memory allocation with </a:t>
            </a:r>
            <a:r>
              <a:rPr lang="en-US" dirty="0" smtClean="0">
                <a:solidFill>
                  <a:srgbClr val="DC2A0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dirty="0" smtClean="0">
                <a:solidFill>
                  <a:srgbClr val="DC2A00"/>
                </a:solidFill>
              </a:rPr>
              <a:t> – Allocating Multiple Variables 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white">
          <a:xfrm>
            <a:off x="285750" y="1714500"/>
            <a:ext cx="8597900" cy="4427538"/>
          </a:xfrm>
          <a:noFill/>
        </p:spPr>
        <p:txBody>
          <a:bodyPr/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tr-TR" smtClean="0">
                <a:latin typeface="Courier New" panose="02070309020205020404" pitchFamily="49" charset="0"/>
                <a:cs typeface="Courier New" panose="02070309020205020404" pitchFamily="49" charset="0"/>
              </a:rPr>
              <a:t>int *p1, *p2;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endParaRPr lang="en-US" altLang="tr-TR" sz="1400" smtClean="0"/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tr-TR" sz="1800" b="1" smtClean="0">
                <a:solidFill>
                  <a:srgbClr val="0000CC"/>
                </a:solidFill>
              </a:rPr>
              <a:t> keyword dynamically allocates enough memory for a single </a:t>
            </a:r>
            <a:r>
              <a:rPr lang="en-US" altLang="tr-TR" sz="1800" b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sz="1800" b="1" smtClean="0">
                <a:solidFill>
                  <a:srgbClr val="0000CC"/>
                </a:solidFill>
              </a:rPr>
              <a:t>, and returns its address</a:t>
            </a:r>
            <a:r>
              <a:rPr lang="tr-TR" altLang="tr-TR" sz="1800" b="1" smtClean="0">
                <a:solidFill>
                  <a:srgbClr val="0000CC"/>
                </a:solidFill>
              </a:rPr>
              <a:t>, which is stored in </a:t>
            </a:r>
            <a:r>
              <a:rPr lang="tr-TR" altLang="tr-TR" sz="1800" b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endParaRPr lang="en-US" altLang="tr-TR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tr-TR" smtClean="0">
                <a:solidFill>
                  <a:srgbClr val="CC0000"/>
                </a:solidFill>
              </a:rPr>
              <a:t>		</a:t>
            </a:r>
            <a:r>
              <a:rPr lang="en-US" altLang="tr-TR" b="1" smtClean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 = new int;</a:t>
            </a:r>
            <a:r>
              <a:rPr lang="en-US" altLang="tr-TR" b="1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endParaRPr lang="en-US" altLang="tr-TR" sz="1800" b="1" smtClean="0">
              <a:solidFill>
                <a:srgbClr val="0000CC"/>
              </a:solidFill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solidFill>
                  <a:srgbClr val="0000CC"/>
                </a:solidFill>
              </a:rPr>
              <a:t>In general, the </a:t>
            </a:r>
            <a:r>
              <a:rPr lang="en-US" altLang="tr-TR" sz="1800" b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tr-TR" sz="1800" b="1" smtClean="0">
                <a:solidFill>
                  <a:srgbClr val="0000CC"/>
                </a:solidFill>
              </a:rPr>
              <a:t> keyword dynamically allocates enough memory for the following type and count</a:t>
            </a:r>
            <a:r>
              <a:rPr lang="tr-TR" altLang="tr-TR" sz="1800" b="1" smtClean="0">
                <a:solidFill>
                  <a:srgbClr val="0000CC"/>
                </a:solidFill>
              </a:rPr>
              <a:t>. Pointer p2 points to the first element of the list. This is how we generate DYNAMIC ARRAYs.</a:t>
            </a:r>
            <a:endParaRPr lang="en-US" altLang="tr-TR" sz="1800" b="1" smtClean="0">
              <a:solidFill>
                <a:srgbClr val="0000CC"/>
              </a:solidFill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tr-TR" smtClean="0"/>
              <a:t>		</a:t>
            </a:r>
            <a:r>
              <a:rPr lang="en-US" altLang="tr-TR" b="1" smtClean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p2 = new int[4]; </a:t>
            </a:r>
            <a:r>
              <a:rPr lang="en-US" altLang="tr-TR" smtClean="0">
                <a:solidFill>
                  <a:srgbClr val="CC0000"/>
                </a:solidFill>
              </a:rPr>
              <a:t>	</a:t>
            </a:r>
            <a:endParaRPr lang="en-US" altLang="tr-TR" sz="1200" b="1" smtClean="0">
              <a:solidFill>
                <a:srgbClr val="CC0000"/>
              </a:solidFill>
            </a:endParaRP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tr-TR" smtClean="0">
              <a:solidFill>
                <a:srgbClr val="CC0000"/>
              </a:solidFill>
            </a:endParaRP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white">
          <a:xfrm>
            <a:off x="152400" y="6264275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6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3013" name="Straight Arrow Connector 2"/>
          <p:cNvCxnSpPr>
            <a:cxnSpLocks noChangeShapeType="1"/>
          </p:cNvCxnSpPr>
          <p:nvPr/>
        </p:nvCxnSpPr>
        <p:spPr bwMode="auto">
          <a:xfrm flipV="1">
            <a:off x="2987675" y="5661025"/>
            <a:ext cx="144463" cy="431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4" name="Straight Arrow Connector 7"/>
          <p:cNvCxnSpPr>
            <a:cxnSpLocks noChangeShapeType="1"/>
          </p:cNvCxnSpPr>
          <p:nvPr/>
        </p:nvCxnSpPr>
        <p:spPr bwMode="auto">
          <a:xfrm flipV="1">
            <a:off x="3563938" y="5661025"/>
            <a:ext cx="144462" cy="431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Box 4"/>
          <p:cNvSpPr txBox="1"/>
          <p:nvPr/>
        </p:nvSpPr>
        <p:spPr>
          <a:xfrm>
            <a:off x="2555875" y="6065838"/>
            <a:ext cx="70485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tr-TR" sz="1800" dirty="0" err="1">
                <a:latin typeface="+mn-lt"/>
              </a:rPr>
              <a:t>type</a:t>
            </a:r>
            <a:endParaRPr lang="tr-TR" sz="18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3263" y="6029325"/>
            <a:ext cx="92868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tr-TR" sz="1800" dirty="0" err="1">
                <a:latin typeface="+mn-lt"/>
              </a:rPr>
              <a:t>count</a:t>
            </a:r>
            <a:endParaRPr lang="tr-TR" sz="1800" dirty="0">
              <a:latin typeface="+mn-lt"/>
            </a:endParaRPr>
          </a:p>
        </p:txBody>
      </p:sp>
      <p:sp>
        <p:nvSpPr>
          <p:cNvPr id="43017" name="Rectangle 5"/>
          <p:cNvSpPr>
            <a:spLocks noChangeArrowheads="1"/>
          </p:cNvSpPr>
          <p:nvPr/>
        </p:nvSpPr>
        <p:spPr bwMode="auto">
          <a:xfrm>
            <a:off x="5580063" y="5589588"/>
            <a:ext cx="1728787" cy="4397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cxnSp>
        <p:nvCxnSpPr>
          <p:cNvPr id="43018" name="Straight Connector 8"/>
          <p:cNvCxnSpPr>
            <a:cxnSpLocks noChangeShapeType="1"/>
          </p:cNvCxnSpPr>
          <p:nvPr/>
        </p:nvCxnSpPr>
        <p:spPr bwMode="auto">
          <a:xfrm>
            <a:off x="6011863" y="5589588"/>
            <a:ext cx="0" cy="43973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9" name="Straight Connector 15"/>
          <p:cNvCxnSpPr>
            <a:cxnSpLocks noChangeShapeType="1"/>
          </p:cNvCxnSpPr>
          <p:nvPr/>
        </p:nvCxnSpPr>
        <p:spPr bwMode="auto">
          <a:xfrm>
            <a:off x="6443663" y="5589588"/>
            <a:ext cx="0" cy="43973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0" name="Straight Connector 16"/>
          <p:cNvCxnSpPr>
            <a:cxnSpLocks noChangeShapeType="1"/>
          </p:cNvCxnSpPr>
          <p:nvPr/>
        </p:nvCxnSpPr>
        <p:spPr bwMode="auto">
          <a:xfrm>
            <a:off x="6875463" y="5589588"/>
            <a:ext cx="0" cy="43973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1" name="Straight Arrow Connector 13"/>
          <p:cNvCxnSpPr>
            <a:cxnSpLocks noChangeShapeType="1"/>
          </p:cNvCxnSpPr>
          <p:nvPr/>
        </p:nvCxnSpPr>
        <p:spPr bwMode="auto">
          <a:xfrm flipV="1">
            <a:off x="5580063" y="6029325"/>
            <a:ext cx="215900" cy="36988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4940300" y="6264275"/>
            <a:ext cx="9271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tr-TR" sz="1800" dirty="0">
                <a:latin typeface="+mn-lt"/>
              </a:rPr>
              <a:t>p2</a:t>
            </a:r>
          </a:p>
        </p:txBody>
      </p:sp>
      <p:sp>
        <p:nvSpPr>
          <p:cNvPr id="43023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5D9897-6E1B-4351-A8C2-5E859361EA01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52400"/>
            <a:ext cx="9001125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Allocation of multiple variables with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new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295400"/>
            <a:ext cx="8186737" cy="50863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dirty="0" smtClean="0"/>
              <a:t>Assume that we want to hold a dynamic array to hold vacation dates of varying numbers:</a:t>
            </a:r>
          </a:p>
          <a:p>
            <a:pPr>
              <a:buFontTx/>
              <a:buNone/>
            </a:pPr>
            <a:endParaRPr lang="en-US" altLang="tr-TR" sz="1800" dirty="0" smtClean="0"/>
          </a:p>
          <a:p>
            <a:pPr>
              <a:buFontTx/>
              <a:buNone/>
            </a:pPr>
            <a:r>
              <a:rPr lang="en-US" altLang="tr-TR" sz="1800" dirty="0" smtClean="0"/>
              <a:t>	 </a:t>
            </a:r>
            <a:r>
              <a:rPr lang="en-US" altLang="tr-TR" sz="2200" b="1" dirty="0" err="1" smtClean="0">
                <a:solidFill>
                  <a:srgbClr val="3333CC"/>
                </a:solidFill>
                <a:latin typeface="Courier New" panose="02070309020205020404" pitchFamily="49" charset="0"/>
              </a:rPr>
              <a:t>cin</a:t>
            </a:r>
            <a:r>
              <a:rPr lang="en-US" altLang="tr-TR" sz="2200" b="1" dirty="0" smtClean="0">
                <a:solidFill>
                  <a:srgbClr val="3333CC"/>
                </a:solidFill>
                <a:latin typeface="Courier New" panose="02070309020205020404" pitchFamily="49" charset="0"/>
              </a:rPr>
              <a:t> &gt;&gt; </a:t>
            </a:r>
            <a:r>
              <a:rPr lang="en-US" altLang="tr-TR" sz="2200" b="1" dirty="0" err="1" smtClean="0">
                <a:solidFill>
                  <a:srgbClr val="3333CC"/>
                </a:solidFill>
                <a:latin typeface="Courier New" panose="02070309020205020404" pitchFamily="49" charset="0"/>
              </a:rPr>
              <a:t>num_vacations</a:t>
            </a:r>
            <a:r>
              <a:rPr lang="en-US" altLang="tr-TR" sz="2200" b="1" dirty="0" smtClean="0">
                <a:solidFill>
                  <a:srgbClr val="3333CC"/>
                </a:solidFill>
                <a:latin typeface="Courier New" panose="02070309020205020404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tr-TR" sz="2200" b="1" dirty="0" smtClean="0">
                <a:latin typeface="Courier New" panose="02070309020205020404" pitchFamily="49" charset="0"/>
              </a:rPr>
              <a:t>Date * vacations = new Date[</a:t>
            </a:r>
            <a:r>
              <a:rPr lang="en-US" altLang="tr-TR" sz="2200" b="1" dirty="0" err="1" smtClean="0">
                <a:latin typeface="Courier New" panose="02070309020205020404" pitchFamily="49" charset="0"/>
              </a:rPr>
              <a:t>num_vacations</a:t>
            </a:r>
            <a:r>
              <a:rPr lang="en-US" altLang="tr-TR" sz="2200" b="1" dirty="0" smtClean="0">
                <a:latin typeface="Courier New" panose="02070309020205020404" pitchFamily="49" charset="0"/>
              </a:rPr>
              <a:t>];</a:t>
            </a:r>
          </a:p>
          <a:p>
            <a:pPr lvl="1">
              <a:buFontTx/>
              <a:buNone/>
            </a:pPr>
            <a:endParaRPr lang="en-US" altLang="tr-TR" dirty="0" smtClean="0">
              <a:solidFill>
                <a:schemeClr val="tx1"/>
              </a:solidFill>
            </a:endParaRPr>
          </a:p>
          <a:p>
            <a:pPr lvl="1">
              <a:buFontTx/>
              <a:buNone/>
            </a:pPr>
            <a:r>
              <a:rPr lang="en-US" altLang="tr-TR" dirty="0" smtClean="0">
                <a:solidFill>
                  <a:schemeClr val="tx1"/>
                </a:solidFill>
              </a:rPr>
              <a:t>The allocated memory is a contiguous memory than can hold </a:t>
            </a:r>
            <a:r>
              <a:rPr lang="en-US" altLang="tr-TR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num_vacations</a:t>
            </a:r>
            <a:r>
              <a:rPr lang="en-US" altLang="tr-TR" dirty="0" smtClean="0">
                <a:solidFill>
                  <a:schemeClr val="tx1"/>
                </a:solidFill>
              </a:rPr>
              <a:t> dates. Notice that </a:t>
            </a:r>
            <a:r>
              <a:rPr lang="en-US" altLang="tr-TR" dirty="0" smtClean="0">
                <a:solidFill>
                  <a:srgbClr val="CC0000"/>
                </a:solidFill>
              </a:rPr>
              <a:t>you can access it like an array</a:t>
            </a:r>
            <a:r>
              <a:rPr lang="en-US" altLang="tr-TR" dirty="0" smtClean="0">
                <a:solidFill>
                  <a:schemeClr val="tx1"/>
                </a:solidFill>
              </a:rPr>
              <a:t> (it does not change or advance </a:t>
            </a:r>
            <a:r>
              <a:rPr lang="en-US" altLang="tr-TR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vacations</a:t>
            </a:r>
            <a:r>
              <a:rPr lang="en-US" altLang="tr-TR" dirty="0" smtClean="0">
                <a:solidFill>
                  <a:schemeClr val="tx1"/>
                </a:solidFill>
              </a:rPr>
              <a:t> as a pointer</a:t>
            </a:r>
            <a:r>
              <a:rPr lang="tr-TR" altLang="tr-TR" dirty="0" smtClean="0">
                <a:solidFill>
                  <a:schemeClr val="tx1"/>
                </a:solidFill>
              </a:rPr>
              <a:t>;</a:t>
            </a:r>
            <a:r>
              <a:rPr lang="en-US" altLang="tr-TR" dirty="0" smtClean="0">
                <a:solidFill>
                  <a:schemeClr val="tx1"/>
                </a:solidFill>
              </a:rPr>
              <a:t> just computes an offset from where </a:t>
            </a:r>
            <a:r>
              <a:rPr lang="en-US" altLang="tr-TR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vacations</a:t>
            </a:r>
            <a:r>
              <a:rPr lang="en-US" altLang="tr-TR" dirty="0" smtClean="0">
                <a:solidFill>
                  <a:schemeClr val="tx1"/>
                </a:solidFill>
              </a:rPr>
              <a:t> points to):</a:t>
            </a:r>
          </a:p>
          <a:p>
            <a:pPr lvl="1">
              <a:buFontTx/>
              <a:buNone/>
            </a:pPr>
            <a:r>
              <a:rPr lang="en-US" altLang="tr-TR" b="1" dirty="0" smtClean="0">
                <a:latin typeface="Courier New" panose="02070309020205020404" pitchFamily="49" charset="0"/>
              </a:rPr>
              <a:t>Date today;</a:t>
            </a:r>
          </a:p>
          <a:p>
            <a:pPr lvl="1">
              <a:buFontTx/>
              <a:buNone/>
            </a:pPr>
            <a:r>
              <a:rPr lang="en-US" altLang="tr-TR" b="1" dirty="0" smtClean="0">
                <a:latin typeface="Courier New" panose="02070309020205020404" pitchFamily="49" charset="0"/>
              </a:rPr>
              <a:t>vacations[0]= today;</a:t>
            </a:r>
          </a:p>
          <a:p>
            <a:pPr lvl="1">
              <a:buFontTx/>
              <a:buNone/>
            </a:pPr>
            <a:r>
              <a:rPr lang="tr-TR" altLang="tr-TR" b="1" dirty="0" smtClean="0">
                <a:latin typeface="Courier New" panose="02070309020205020404" pitchFamily="49" charset="0"/>
              </a:rPr>
              <a:t>v</a:t>
            </a:r>
            <a:r>
              <a:rPr lang="en-US" altLang="tr-TR" b="1" dirty="0" err="1" smtClean="0">
                <a:latin typeface="Courier New" panose="02070309020205020404" pitchFamily="49" charset="0"/>
              </a:rPr>
              <a:t>acations</a:t>
            </a:r>
            <a:r>
              <a:rPr lang="en-US" altLang="tr-TR" b="1" dirty="0" smtClean="0">
                <a:latin typeface="Courier New" panose="02070309020205020404" pitchFamily="49" charset="0"/>
              </a:rPr>
              <a:t>[1]= today + </a:t>
            </a:r>
            <a:r>
              <a:rPr lang="tr-TR" altLang="tr-TR" b="1" dirty="0" smtClean="0">
                <a:latin typeface="Courier New" panose="02070309020205020404" pitchFamily="49" charset="0"/>
              </a:rPr>
              <a:t>3</a:t>
            </a:r>
            <a:r>
              <a:rPr lang="en-US" altLang="tr-TR" b="1" dirty="0" smtClean="0">
                <a:latin typeface="Courier New" panose="02070309020205020404" pitchFamily="49" charset="0"/>
              </a:rPr>
              <a:t>;</a:t>
            </a:r>
          </a:p>
          <a:p>
            <a:pPr lvl="1">
              <a:buFontTx/>
              <a:buNone/>
            </a:pPr>
            <a:endParaRPr lang="en-US" altLang="tr-TR" sz="1600" dirty="0" smtClean="0">
              <a:solidFill>
                <a:srgbClr val="EBE7FF"/>
              </a:solidFill>
            </a:endParaRPr>
          </a:p>
        </p:txBody>
      </p:sp>
      <p:sp>
        <p:nvSpPr>
          <p:cNvPr id="4506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7392AA-468C-40E1-BA28-5D151A87F372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2AD3AA-0A67-45EF-9CFB-5D1213BAEB0A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81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152400"/>
            <a:ext cx="8643938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Allocation of multiple variables with new</a:t>
            </a:r>
            <a:endParaRPr lang="en-US" dirty="0" smtClean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341438"/>
            <a:ext cx="8750300" cy="48863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sz="2000" dirty="0" smtClean="0"/>
              <a:t>Similarly, we can have a pointer to a list of 100 integers:</a:t>
            </a:r>
          </a:p>
          <a:p>
            <a:pPr>
              <a:buFontTx/>
              <a:buNone/>
            </a:pPr>
            <a:endParaRPr lang="en-US" altLang="tr-TR" sz="2000" dirty="0" smtClean="0"/>
          </a:p>
          <a:p>
            <a:pPr>
              <a:buFontTx/>
              <a:buNone/>
            </a:pPr>
            <a:r>
              <a:rPr lang="en-US" altLang="tr-TR" sz="20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int * primes = new int[100];</a:t>
            </a:r>
          </a:p>
          <a:p>
            <a:pPr>
              <a:buFontTx/>
              <a:buNone/>
            </a:pPr>
            <a:endParaRPr lang="en-US" altLang="tr-TR" sz="2000" b="1" noProof="1" smtClean="0">
              <a:solidFill>
                <a:srgbClr val="3333CC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tr-TR" sz="2000" noProof="1" smtClean="0"/>
              <a:t>//This offset operation does not mess up the pointer</a:t>
            </a:r>
          </a:p>
          <a:p>
            <a:pPr>
              <a:buFontTx/>
              <a:buNone/>
            </a:pPr>
            <a:r>
              <a:rPr lang="en-US" altLang="tr-TR" sz="20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primes[0]=2;</a:t>
            </a:r>
          </a:p>
          <a:p>
            <a:pPr>
              <a:buFontTx/>
              <a:buNone/>
            </a:pPr>
            <a:r>
              <a:rPr lang="en-US" altLang="tr-TR" sz="20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primes[1]=3;</a:t>
            </a:r>
          </a:p>
          <a:p>
            <a:pPr>
              <a:buFontTx/>
              <a:buNone/>
            </a:pPr>
            <a:r>
              <a:rPr lang="en-US" altLang="tr-TR" sz="20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cout &lt;&lt; "First prime is " &lt;&lt; primes[0];</a:t>
            </a:r>
            <a:endParaRPr lang="en-US" altLang="tr-TR" sz="2000" b="1" dirty="0" smtClean="0">
              <a:solidFill>
                <a:srgbClr val="3333CC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52400"/>
            <a:ext cx="885825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Manipulation using pointers</a:t>
            </a:r>
            <a:endParaRPr lang="en-US" dirty="0" smtClean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357188" y="1341438"/>
            <a:ext cx="8501062" cy="4886325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dirty="0" smtClean="0"/>
              <a:t>You can also manipulate such an array </a:t>
            </a:r>
            <a:br>
              <a:rPr lang="en-US" altLang="tr-TR" sz="2200" dirty="0" smtClean="0"/>
            </a:br>
            <a:r>
              <a:rPr lang="en-US" altLang="tr-TR" sz="2200" dirty="0" smtClean="0"/>
              <a:t>using pointer syntax.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int * pa = new int[100];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b="1" noProof="1" smtClean="0">
              <a:solidFill>
                <a:srgbClr val="3333CC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pa[0]   </a:t>
            </a:r>
            <a:r>
              <a:rPr lang="en-US" altLang="tr-TR" sz="2200" b="1" noProof="1" smtClean="0"/>
              <a:t>and</a:t>
            </a:r>
            <a:r>
              <a:rPr lang="en-US" altLang="tr-TR" sz="22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   *pa   </a:t>
            </a:r>
            <a:r>
              <a:rPr lang="en-US" altLang="tr-TR" sz="2200" b="1" noProof="1" smtClean="0"/>
              <a:t>are the same things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b="1" noProof="1" smtClean="0">
              <a:solidFill>
                <a:srgbClr val="3333CC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b="1" noProof="1" smtClean="0"/>
              <a:t>What about </a:t>
            </a:r>
            <a:r>
              <a:rPr lang="en-US" altLang="tr-TR" sz="22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pa[1]</a:t>
            </a:r>
            <a:r>
              <a:rPr lang="en-US" altLang="tr-TR" sz="2200" b="1" noProof="1" smtClean="0"/>
              <a:t>?</a:t>
            </a:r>
            <a:r>
              <a:rPr lang="en-US" altLang="tr-TR" sz="22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b="1" noProof="1" smtClean="0"/>
              <a:t>	It is the same as   </a:t>
            </a:r>
            <a:r>
              <a:rPr lang="en-US" altLang="tr-TR" sz="22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*(pa+1)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/>
          </a:p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altLang="tr-TR" sz="2200" dirty="0" smtClean="0"/>
              <a:t>In general, </a:t>
            </a:r>
            <a:r>
              <a:rPr lang="en-US" altLang="tr-TR" sz="2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ptr+</a:t>
            </a:r>
            <a:r>
              <a:rPr lang="en-US" altLang="tr-TR" sz="2200" i="1" dirty="0" err="1" smtClean="0">
                <a:cs typeface="Courier New" panose="02070309020205020404" pitchFamily="49" charset="0"/>
              </a:rPr>
              <a:t>x</a:t>
            </a:r>
            <a:r>
              <a:rPr lang="en-US" altLang="tr-TR" sz="2200" dirty="0" smtClean="0"/>
              <a:t> means, the </a:t>
            </a:r>
            <a:r>
              <a:rPr lang="en-US" altLang="tr-TR" sz="2200" i="1" dirty="0" err="1" smtClean="0">
                <a:cs typeface="Courier New" panose="02070309020205020404" pitchFamily="49" charset="0"/>
              </a:rPr>
              <a:t>x</a:t>
            </a:r>
            <a:r>
              <a:rPr lang="en-US" altLang="tr-TR" sz="2200" baseline="30000" dirty="0" err="1" smtClean="0"/>
              <a:t>th</a:t>
            </a:r>
            <a:r>
              <a:rPr lang="en-US" altLang="tr-TR" sz="2200" dirty="0" smtClean="0"/>
              <a:t> memory location </a:t>
            </a:r>
            <a:br>
              <a:rPr lang="en-US" altLang="tr-TR" sz="2200" dirty="0" smtClean="0"/>
            </a:br>
            <a:r>
              <a:rPr lang="en-US" altLang="tr-TR" sz="2200" dirty="0" smtClean="0"/>
              <a:t>(of the type of </a:t>
            </a:r>
            <a:r>
              <a:rPr lang="en-US" altLang="tr-TR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tr-TR" sz="2200" dirty="0" smtClean="0"/>
              <a:t>) in the memory after </a:t>
            </a:r>
            <a:r>
              <a:rPr lang="en-US" altLang="tr-TR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ptr.</a:t>
            </a:r>
            <a:endParaRPr lang="en-US" altLang="tr-TR" sz="22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b="1" noProof="1" smtClean="0"/>
              <a:t>What about </a:t>
            </a:r>
            <a:r>
              <a:rPr lang="en-US" altLang="tr-TR" sz="22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pa[500]</a:t>
            </a:r>
            <a:r>
              <a:rPr lang="en-US" altLang="tr-TR" sz="2200" b="1" noProof="1" smtClean="0"/>
              <a:t>?</a:t>
            </a:r>
            <a:endParaRPr lang="en-US" altLang="tr-TR" sz="2200" b="1" noProof="1" smtClean="0">
              <a:solidFill>
                <a:srgbClr val="3333CC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b="1" noProof="1" smtClean="0">
                <a:solidFill>
                  <a:srgbClr val="3333CC"/>
                </a:solidFill>
                <a:latin typeface="Courier New" panose="02070309020205020404" pitchFamily="49" charset="0"/>
              </a:rPr>
              <a:t>	</a:t>
            </a:r>
            <a:r>
              <a:rPr lang="en-US" altLang="tr-TR" sz="2200" b="1" noProof="1" smtClean="0"/>
              <a:t>Try and see! Also try other values larger than 99!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E0F6FB-AA2C-4DC2-A945-D8DF9958512E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Pointers for Implementing </a:t>
            </a:r>
            <a:br>
              <a:rPr lang="en-US" smtClean="0"/>
            </a:br>
            <a:r>
              <a:rPr lang="en-US" smtClean="0"/>
              <a:t>Linked Data Structures</a:t>
            </a:r>
            <a:endParaRPr lang="en-US" dirty="0" smtClean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tr-TR" smtClean="0"/>
          </a:p>
        </p:txBody>
      </p:sp>
      <p:sp>
        <p:nvSpPr>
          <p:cNvPr id="5018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A1C406-55AB-4AF5-93AF-11E39D86B09E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Linked Lists</a:t>
            </a:r>
            <a:endParaRPr lang="en-US" dirty="0" smtClean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908720"/>
            <a:ext cx="8732838" cy="57635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endParaRPr lang="en-US" altLang="tr-TR" sz="1800" dirty="0" smtClean="0"/>
          </a:p>
          <a:p>
            <a:pPr>
              <a:lnSpc>
                <a:spcPct val="90000"/>
              </a:lnSpc>
              <a:buNone/>
            </a:pPr>
            <a:r>
              <a:rPr lang="en-US" altLang="tr-TR" sz="1800" dirty="0" smtClean="0">
                <a:solidFill>
                  <a:srgbClr val="CC0000"/>
                </a:solidFill>
              </a:rPr>
              <a:t>Built-in Arrays:</a:t>
            </a:r>
            <a:r>
              <a:rPr lang="en-US" altLang="tr-TR" sz="1800" dirty="0"/>
              <a:t>	</a:t>
            </a:r>
            <a:r>
              <a:rPr lang="tr-TR" altLang="tr-TR" sz="1800" dirty="0" smtClean="0"/>
              <a:t>+ </a:t>
            </a:r>
            <a:r>
              <a:rPr lang="en-US" altLang="tr-TR" sz="1800" dirty="0"/>
              <a:t>ease of use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1800" dirty="0" smtClean="0"/>
              <a:t>			</a:t>
            </a:r>
            <a:r>
              <a:rPr lang="tr-TR" altLang="tr-TR" sz="1800" dirty="0" smtClean="0"/>
              <a:t>-  </a:t>
            </a:r>
            <a:r>
              <a:rPr lang="en-US" altLang="tr-TR" sz="1800" dirty="0" smtClean="0"/>
              <a:t>too much or too little memory may be allocated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1800" dirty="0" smtClean="0"/>
              <a:t>			</a:t>
            </a:r>
            <a:r>
              <a:rPr lang="tr-TR" altLang="tr-TR" sz="1800" dirty="0" smtClean="0"/>
              <a:t>-  </a:t>
            </a:r>
            <a:r>
              <a:rPr lang="en-US" altLang="tr-TR" sz="1800" dirty="0" smtClean="0"/>
              <a:t>inserting an element into a sorted array may require shifting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1800" dirty="0" smtClean="0"/>
              <a:t>				all the elements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1800" dirty="0" smtClean="0"/>
              <a:t>			</a:t>
            </a:r>
            <a:r>
              <a:rPr lang="tr-TR" altLang="tr-TR" sz="1800" dirty="0" smtClean="0"/>
              <a:t>-  </a:t>
            </a:r>
            <a:r>
              <a:rPr lang="en-US" altLang="tr-TR" sz="1800" dirty="0" smtClean="0"/>
              <a:t>deleting an element requires shifting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tr-TR" sz="11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1800" dirty="0" smtClean="0"/>
              <a:t>A side note: In standard C++, the length of a built-in array is </a:t>
            </a:r>
            <a:r>
              <a:rPr lang="en-US" altLang="tr-TR" sz="1800" dirty="0" err="1" smtClean="0"/>
              <a:t>contant</a:t>
            </a:r>
            <a:r>
              <a:rPr lang="en-US" altLang="tr-TR" sz="1800" dirty="0" smtClean="0"/>
              <a:t>/literal; this is also a disadvantage over vectors. However, some compilers (including G++ and Clang) adopted VLA (variable-length arrays) in which the size could be a variable or an expression that is evaluated in runtime.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tr-TR" sz="1800" dirty="0" smtClean="0"/>
          </a:p>
          <a:p>
            <a:pPr>
              <a:lnSpc>
                <a:spcPct val="90000"/>
              </a:lnSpc>
              <a:buNone/>
            </a:pPr>
            <a:r>
              <a:rPr lang="tr-TR" altLang="tr-TR" sz="1800" dirty="0" err="1" smtClean="0">
                <a:solidFill>
                  <a:srgbClr val="CC0000"/>
                </a:solidFill>
              </a:rPr>
              <a:t>Vectors</a:t>
            </a:r>
            <a:r>
              <a:rPr lang="tr-TR" altLang="tr-TR" sz="1800" dirty="0" smtClean="0">
                <a:solidFill>
                  <a:srgbClr val="CC0000"/>
                </a:solidFill>
              </a:rPr>
              <a:t> </a:t>
            </a:r>
            <a:r>
              <a:rPr lang="en-US" altLang="tr-TR" sz="1800" dirty="0" smtClean="0">
                <a:solidFill>
                  <a:srgbClr val="CC0000"/>
                </a:solidFill>
              </a:rPr>
              <a:t>:</a:t>
            </a:r>
            <a:r>
              <a:rPr lang="en-US" altLang="tr-TR" sz="1800" dirty="0" smtClean="0"/>
              <a:t>	</a:t>
            </a:r>
            <a:r>
              <a:rPr lang="tr-TR" altLang="tr-TR" sz="1800" dirty="0" smtClean="0"/>
              <a:t>	</a:t>
            </a:r>
            <a:r>
              <a:rPr lang="tr-TR" altLang="tr-TR" sz="1800" dirty="0"/>
              <a:t>+ </a:t>
            </a:r>
            <a:r>
              <a:rPr lang="en-US" altLang="tr-TR" sz="1800" dirty="0"/>
              <a:t> ease of use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1800" dirty="0" smtClean="0"/>
              <a:t>			</a:t>
            </a:r>
            <a:r>
              <a:rPr lang="tr-TR" altLang="tr-TR" sz="1800" dirty="0" smtClean="0"/>
              <a:t>+/- </a:t>
            </a:r>
            <a:r>
              <a:rPr lang="en-US" altLang="tr-TR" sz="1800" dirty="0" smtClean="0"/>
              <a:t>may be resized but inefficient</a:t>
            </a:r>
            <a:endParaRPr lang="tr-TR" altLang="tr-TR" sz="18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tr-TR" sz="1800" dirty="0" smtClean="0"/>
              <a:t>			-   </a:t>
            </a:r>
            <a:r>
              <a:rPr lang="en-US" altLang="tr-TR" sz="1800" dirty="0" smtClean="0"/>
              <a:t>still some space wasted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1800" dirty="0" smtClean="0"/>
              <a:t>			</a:t>
            </a:r>
            <a:r>
              <a:rPr lang="tr-TR" altLang="tr-TR" sz="1800" dirty="0" smtClean="0"/>
              <a:t>-   </a:t>
            </a:r>
            <a:r>
              <a:rPr lang="en-US" altLang="tr-TR" sz="1800" dirty="0" smtClean="0"/>
              <a:t>inserting an element into a sorted array may require shifting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1800" dirty="0" smtClean="0"/>
              <a:t>				all the elements </a:t>
            </a:r>
            <a:r>
              <a:rPr lang="tr-TR" altLang="tr-TR" sz="1800" dirty="0" smtClean="0"/>
              <a:t>(</a:t>
            </a:r>
            <a:r>
              <a:rPr lang="tr-TR" altLang="tr-TR" sz="1800" dirty="0" err="1" smtClean="0"/>
              <a:t>also</a:t>
            </a:r>
            <a:r>
              <a:rPr lang="tr-TR" altLang="tr-TR" sz="1800" dirty="0" smtClean="0"/>
              <a:t> </a:t>
            </a:r>
            <a:r>
              <a:rPr lang="tr-TR" altLang="tr-TR" sz="1800" dirty="0" err="1" smtClean="0"/>
              <a:t>for</a:t>
            </a:r>
            <a:r>
              <a:rPr lang="tr-TR" altLang="tr-TR" sz="1800" dirty="0" smtClean="0"/>
              <a:t> </a:t>
            </a:r>
            <a:r>
              <a:rPr lang="tr-TR" altLang="tr-TR" sz="1800" dirty="0" err="1" smtClean="0"/>
              <a:t>deletion</a:t>
            </a:r>
            <a:r>
              <a:rPr lang="tr-TR" altLang="tr-TR" sz="1800" dirty="0" smtClean="0"/>
              <a:t>)</a:t>
            </a:r>
            <a:endParaRPr lang="en-US" altLang="tr-TR" sz="1800" dirty="0" smtClean="0"/>
          </a:p>
          <a:p>
            <a:pPr>
              <a:lnSpc>
                <a:spcPct val="90000"/>
              </a:lnSpc>
              <a:buFontTx/>
              <a:buNone/>
            </a:pPr>
            <a:endParaRPr lang="en-US" altLang="tr-TR" sz="1800" dirty="0" smtClean="0"/>
          </a:p>
          <a:p>
            <a:pPr>
              <a:lnSpc>
                <a:spcPct val="90000"/>
              </a:lnSpc>
              <a:buFontTx/>
              <a:buNone/>
            </a:pPr>
            <a:endParaRPr lang="tr-TR" altLang="tr-TR" sz="16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tr-TR" sz="1800" dirty="0" smtClean="0"/>
              <a:t>			</a:t>
            </a:r>
          </a:p>
        </p:txBody>
      </p:sp>
      <p:sp>
        <p:nvSpPr>
          <p:cNvPr id="5222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334EBE-180A-4AB6-83AF-5C536E39E1E3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Linked Lists</a:t>
            </a:r>
            <a:endParaRPr lang="en-US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341438"/>
            <a:ext cx="8447088" cy="374374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dirty="0" smtClean="0"/>
              <a:t>One node per element, linked through pointers</a:t>
            </a:r>
            <a:endParaRPr lang="en-US" altLang="tr-TR" sz="2200" dirty="0" smtClean="0">
              <a:solidFill>
                <a:srgbClr val="CC0000"/>
              </a:solidFill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>
              <a:solidFill>
                <a:srgbClr val="CC0000"/>
              </a:solidFill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dirty="0" smtClean="0">
                <a:solidFill>
                  <a:srgbClr val="CC0000"/>
                </a:solidFill>
              </a:rPr>
              <a:t>Linked lists:</a:t>
            </a:r>
            <a:r>
              <a:rPr lang="en-US" altLang="tr-TR" sz="2200" dirty="0" smtClean="0"/>
              <a:t>	</a:t>
            </a:r>
            <a:r>
              <a:rPr lang="tr-TR" altLang="tr-TR" sz="2200" dirty="0" smtClean="0"/>
              <a:t>+ </a:t>
            </a:r>
            <a:r>
              <a:rPr lang="en-US" altLang="tr-TR" sz="2200" dirty="0" smtClean="0"/>
              <a:t>dynamic memory allocation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dirty="0" smtClean="0"/>
              <a:t>			</a:t>
            </a:r>
            <a:r>
              <a:rPr lang="tr-TR" altLang="tr-TR" sz="2200" dirty="0" smtClean="0"/>
              <a:t>+ </a:t>
            </a:r>
            <a:r>
              <a:rPr lang="en-US" altLang="tr-TR" sz="2200" dirty="0" smtClean="0"/>
              <a:t>insertion/deletion is cheap</a:t>
            </a:r>
            <a:r>
              <a:rPr lang="tr-TR" altLang="tr-TR" sz="2200" dirty="0" smtClean="0"/>
              <a:t> (</a:t>
            </a:r>
            <a:r>
              <a:rPr lang="tr-TR" altLang="tr-TR" sz="2200" dirty="0" err="1" smtClean="0"/>
              <a:t>no</a:t>
            </a:r>
            <a:r>
              <a:rPr lang="tr-TR" altLang="tr-TR" sz="2200" dirty="0" smtClean="0"/>
              <a:t> </a:t>
            </a:r>
            <a:r>
              <a:rPr lang="tr-TR" altLang="tr-TR" sz="2200" dirty="0" err="1" smtClean="0"/>
              <a:t>shifting</a:t>
            </a:r>
            <a:r>
              <a:rPr lang="tr-TR" altLang="tr-TR" sz="2200" dirty="0" smtClean="0"/>
              <a:t>)</a:t>
            </a:r>
            <a:endParaRPr lang="en-US" altLang="tr-TR" sz="22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dirty="0" smtClean="0"/>
              <a:t>			</a:t>
            </a:r>
            <a:r>
              <a:rPr lang="tr-TR" altLang="tr-TR" sz="2200" dirty="0" smtClean="0"/>
              <a:t>-  </a:t>
            </a:r>
            <a:r>
              <a:rPr lang="en-US" altLang="tr-TR" sz="2200" dirty="0" smtClean="0"/>
              <a:t>more tricky and burdensome to program with</a:t>
            </a:r>
            <a:endParaRPr lang="tr-TR" altLang="tr-TR" sz="2200" dirty="0"/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tr-TR" altLang="tr-TR" sz="2200" dirty="0" smtClean="0"/>
              <a:t>			-  </a:t>
            </a:r>
            <a:r>
              <a:rPr lang="tr-TR" altLang="tr-TR" sz="2200" dirty="0" err="1" smtClean="0"/>
              <a:t>one</a:t>
            </a:r>
            <a:r>
              <a:rPr lang="tr-TR" altLang="tr-TR" sz="2200" dirty="0" smtClean="0"/>
              <a:t> </a:t>
            </a:r>
            <a:r>
              <a:rPr lang="tr-TR" altLang="tr-TR" sz="2200" dirty="0" err="1" smtClean="0"/>
              <a:t>extra</a:t>
            </a:r>
            <a:r>
              <a:rPr lang="tr-TR" altLang="tr-TR" sz="2200" dirty="0" smtClean="0"/>
              <a:t> </a:t>
            </a:r>
            <a:r>
              <a:rPr lang="tr-TR" altLang="tr-TR" sz="2200" dirty="0" err="1" smtClean="0"/>
              <a:t>pointer</a:t>
            </a:r>
            <a:r>
              <a:rPr lang="tr-TR" altLang="tr-TR" sz="2200" dirty="0" smtClean="0"/>
              <a:t> is </a:t>
            </a:r>
            <a:r>
              <a:rPr lang="tr-TR" altLang="tr-TR" sz="2200" dirty="0" err="1" smtClean="0"/>
              <a:t>needed</a:t>
            </a:r>
            <a:r>
              <a:rPr lang="tr-TR" altLang="tr-TR" sz="2200" dirty="0" smtClean="0"/>
              <a:t> </a:t>
            </a:r>
            <a:r>
              <a:rPr lang="tr-TR" altLang="tr-TR" sz="2200" dirty="0" err="1" smtClean="0"/>
              <a:t>per</a:t>
            </a:r>
            <a:r>
              <a:rPr lang="tr-TR" altLang="tr-TR" sz="2200" dirty="0" smtClean="0"/>
              <a:t> element</a:t>
            </a:r>
            <a:endParaRPr lang="en-US" altLang="tr-TR" sz="22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2200" dirty="0" smtClean="0"/>
              <a:t>			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>
              <a:latin typeface="Arial Unicode MS" pitchFamily="34" charset="-128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2200" dirty="0" smtClean="0">
              <a:latin typeface="Arial Unicode MS" pitchFamily="34" charset="-128"/>
            </a:endParaRPr>
          </a:p>
        </p:txBody>
      </p:sp>
      <p:grpSp>
        <p:nvGrpSpPr>
          <p:cNvPr id="54276" name="Group 5"/>
          <p:cNvGrpSpPr>
            <a:grpSpLocks/>
          </p:cNvGrpSpPr>
          <p:nvPr/>
        </p:nvGrpSpPr>
        <p:grpSpPr bwMode="auto">
          <a:xfrm>
            <a:off x="4743450" y="1143000"/>
            <a:ext cx="3124200" cy="533400"/>
            <a:chOff x="2784" y="1152"/>
            <a:chExt cx="1968" cy="336"/>
          </a:xfrm>
        </p:grpSpPr>
        <p:sp>
          <p:nvSpPr>
            <p:cNvPr id="54282" name="Rectangle 6"/>
            <p:cNvSpPr>
              <a:spLocks noChangeArrowheads="1"/>
            </p:cNvSpPr>
            <p:nvPr/>
          </p:nvSpPr>
          <p:spPr bwMode="white">
            <a:xfrm>
              <a:off x="2784" y="1152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54283" name="Rectangle 7"/>
            <p:cNvSpPr>
              <a:spLocks noChangeArrowheads="1"/>
            </p:cNvSpPr>
            <p:nvPr/>
          </p:nvSpPr>
          <p:spPr bwMode="white">
            <a:xfrm>
              <a:off x="4320" y="1152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54284" name="Rectangle 8"/>
            <p:cNvSpPr>
              <a:spLocks noChangeArrowheads="1"/>
            </p:cNvSpPr>
            <p:nvPr/>
          </p:nvSpPr>
          <p:spPr bwMode="white">
            <a:xfrm>
              <a:off x="3552" y="1152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54285" name="Line 9"/>
            <p:cNvSpPr>
              <a:spLocks noChangeShapeType="1"/>
            </p:cNvSpPr>
            <p:nvPr/>
          </p:nvSpPr>
          <p:spPr bwMode="white">
            <a:xfrm>
              <a:off x="3216" y="12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286" name="Line 10"/>
            <p:cNvSpPr>
              <a:spLocks noChangeShapeType="1"/>
            </p:cNvSpPr>
            <p:nvPr/>
          </p:nvSpPr>
          <p:spPr bwMode="white">
            <a:xfrm>
              <a:off x="3984" y="12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54277" name="Line 11"/>
          <p:cNvSpPr>
            <a:spLocks noChangeShapeType="1"/>
          </p:cNvSpPr>
          <p:nvPr/>
        </p:nvSpPr>
        <p:spPr bwMode="white">
          <a:xfrm flipV="1">
            <a:off x="4210050" y="1371600"/>
            <a:ext cx="500063" cy="185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279" name="Text Box 14"/>
          <p:cNvSpPr txBox="1">
            <a:spLocks noChangeArrowheads="1"/>
          </p:cNvSpPr>
          <p:nvPr/>
        </p:nvSpPr>
        <p:spPr bwMode="white">
          <a:xfrm>
            <a:off x="3644900" y="1525588"/>
            <a:ext cx="7651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head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595983" name="Text Box 15"/>
          <p:cNvSpPr txBox="1">
            <a:spLocks noChangeArrowheads="1"/>
          </p:cNvSpPr>
          <p:nvPr/>
        </p:nvSpPr>
        <p:spPr bwMode="white">
          <a:xfrm>
            <a:off x="228600" y="4111625"/>
            <a:ext cx="1841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800">
              <a:solidFill>
                <a:srgbClr val="3333CC"/>
              </a:solidFill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54281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59BA2C-6BD9-43DB-B582-574578A75B4D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  <p:sp>
        <p:nvSpPr>
          <p:cNvPr id="19" name="Line 24"/>
          <p:cNvSpPr>
            <a:spLocks noChangeShapeType="1"/>
          </p:cNvSpPr>
          <p:nvPr/>
        </p:nvSpPr>
        <p:spPr bwMode="auto">
          <a:xfrm>
            <a:off x="8324244" y="1406104"/>
            <a:ext cx="0" cy="246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5"/>
          <p:cNvSpPr>
            <a:spLocks noChangeShapeType="1"/>
          </p:cNvSpPr>
          <p:nvPr/>
        </p:nvSpPr>
        <p:spPr bwMode="auto">
          <a:xfrm flipV="1">
            <a:off x="8202006" y="1677566"/>
            <a:ext cx="258763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" name="Group 30"/>
          <p:cNvGrpSpPr>
            <a:grpSpLocks/>
          </p:cNvGrpSpPr>
          <p:nvPr/>
        </p:nvGrpSpPr>
        <p:grpSpPr bwMode="auto">
          <a:xfrm>
            <a:off x="7874981" y="1391816"/>
            <a:ext cx="533400" cy="381000"/>
            <a:chOff x="4875" y="3404"/>
            <a:chExt cx="336" cy="240"/>
          </a:xfrm>
        </p:grpSpPr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4875" y="3404"/>
              <a:ext cx="2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6"/>
            <p:cNvSpPr>
              <a:spLocks noChangeShapeType="1"/>
            </p:cNvSpPr>
            <p:nvPr/>
          </p:nvSpPr>
          <p:spPr bwMode="auto">
            <a:xfrm flipV="1">
              <a:off x="5124" y="3611"/>
              <a:ext cx="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 flipV="1">
              <a:off x="5133" y="3642"/>
              <a:ext cx="6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8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Introduction to linked lists: </a:t>
            </a:r>
            <a:r>
              <a:rPr lang="en-US" smtClean="0">
                <a:solidFill>
                  <a:srgbClr val="CC0000"/>
                </a:solidFill>
              </a:rPr>
              <a:t>definition</a:t>
            </a:r>
            <a:endParaRPr lang="en-US" dirty="0" smtClean="0">
              <a:solidFill>
                <a:srgbClr val="CC0000"/>
              </a:solidFill>
            </a:endParaRPr>
          </a:p>
        </p:txBody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95288" y="1295400"/>
            <a:ext cx="8443912" cy="48863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dirty="0" smtClean="0"/>
              <a:t>A linked list is a </a:t>
            </a:r>
            <a:r>
              <a:rPr lang="en-US" altLang="tr-TR" b="1" i="1" dirty="0" smtClean="0"/>
              <a:t>chain</a:t>
            </a:r>
            <a:r>
              <a:rPr lang="en-US" altLang="tr-TR" dirty="0" smtClean="0"/>
              <a:t> of nodes. Let us define a node.</a:t>
            </a:r>
          </a:p>
          <a:p>
            <a:pPr>
              <a:buFontTx/>
              <a:buNone/>
            </a:pPr>
            <a:r>
              <a:rPr lang="en-US" altLang="tr-TR" dirty="0" smtClean="0"/>
              <a:t>Consider the following </a:t>
            </a:r>
            <a:r>
              <a:rPr lang="en-US" altLang="tr-TR" dirty="0" err="1" smtClean="0"/>
              <a:t>struct</a:t>
            </a:r>
            <a:r>
              <a:rPr lang="en-US" altLang="tr-TR" dirty="0" smtClean="0"/>
              <a:t> definition</a:t>
            </a:r>
          </a:p>
          <a:p>
            <a:pPr>
              <a:buFontTx/>
              <a:buNone/>
            </a:pPr>
            <a:endParaRPr lang="en-US" altLang="tr-TR" dirty="0" smtClean="0"/>
          </a:p>
          <a:p>
            <a:pPr lvl="1">
              <a:buFontTx/>
              <a:buNone/>
            </a:pPr>
            <a:r>
              <a:rPr lang="en-US" altLang="tr-TR" sz="1800" b="1" dirty="0" err="1" smtClean="0">
                <a:latin typeface="Courier New" panose="02070309020205020404" pitchFamily="49" charset="0"/>
              </a:rPr>
              <a:t>struct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 </a:t>
            </a:r>
            <a:r>
              <a:rPr lang="en-US" altLang="tr-TR" sz="18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node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	  //node is a user given name</a:t>
            </a:r>
          </a:p>
          <a:p>
            <a:pPr lvl="1">
              <a:buFontTx/>
              <a:buNone/>
            </a:pPr>
            <a:r>
              <a:rPr lang="en-US" altLang="tr-TR" sz="1800" b="1" dirty="0" smtClean="0">
                <a:latin typeface="Courier New" panose="02070309020205020404" pitchFamily="49" charset="0"/>
              </a:rPr>
              <a:t>{</a:t>
            </a:r>
          </a:p>
          <a:p>
            <a:pPr lvl="1">
              <a:buFontTx/>
              <a:buNone/>
            </a:pPr>
            <a:r>
              <a:rPr lang="en-US" altLang="tr-TR" sz="1800" b="1" dirty="0" smtClean="0">
                <a:latin typeface="Courier New" panose="02070309020205020404" pitchFamily="49" charset="0"/>
              </a:rPr>
              <a:t>	string 	word;</a:t>
            </a:r>
          </a:p>
          <a:p>
            <a:pPr lvl="1">
              <a:buFontTx/>
              <a:buNone/>
            </a:pPr>
            <a:r>
              <a:rPr lang="en-US" altLang="tr-TR" sz="1800" b="1" dirty="0" smtClean="0">
                <a:latin typeface="Courier New" panose="02070309020205020404" pitchFamily="49" charset="0"/>
              </a:rPr>
              <a:t>	</a:t>
            </a:r>
            <a:r>
              <a:rPr lang="en-US" altLang="tr-TR" sz="1800" b="1" dirty="0" err="1" smtClean="0">
                <a:latin typeface="Courier New" panose="02070309020205020404" pitchFamily="49" charset="0"/>
              </a:rPr>
              <a:t>int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 	</a:t>
            </a:r>
            <a:r>
              <a:rPr lang="en-US" altLang="tr-TR" sz="1800" b="1" dirty="0" err="1" smtClean="0">
                <a:latin typeface="Courier New" panose="02070309020205020404" pitchFamily="49" charset="0"/>
              </a:rPr>
              <a:t>num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tr-TR" sz="1800" b="1" dirty="0" smtClean="0">
                <a:latin typeface="Courier New" panose="02070309020205020404" pitchFamily="49" charset="0"/>
              </a:rPr>
              <a:t>	</a:t>
            </a:r>
            <a:r>
              <a:rPr lang="en-US" altLang="tr-TR" sz="18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node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 * next;  //  pointer for the next node</a:t>
            </a:r>
          </a:p>
          <a:p>
            <a:pPr lvl="1">
              <a:buFontTx/>
              <a:buNone/>
            </a:pPr>
            <a:r>
              <a:rPr lang="en-US" altLang="tr-TR" sz="1800" b="1" dirty="0" smtClean="0">
                <a:latin typeface="Courier New" panose="02070309020205020404" pitchFamily="49" charset="0"/>
              </a:rPr>
              <a:t>};</a:t>
            </a:r>
          </a:p>
          <a:p>
            <a:pPr lvl="1">
              <a:buFontTx/>
              <a:buNone/>
            </a:pPr>
            <a:endParaRPr lang="en-US" altLang="tr-TR" sz="1800" b="1" dirty="0" smtClean="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tr-TR" sz="18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node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 *  p = new node;</a:t>
            </a:r>
          </a:p>
          <a:p>
            <a:pPr>
              <a:buFontTx/>
              <a:buNone/>
            </a:pPr>
            <a:endParaRPr lang="en-US" altLang="tr-TR" dirty="0" smtClean="0">
              <a:latin typeface="Courier New" panose="02070309020205020404" pitchFamily="49" charset="0"/>
            </a:endParaRPr>
          </a:p>
        </p:txBody>
      </p:sp>
      <p:sp>
        <p:nvSpPr>
          <p:cNvPr id="56324" name="Text Box 1028"/>
          <p:cNvSpPr txBox="1">
            <a:spLocks noChangeArrowheads="1"/>
          </p:cNvSpPr>
          <p:nvPr/>
        </p:nvSpPr>
        <p:spPr bwMode="auto">
          <a:xfrm>
            <a:off x="6373813" y="4148138"/>
            <a:ext cx="1527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56325" name="Rectangle 1029"/>
          <p:cNvSpPr>
            <a:spLocks noChangeArrowheads="1"/>
          </p:cNvSpPr>
          <p:nvPr/>
        </p:nvSpPr>
        <p:spPr bwMode="auto">
          <a:xfrm>
            <a:off x="5066928" y="5289128"/>
            <a:ext cx="8731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?</a:t>
            </a:r>
          </a:p>
        </p:txBody>
      </p:sp>
      <p:sp>
        <p:nvSpPr>
          <p:cNvPr id="56326" name="Rectangle 1030"/>
          <p:cNvSpPr>
            <a:spLocks noChangeArrowheads="1"/>
          </p:cNvSpPr>
          <p:nvPr/>
        </p:nvSpPr>
        <p:spPr bwMode="auto">
          <a:xfrm>
            <a:off x="5940053" y="5289128"/>
            <a:ext cx="1214437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?</a:t>
            </a:r>
          </a:p>
        </p:txBody>
      </p:sp>
      <p:sp>
        <p:nvSpPr>
          <p:cNvPr id="56327" name="Rectangle 1031"/>
          <p:cNvSpPr>
            <a:spLocks noChangeArrowheads="1"/>
          </p:cNvSpPr>
          <p:nvPr/>
        </p:nvSpPr>
        <p:spPr bwMode="auto">
          <a:xfrm>
            <a:off x="7154490" y="5289128"/>
            <a:ext cx="5048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56328" name="Text Box 1032"/>
          <p:cNvSpPr txBox="1">
            <a:spLocks noChangeArrowheads="1"/>
          </p:cNvSpPr>
          <p:nvPr/>
        </p:nvSpPr>
        <p:spPr bwMode="auto">
          <a:xfrm>
            <a:off x="5187578" y="6013028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num</a:t>
            </a:r>
          </a:p>
        </p:txBody>
      </p:sp>
      <p:sp>
        <p:nvSpPr>
          <p:cNvPr id="56329" name="Text Box 1033"/>
          <p:cNvSpPr txBox="1">
            <a:spLocks noChangeArrowheads="1"/>
          </p:cNvSpPr>
          <p:nvPr/>
        </p:nvSpPr>
        <p:spPr bwMode="auto">
          <a:xfrm>
            <a:off x="6062290" y="5986041"/>
            <a:ext cx="1106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word</a:t>
            </a:r>
          </a:p>
        </p:txBody>
      </p:sp>
      <p:sp>
        <p:nvSpPr>
          <p:cNvPr id="56330" name="Text Box 1034"/>
          <p:cNvSpPr txBox="1">
            <a:spLocks noChangeArrowheads="1"/>
          </p:cNvSpPr>
          <p:nvPr/>
        </p:nvSpPr>
        <p:spPr bwMode="auto">
          <a:xfrm>
            <a:off x="7044953" y="5998741"/>
            <a:ext cx="833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tr-TR" altLang="tr-TR" sz="1800">
                <a:latin typeface="Courier New" panose="02070309020205020404" pitchFamily="49" charset="0"/>
              </a:rPr>
              <a:t>next</a:t>
            </a: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56331" name="Rectangle 1035"/>
          <p:cNvSpPr>
            <a:spLocks noChangeArrowheads="1"/>
          </p:cNvSpPr>
          <p:nvPr/>
        </p:nvSpPr>
        <p:spPr bwMode="auto">
          <a:xfrm>
            <a:off x="3633415" y="5330403"/>
            <a:ext cx="573088" cy="587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56332" name="Line 1036"/>
          <p:cNvSpPr>
            <a:spLocks noChangeShapeType="1"/>
          </p:cNvSpPr>
          <p:nvPr/>
        </p:nvSpPr>
        <p:spPr bwMode="auto">
          <a:xfrm>
            <a:off x="4220790" y="5644728"/>
            <a:ext cx="804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3" name="Line 1037"/>
          <p:cNvSpPr>
            <a:spLocks noChangeShapeType="1"/>
          </p:cNvSpPr>
          <p:nvPr/>
        </p:nvSpPr>
        <p:spPr bwMode="auto">
          <a:xfrm>
            <a:off x="7564065" y="5617741"/>
            <a:ext cx="546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4" name="Text Box 1038"/>
          <p:cNvSpPr txBox="1">
            <a:spLocks noChangeArrowheads="1"/>
          </p:cNvSpPr>
          <p:nvPr/>
        </p:nvSpPr>
        <p:spPr bwMode="auto">
          <a:xfrm>
            <a:off x="8162553" y="5427241"/>
            <a:ext cx="3698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?</a:t>
            </a:r>
          </a:p>
        </p:txBody>
      </p:sp>
      <p:sp>
        <p:nvSpPr>
          <p:cNvPr id="56335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64112" y="6350011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B95349-3F55-4E44-9183-F47CF2C54C8B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400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7078663" y="636905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84F5CA-C3B9-4723-B665-5267E49E92E1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CC0000"/>
                </a:solidFill>
              </a:rPr>
              <a:t>Reminder</a:t>
            </a:r>
            <a:r>
              <a:rPr lang="en-US" dirty="0" smtClean="0"/>
              <a:t>: </a:t>
            </a:r>
            <a:r>
              <a:rPr lang="en-US" dirty="0" err="1" smtClean="0"/>
              <a:t>structs</a:t>
            </a:r>
            <a:r>
              <a:rPr lang="en-US" dirty="0" smtClean="0"/>
              <a:t>: as data aggregates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 smtClean="0"/>
              <a:t> </a:t>
            </a:r>
            <a:r>
              <a:rPr lang="en-US" sz="1800" dirty="0" smtClean="0">
                <a:solidFill>
                  <a:srgbClr val="CC0000"/>
                </a:solidFill>
                <a:effectLst/>
              </a:rPr>
              <a:t>see Tapestry </a:t>
            </a:r>
            <a:r>
              <a:rPr lang="en-US" sz="1800" dirty="0" err="1" smtClean="0">
                <a:solidFill>
                  <a:srgbClr val="CC0000"/>
                </a:solidFill>
                <a:effectLst/>
              </a:rPr>
              <a:t>Chp</a:t>
            </a:r>
            <a:r>
              <a:rPr lang="en-US" sz="1800" dirty="0" smtClean="0">
                <a:solidFill>
                  <a:srgbClr val="CC0000"/>
                </a:solidFill>
                <a:effectLst/>
              </a:rPr>
              <a:t>. 7 pp. 329-334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68413"/>
            <a:ext cx="8839200" cy="5329237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r>
              <a:rPr lang="en-US" altLang="tr-TR" sz="1800" dirty="0" smtClean="0">
                <a:solidFill>
                  <a:srgbClr val="0000CC"/>
                </a:solidFill>
              </a:rPr>
              <a:t>If you need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to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create</a:t>
            </a:r>
            <a:r>
              <a:rPr lang="tr-TR" altLang="tr-TR" sz="1800" dirty="0" smtClean="0">
                <a:solidFill>
                  <a:srgbClr val="0000CC"/>
                </a:solidFill>
              </a:rPr>
              <a:t> a data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structure</a:t>
            </a:r>
            <a:r>
              <a:rPr lang="tr-TR" altLang="tr-TR" sz="1800" dirty="0" smtClean="0">
                <a:solidFill>
                  <a:srgbClr val="0000CC"/>
                </a:solidFill>
              </a:rPr>
              <a:t> in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order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to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combine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different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attributes</a:t>
            </a:r>
            <a:r>
              <a:rPr lang="tr-TR" altLang="tr-TR" sz="1800" dirty="0" smtClean="0">
                <a:solidFill>
                  <a:srgbClr val="0000CC"/>
                </a:solidFill>
              </a:rPr>
              <a:t> of a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concept</a:t>
            </a:r>
            <a:r>
              <a:rPr lang="tr-TR" altLang="tr-TR" sz="1800" dirty="0" smtClean="0">
                <a:solidFill>
                  <a:srgbClr val="0000CC"/>
                </a:solidFill>
              </a:rPr>
              <a:t>,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you</a:t>
            </a:r>
            <a:r>
              <a:rPr lang="tr-TR" altLang="tr-TR" sz="1800" dirty="0" smtClean="0">
                <a:solidFill>
                  <a:srgbClr val="0000CC"/>
                </a:solidFill>
              </a:rPr>
              <a:t> can </a:t>
            </a:r>
            <a:r>
              <a:rPr lang="tr-TR" altLang="tr-TR" sz="1800" dirty="0" err="1" smtClean="0">
                <a:solidFill>
                  <a:srgbClr val="0000CC"/>
                </a:solidFill>
                <a:latin typeface="Consolas" panose="020B0609020204030204" pitchFamily="49" charset="0"/>
              </a:rPr>
              <a:t>struct</a:t>
            </a:r>
            <a:r>
              <a:rPr lang="tr-TR" altLang="tr-TR" sz="1800" dirty="0" smtClean="0">
                <a:solidFill>
                  <a:srgbClr val="0000CC"/>
                </a:solidFill>
              </a:rPr>
              <a:t>.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These</a:t>
            </a:r>
            <a:r>
              <a:rPr lang="tr-TR" altLang="tr-TR" sz="1800" dirty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attributes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are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also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called</a:t>
            </a:r>
            <a:r>
              <a:rPr lang="tr-TR" altLang="tr-TR" sz="1800" dirty="0" smtClean="0">
                <a:solidFill>
                  <a:srgbClr val="0000CC"/>
                </a:solidFill>
              </a:rPr>
              <a:t> as "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tied</a:t>
            </a:r>
            <a:r>
              <a:rPr lang="tr-TR" altLang="tr-TR" sz="1800" dirty="0" smtClean="0">
                <a:solidFill>
                  <a:srgbClr val="0000CC"/>
                </a:solidFill>
              </a:rPr>
              <a:t>" data.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For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example</a:t>
            </a:r>
            <a:r>
              <a:rPr lang="tr-TR" altLang="tr-TR" sz="1800" dirty="0" smtClean="0">
                <a:solidFill>
                  <a:srgbClr val="0000CC"/>
                </a:solidFill>
              </a:rPr>
              <a:t>,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you</a:t>
            </a:r>
            <a:r>
              <a:rPr lang="tr-TR" altLang="tr-TR" sz="1800" dirty="0" smtClean="0">
                <a:solidFill>
                  <a:srgbClr val="0000CC"/>
                </a:solidFill>
              </a:rPr>
              <a:t> can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create</a:t>
            </a:r>
            <a:r>
              <a:rPr lang="tr-TR" altLang="tr-TR" sz="1800" dirty="0" smtClean="0">
                <a:solidFill>
                  <a:srgbClr val="0000CC"/>
                </a:solidFill>
              </a:rPr>
              <a:t> a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struct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for</a:t>
            </a:r>
            <a:r>
              <a:rPr lang="tr-TR" altLang="tr-TR" sz="1800" dirty="0" smtClean="0">
                <a:solidFill>
                  <a:srgbClr val="0000CC"/>
                </a:solidFill>
              </a:rPr>
              <a:t> a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student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and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store</a:t>
            </a:r>
            <a:r>
              <a:rPr lang="tr-TR" altLang="tr-TR" sz="1800" dirty="0" smtClean="0">
                <a:solidFill>
                  <a:srgbClr val="0000CC"/>
                </a:solidFill>
              </a:rPr>
              <a:t> a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student's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id</a:t>
            </a:r>
            <a:r>
              <a:rPr lang="tr-TR" altLang="tr-TR" sz="1800" dirty="0" smtClean="0">
                <a:solidFill>
                  <a:srgbClr val="0000CC"/>
                </a:solidFill>
              </a:rPr>
              <a:t>,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grade</a:t>
            </a:r>
            <a:r>
              <a:rPr lang="tr-TR" altLang="tr-TR" sz="1800" dirty="0" smtClean="0">
                <a:solidFill>
                  <a:srgbClr val="0000CC"/>
                </a:solidFill>
              </a:rPr>
              <a:t>,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address</a:t>
            </a:r>
            <a:r>
              <a:rPr lang="tr-TR" altLang="tr-TR" sz="1800" dirty="0">
                <a:solidFill>
                  <a:srgbClr val="0000CC"/>
                </a:solidFill>
              </a:rPr>
              <a:t> </a:t>
            </a:r>
            <a:r>
              <a:rPr lang="tr-TR" altLang="tr-TR" sz="1800" dirty="0" smtClean="0">
                <a:solidFill>
                  <a:srgbClr val="0000CC"/>
                </a:solidFill>
              </a:rPr>
              <a:t>in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this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struct</a:t>
            </a:r>
            <a:r>
              <a:rPr lang="tr-TR" altLang="tr-TR" sz="1800" dirty="0" smtClean="0">
                <a:solidFill>
                  <a:srgbClr val="0000CC"/>
                </a:solidFill>
              </a:rPr>
              <a:t>.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Another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example</a:t>
            </a:r>
            <a:r>
              <a:rPr lang="tr-TR" altLang="tr-TR" sz="1800" dirty="0" smtClean="0">
                <a:solidFill>
                  <a:srgbClr val="0000CC"/>
                </a:solidFill>
              </a:rPr>
              <a:t> </a:t>
            </a:r>
            <a:r>
              <a:rPr lang="tr-TR" altLang="tr-TR" sz="1800" dirty="0" err="1" smtClean="0">
                <a:solidFill>
                  <a:srgbClr val="0000CC"/>
                </a:solidFill>
              </a:rPr>
              <a:t>follows</a:t>
            </a:r>
            <a:r>
              <a:rPr lang="tr-TR" altLang="tr-TR" sz="1800" dirty="0" smtClean="0">
                <a:solidFill>
                  <a:srgbClr val="0000CC"/>
                </a:solidFill>
              </a:rPr>
              <a:t>:</a:t>
            </a:r>
            <a:endParaRPr lang="en-US" altLang="tr-TR" sz="1800" dirty="0" smtClean="0">
              <a:solidFill>
                <a:srgbClr val="0000CC"/>
              </a:solidFill>
            </a:endParaRPr>
          </a:p>
          <a:p>
            <a:pPr>
              <a:buFontTx/>
              <a:buNone/>
              <a:defRPr/>
            </a:pPr>
            <a:endParaRPr lang="en-US" altLang="tr-TR" sz="1800" dirty="0" smtClean="0">
              <a:solidFill>
                <a:srgbClr val="0000CC"/>
              </a:solidFill>
            </a:endParaRPr>
          </a:p>
          <a:p>
            <a:pPr lvl="1">
              <a:buFontTx/>
              <a:buNone/>
              <a:defRPr/>
            </a:pP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tr-TR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point</a:t>
            </a:r>
            <a:r>
              <a:rPr lang="tr-TR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tr-TR" altLang="tr-TR" sz="15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</a:t>
            </a:r>
            <a:r>
              <a:rPr lang="tr-TR" altLang="tr-TR" sz="15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altLang="tr-TR" sz="15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altLang="tr-TR" sz="15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tr-TR" altLang="tr-TR" sz="15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tr-TR" altLang="tr-TR" sz="15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tr-TR" altLang="tr-TR" sz="15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2D </a:t>
            </a:r>
            <a:r>
              <a:rPr lang="tr-TR" altLang="tr-TR" sz="15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space</a:t>
            </a:r>
            <a:endParaRPr lang="en-US" altLang="tr-TR" sz="1500" b="1" dirty="0" smtClean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Tx/>
              <a:buNone/>
              <a:defRPr/>
            </a:pP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3">
              <a:buFontTx/>
              <a:buNone/>
              <a:defRPr/>
            </a:pP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tr-TR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x_coord</a:t>
            </a: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3">
              <a:buFontTx/>
              <a:buNone/>
              <a:defRPr/>
            </a:pP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tr-TR" sz="1500" b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y_coord</a:t>
            </a: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  <a:defRPr/>
            </a:pP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tr-TR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tr-TR" sz="1500" b="1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FontTx/>
              <a:buNone/>
              <a:defRPr/>
            </a:pPr>
            <a:endParaRPr lang="en-US" altLang="tr-TR" sz="1500" b="1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Tx/>
              <a:buNone/>
              <a:defRPr/>
            </a:pP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point  p1, p2;</a:t>
            </a:r>
          </a:p>
          <a:p>
            <a:pPr lvl="1">
              <a:buFontTx/>
              <a:buNone/>
              <a:defRPr/>
            </a:pPr>
            <a:endParaRPr lang="en-US" altLang="tr-TR" sz="1500" b="1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Tx/>
              <a:buNone/>
              <a:defRPr/>
            </a:pP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p1.x_coord = 10.0;	</a:t>
            </a:r>
            <a:r>
              <a:rPr lang="en-US" altLang="tr-TR" sz="15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//access members using the dot notation</a:t>
            </a:r>
          </a:p>
          <a:p>
            <a:pPr lvl="1">
              <a:buFontTx/>
              <a:buNone/>
              <a:defRPr/>
            </a:pPr>
            <a:r>
              <a:rPr lang="en-US" altLang="tr-TR" sz="15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p1.y_coord = 0.0;</a:t>
            </a:r>
          </a:p>
          <a:p>
            <a:pPr lvl="1">
              <a:buFontTx/>
              <a:buNone/>
              <a:defRPr/>
            </a:pPr>
            <a:r>
              <a:rPr lang="en-US" altLang="tr-TR" sz="1600" dirty="0" smtClean="0"/>
              <a:t>		</a:t>
            </a:r>
          </a:p>
          <a:p>
            <a:pPr>
              <a:buFontTx/>
              <a:buNone/>
              <a:defRPr/>
            </a:pPr>
            <a:r>
              <a:rPr lang="en-US" altLang="tr-TR" sz="1600" dirty="0" smtClean="0">
                <a:solidFill>
                  <a:srgbClr val="CC0000"/>
                </a:solidFill>
              </a:rPr>
              <a:t>Very similar to classes - but no member functions. </a:t>
            </a:r>
            <a:r>
              <a:rPr lang="en-US" altLang="tr-TR" sz="1600" dirty="0" smtClean="0">
                <a:solidFill>
                  <a:srgbClr val="0000CC"/>
                </a:solidFill>
              </a:rPr>
              <a:t>You should use </a:t>
            </a:r>
            <a:r>
              <a:rPr lang="en-US" altLang="tr-TR" sz="1600" dirty="0" err="1" smtClean="0">
                <a:solidFill>
                  <a:srgbClr val="0000CC"/>
                </a:solidFill>
              </a:rPr>
              <a:t>structs</a:t>
            </a:r>
            <a:r>
              <a:rPr lang="en-US" altLang="tr-TR" sz="1600" dirty="0" smtClean="0">
                <a:solidFill>
                  <a:srgbClr val="0000CC"/>
                </a:solidFill>
              </a:rPr>
              <a:t> rather than classes only when you want to use them as data aggregates</a:t>
            </a:r>
            <a:r>
              <a:rPr lang="en-US" altLang="tr-TR" sz="1600" dirty="0" smtClean="0">
                <a:solidFill>
                  <a:srgbClr val="CC0000"/>
                </a:solidFill>
              </a:rPr>
              <a:t>, without any member function (you may have a constructor though, see the next slide).</a:t>
            </a:r>
          </a:p>
          <a:p>
            <a:pPr>
              <a:buFontTx/>
              <a:buNone/>
              <a:defRPr/>
            </a:pPr>
            <a:r>
              <a:rPr lang="en-US" altLang="tr-TR" sz="1600" dirty="0" smtClean="0">
                <a:solidFill>
                  <a:srgbClr val="CC0000"/>
                </a:solidFill>
              </a:rPr>
              <a:t>Well, it is possible to have member functions for </a:t>
            </a:r>
            <a:r>
              <a:rPr lang="en-US" altLang="tr-TR" sz="1600" dirty="0" err="1" smtClean="0">
                <a:solidFill>
                  <a:srgbClr val="CC0000"/>
                </a:solidFill>
              </a:rPr>
              <a:t>structs</a:t>
            </a:r>
            <a:r>
              <a:rPr lang="en-US" altLang="tr-TR" sz="1600" dirty="0" smtClean="0">
                <a:solidFill>
                  <a:srgbClr val="CC0000"/>
                </a:solidFill>
              </a:rPr>
              <a:t>, but we will not use </a:t>
            </a:r>
            <a:r>
              <a:rPr lang="en-US" altLang="tr-TR" sz="1600" dirty="0" err="1" smtClean="0">
                <a:solidFill>
                  <a:srgbClr val="CC0000"/>
                </a:solidFill>
              </a:rPr>
              <a:t>structs</a:t>
            </a:r>
            <a:r>
              <a:rPr lang="en-US" altLang="tr-TR" sz="1600" dirty="0" smtClean="0">
                <a:solidFill>
                  <a:srgbClr val="CC0000"/>
                </a:solidFill>
              </a:rPr>
              <a:t> like that.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7059488" y="6356176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E3D551-69B1-4B62-80B3-7A2FFAE5C012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tr-TR" sz="1400" dirty="0" smtClean="0">
              <a:latin typeface="Times New Roman" panose="02020603050405020304" pitchFamily="18" charset="0"/>
            </a:endParaRPr>
          </a:p>
        </p:txBody>
      </p:sp>
      <p:sp>
        <p:nvSpPr>
          <p:cNvPr id="79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  Structs with </a:t>
            </a:r>
            <a:r>
              <a:rPr lang="en-US" smtClean="0">
                <a:solidFill>
                  <a:srgbClr val="339933"/>
                </a:solidFill>
              </a:rPr>
              <a:t>constructors </a:t>
            </a:r>
            <a:endParaRPr lang="en-US" dirty="0" smtClean="0">
              <a:solidFill>
                <a:srgbClr val="339933"/>
              </a:solidFill>
            </a:endParaRP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052513"/>
            <a:ext cx="5410200" cy="4886325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tr-TR" sz="1700" dirty="0" smtClean="0">
                <a:solidFill>
                  <a:srgbClr val="0000CC"/>
                </a:solidFill>
              </a:rPr>
              <a:t>If you define one or more  constructors: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err="1" smtClean="0"/>
              <a:t>struct</a:t>
            </a:r>
            <a:r>
              <a:rPr lang="en-US" altLang="tr-TR" sz="1500" b="1" dirty="0" smtClean="0"/>
              <a:t>  point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/>
              <a:t>	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/>
              <a:t>		double x;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/>
              <a:t>		double y;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/>
              <a:t>		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/>
              <a:t>	</a:t>
            </a:r>
            <a:r>
              <a:rPr lang="en-US" altLang="tr-TR" sz="1500" b="1" dirty="0" smtClean="0">
                <a:solidFill>
                  <a:srgbClr val="CC0000"/>
                </a:solidFill>
              </a:rPr>
              <a:t>	//default constructor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point ()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	x = 0;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	y = 0;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}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tr-TR" sz="1500" b="1" dirty="0" smtClean="0">
              <a:solidFill>
                <a:srgbClr val="339933"/>
              </a:solidFill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</a:t>
            </a:r>
            <a:r>
              <a:rPr lang="en-US" altLang="tr-TR" sz="1500" b="1" dirty="0" smtClean="0">
                <a:solidFill>
                  <a:srgbClr val="CC0000"/>
                </a:solidFill>
              </a:rPr>
              <a:t>//parametric constructor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point </a:t>
            </a:r>
            <a:r>
              <a:rPr lang="en-US" altLang="tr-TR" sz="1500" b="1" dirty="0" smtClean="0">
                <a:solidFill>
                  <a:srgbClr val="339933"/>
                </a:solidFill>
              </a:rPr>
              <a:t>(double </a:t>
            </a:r>
            <a:r>
              <a:rPr lang="en-US" altLang="tr-TR" sz="1500" b="1" dirty="0" err="1" smtClean="0">
                <a:solidFill>
                  <a:srgbClr val="339933"/>
                </a:solidFill>
              </a:rPr>
              <a:t>x_coord</a:t>
            </a:r>
            <a:r>
              <a:rPr lang="en-US" altLang="tr-TR" sz="1500" b="1" dirty="0" smtClean="0">
                <a:solidFill>
                  <a:srgbClr val="339933"/>
                </a:solidFill>
              </a:rPr>
              <a:t>, </a:t>
            </a:r>
            <a:r>
              <a:rPr lang="en-US" altLang="tr-TR" sz="1500" b="1" dirty="0" smtClean="0">
                <a:solidFill>
                  <a:srgbClr val="339933"/>
                </a:solidFill>
              </a:rPr>
              <a:t>double</a:t>
            </a:r>
            <a:r>
              <a:rPr lang="en-US" altLang="tr-TR" sz="1500" b="1" dirty="0" smtClean="0">
                <a:solidFill>
                  <a:srgbClr val="339933"/>
                </a:solidFill>
              </a:rPr>
              <a:t> </a:t>
            </a:r>
            <a:r>
              <a:rPr lang="en-US" altLang="tr-TR" sz="1500" b="1" dirty="0" err="1" smtClean="0">
                <a:solidFill>
                  <a:srgbClr val="339933"/>
                </a:solidFill>
              </a:rPr>
              <a:t>y_coord</a:t>
            </a:r>
            <a:r>
              <a:rPr lang="en-US" altLang="tr-TR" sz="1500" b="1" dirty="0" smtClean="0">
                <a:solidFill>
                  <a:srgbClr val="339933"/>
                </a:solidFill>
              </a:rPr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	: x (</a:t>
            </a:r>
            <a:r>
              <a:rPr lang="en-US" altLang="tr-TR" sz="1500" b="1" dirty="0" err="1" smtClean="0">
                <a:solidFill>
                  <a:srgbClr val="339933"/>
                </a:solidFill>
              </a:rPr>
              <a:t>x_coord</a:t>
            </a:r>
            <a:r>
              <a:rPr lang="en-US" altLang="tr-TR" sz="1500" b="1" dirty="0" smtClean="0">
                <a:solidFill>
                  <a:srgbClr val="339933"/>
                </a:solidFill>
              </a:rPr>
              <a:t>),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	  y (</a:t>
            </a:r>
            <a:r>
              <a:rPr lang="en-US" altLang="tr-TR" sz="1500" b="1" dirty="0" err="1" smtClean="0">
                <a:solidFill>
                  <a:srgbClr val="339933"/>
                </a:solidFill>
              </a:rPr>
              <a:t>y_coord</a:t>
            </a:r>
            <a:r>
              <a:rPr lang="en-US" altLang="tr-TR" sz="1500" b="1" dirty="0" smtClean="0">
                <a:solidFill>
                  <a:srgbClr val="339933"/>
                </a:solidFill>
              </a:rPr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{	//nothing more to initialize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>
                <a:solidFill>
                  <a:srgbClr val="339933"/>
                </a:solidFill>
              </a:rPr>
              <a:t>		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500" b="1" dirty="0" smtClean="0"/>
              <a:t>	};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700" dirty="0" smtClean="0"/>
              <a:t>	</a:t>
            </a:r>
            <a:endParaRPr lang="en-US" altLang="tr-TR" sz="1500" dirty="0" smtClean="0"/>
          </a:p>
        </p:txBody>
      </p:sp>
      <p:sp>
        <p:nvSpPr>
          <p:cNvPr id="60421" name="Text Box 4"/>
          <p:cNvSpPr txBox="1">
            <a:spLocks noChangeArrowheads="1"/>
          </p:cNvSpPr>
          <p:nvPr/>
        </p:nvSpPr>
        <p:spPr bwMode="white">
          <a:xfrm>
            <a:off x="5853568" y="773867"/>
            <a:ext cx="3093924" cy="381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b="1" dirty="0" err="1">
                <a:solidFill>
                  <a:srgbClr val="0000CC"/>
                </a:solidFill>
              </a:rPr>
              <a:t>Instead</a:t>
            </a:r>
            <a:r>
              <a:rPr lang="tr-TR" altLang="tr-TR" sz="1600" b="1" dirty="0">
                <a:solidFill>
                  <a:srgbClr val="0000CC"/>
                </a:solidFill>
              </a:rPr>
              <a:t> of: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tr-TR" altLang="tr-TR" sz="16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tr-TR" sz="1600" dirty="0"/>
              <a:t>point curve[100];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tr-TR" sz="1600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tr-TR" sz="1600" dirty="0"/>
              <a:t>curve[0]</a:t>
            </a:r>
            <a:r>
              <a:rPr lang="tr-TR" altLang="tr-TR" sz="1600" dirty="0"/>
              <a:t>.x = 0;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dirty="0" err="1"/>
              <a:t>curve</a:t>
            </a:r>
            <a:r>
              <a:rPr lang="tr-TR" altLang="tr-TR" sz="1600" dirty="0"/>
              <a:t>[0].y = 0;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dirty="0" err="1"/>
              <a:t>curve</a:t>
            </a:r>
            <a:r>
              <a:rPr lang="tr-TR" altLang="tr-TR" sz="1600" dirty="0"/>
              <a:t>[1].x = 7;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dirty="0" err="1"/>
              <a:t>curve</a:t>
            </a:r>
            <a:r>
              <a:rPr lang="tr-TR" altLang="tr-TR" sz="1600" dirty="0"/>
              <a:t>[1].y = 12</a:t>
            </a:r>
            <a:r>
              <a:rPr lang="tr-TR" altLang="tr-TR" sz="1600" dirty="0" smtClean="0"/>
              <a:t>;</a:t>
            </a:r>
            <a:endParaRPr lang="en-US" altLang="tr-TR" sz="1600" dirty="0" smtClean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tr-TR" sz="1600" dirty="0" smtClean="0"/>
              <a:t>curve[2]</a:t>
            </a:r>
            <a:r>
              <a:rPr lang="tr-TR" altLang="tr-TR" sz="1600" dirty="0"/>
              <a:t>.x = 0;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dirty="0" err="1" smtClean="0"/>
              <a:t>curve</a:t>
            </a:r>
            <a:r>
              <a:rPr lang="tr-TR" altLang="tr-TR" sz="1600" dirty="0" smtClean="0"/>
              <a:t>[</a:t>
            </a:r>
            <a:r>
              <a:rPr lang="en-US" altLang="tr-TR" sz="1600" dirty="0" smtClean="0"/>
              <a:t>2</a:t>
            </a:r>
            <a:r>
              <a:rPr lang="tr-TR" altLang="tr-TR" sz="1600" dirty="0" smtClean="0"/>
              <a:t>].</a:t>
            </a:r>
            <a:r>
              <a:rPr lang="tr-TR" altLang="tr-TR" sz="1600" dirty="0"/>
              <a:t>y = 0</a:t>
            </a:r>
            <a:r>
              <a:rPr lang="tr-TR" altLang="tr-TR" sz="1600" dirty="0" smtClean="0"/>
              <a:t>;</a:t>
            </a:r>
            <a:endParaRPr lang="tr-TR" altLang="tr-TR" sz="1600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dirty="0"/>
              <a:t>...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tr-TR" altLang="tr-TR" sz="1000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b="1" dirty="0" err="1">
                <a:solidFill>
                  <a:srgbClr val="0000CC"/>
                </a:solidFill>
              </a:rPr>
              <a:t>With</a:t>
            </a:r>
            <a:r>
              <a:rPr lang="tr-TR" altLang="tr-TR" sz="1600" b="1" dirty="0">
                <a:solidFill>
                  <a:srgbClr val="0000CC"/>
                </a:solidFill>
              </a:rPr>
              <a:t> </a:t>
            </a:r>
            <a:r>
              <a:rPr lang="tr-TR" altLang="tr-TR" sz="1600" b="1" dirty="0" err="1">
                <a:solidFill>
                  <a:srgbClr val="0000CC"/>
                </a:solidFill>
              </a:rPr>
              <a:t>the</a:t>
            </a:r>
            <a:r>
              <a:rPr lang="tr-TR" altLang="tr-TR" sz="1600" b="1" dirty="0">
                <a:solidFill>
                  <a:srgbClr val="0000CC"/>
                </a:solidFill>
              </a:rPr>
              <a:t> </a:t>
            </a:r>
            <a:r>
              <a:rPr lang="tr-TR" altLang="tr-TR" sz="1600" b="1" dirty="0" err="1">
                <a:solidFill>
                  <a:srgbClr val="0000CC"/>
                </a:solidFill>
              </a:rPr>
              <a:t>help</a:t>
            </a:r>
            <a:r>
              <a:rPr lang="tr-TR" altLang="tr-TR" sz="1600" b="1" dirty="0">
                <a:solidFill>
                  <a:srgbClr val="0000CC"/>
                </a:solidFill>
              </a:rPr>
              <a:t> of </a:t>
            </a:r>
            <a:r>
              <a:rPr lang="tr-TR" altLang="tr-TR" sz="1600" b="1" dirty="0" err="1">
                <a:solidFill>
                  <a:srgbClr val="0000CC"/>
                </a:solidFill>
              </a:rPr>
              <a:t>constructors</a:t>
            </a:r>
            <a:r>
              <a:rPr lang="tr-TR" altLang="tr-TR" sz="1600" b="1" dirty="0">
                <a:solidFill>
                  <a:srgbClr val="0000CC"/>
                </a:solidFill>
              </a:rPr>
              <a:t>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b="1" dirty="0" err="1">
                <a:solidFill>
                  <a:srgbClr val="0000CC"/>
                </a:solidFill>
              </a:rPr>
              <a:t>You</a:t>
            </a:r>
            <a:r>
              <a:rPr lang="tr-TR" altLang="tr-TR" sz="1600" b="1" dirty="0">
                <a:solidFill>
                  <a:srgbClr val="0000CC"/>
                </a:solidFill>
              </a:rPr>
              <a:t> can </a:t>
            </a:r>
            <a:r>
              <a:rPr lang="tr-TR" altLang="tr-TR" sz="1600" b="1" dirty="0" err="1">
                <a:solidFill>
                  <a:srgbClr val="0000CC"/>
                </a:solidFill>
              </a:rPr>
              <a:t>use</a:t>
            </a:r>
            <a:r>
              <a:rPr lang="tr-TR" altLang="tr-TR" sz="1600" b="1" dirty="0">
                <a:solidFill>
                  <a:srgbClr val="0000CC"/>
                </a:solidFill>
              </a:rPr>
              <a:t>: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tr-TR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2" name="Text Box 5"/>
          <p:cNvSpPr txBox="1">
            <a:spLocks noChangeArrowheads="1"/>
          </p:cNvSpPr>
          <p:nvPr/>
        </p:nvSpPr>
        <p:spPr bwMode="white">
          <a:xfrm>
            <a:off x="5881688" y="4221163"/>
            <a:ext cx="28511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tr-TR" sz="1600" dirty="0"/>
              <a:t>point curve[100];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dirty="0"/>
              <a:t>	// </a:t>
            </a:r>
            <a:r>
              <a:rPr lang="tr-TR" altLang="tr-TR" sz="1600" dirty="0" err="1"/>
              <a:t>all</a:t>
            </a:r>
            <a:r>
              <a:rPr lang="tr-TR" altLang="tr-TR" sz="1600" dirty="0"/>
              <a:t> </a:t>
            </a:r>
            <a:r>
              <a:rPr lang="tr-TR" altLang="tr-TR" sz="1600" dirty="0" err="1"/>
              <a:t>values</a:t>
            </a:r>
            <a:r>
              <a:rPr lang="tr-TR" altLang="tr-TR" sz="1600" dirty="0"/>
              <a:t> </a:t>
            </a:r>
            <a:r>
              <a:rPr lang="tr-TR" altLang="tr-TR" sz="1600" dirty="0" err="1"/>
              <a:t>are</a:t>
            </a:r>
            <a:r>
              <a:rPr lang="tr-TR" altLang="tr-TR" sz="1600" dirty="0"/>
              <a:t> 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tr-TR" sz="1600" dirty="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dirty="0" err="1"/>
              <a:t>curve</a:t>
            </a:r>
            <a:r>
              <a:rPr lang="tr-TR" altLang="tr-TR" sz="1600" dirty="0"/>
              <a:t>[1] = </a:t>
            </a:r>
            <a:r>
              <a:rPr lang="tr-TR" altLang="tr-TR" sz="1600" dirty="0" err="1"/>
              <a:t>point</a:t>
            </a:r>
            <a:r>
              <a:rPr lang="tr-TR" altLang="tr-TR" sz="1600" dirty="0"/>
              <a:t> (7, 12);</a:t>
            </a:r>
            <a:endParaRPr lang="en-US" altLang="tr-TR" sz="1600" dirty="0"/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600" dirty="0">
                <a:solidFill>
                  <a:srgbClr val="CC0000"/>
                </a:solidFill>
              </a:rPr>
              <a:t>	</a:t>
            </a:r>
            <a:endParaRPr lang="en-US" altLang="tr-TR" sz="24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3" name="Line 6"/>
          <p:cNvSpPr>
            <a:spLocks noChangeShapeType="1"/>
          </p:cNvSpPr>
          <p:nvPr/>
        </p:nvSpPr>
        <p:spPr bwMode="white">
          <a:xfrm>
            <a:off x="4648200" y="3581400"/>
            <a:ext cx="8382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250824" y="5373689"/>
            <a:ext cx="8482013" cy="1323439"/>
          </a:xfrm>
          <a:prstGeom prst="rect">
            <a:avLst/>
          </a:prstGeom>
          <a:noFill/>
          <a:ln w="9525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latin typeface="+mn-lt"/>
              </a:rPr>
              <a:t>General Remarks: 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600" dirty="0">
                <a:latin typeface="+mn-lt"/>
              </a:rPr>
              <a:t>If no constructor is used, it is </a:t>
            </a:r>
            <a:r>
              <a:rPr lang="en-US" sz="1600" dirty="0" smtClean="0">
                <a:latin typeface="+mn-lt"/>
              </a:rPr>
              <a:t>syntactically OK, but you can never know the initial values.</a:t>
            </a:r>
            <a:endParaRPr lang="en-US" sz="1600" dirty="0">
              <a:latin typeface="+mn-lt"/>
            </a:endParaRP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600" dirty="0">
                <a:latin typeface="+mn-lt"/>
              </a:rPr>
              <a:t>If you want to have a constructor with parameter, also write a default constructor.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600" dirty="0">
                <a:latin typeface="+mn-lt"/>
              </a:rPr>
              <a:t>If there is constructor, creating a </a:t>
            </a:r>
            <a:r>
              <a:rPr lang="en-US" sz="1600" dirty="0" err="1">
                <a:latin typeface="+mn-lt"/>
              </a:rPr>
              <a:t>struct</a:t>
            </a:r>
            <a:r>
              <a:rPr lang="en-US" sz="1600" dirty="0">
                <a:latin typeface="+mn-lt"/>
              </a:rPr>
              <a:t> (dynamic or normal) variable automatically calls default constructor (e.g. curve has 100 elements, all are (0,0) when created)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Introduction to linked lists: </a:t>
            </a:r>
            <a:r>
              <a:rPr lang="en-US" sz="3200" dirty="0" smtClean="0">
                <a:solidFill>
                  <a:srgbClr val="CC0000"/>
                </a:solidFill>
              </a:rPr>
              <a:t>adding a node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341438"/>
            <a:ext cx="8767763" cy="3314700"/>
          </a:xfrm>
        </p:spPr>
        <p:txBody>
          <a:bodyPr/>
          <a:lstStyle/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dirty="0" smtClean="0"/>
              <a:t>	</a:t>
            </a:r>
            <a:r>
              <a:rPr lang="en-US" altLang="tr-TR" sz="2200" u="sng" dirty="0" smtClean="0"/>
              <a:t>Without a constructor:</a:t>
            </a:r>
            <a:r>
              <a:rPr lang="en-US" altLang="tr-TR" sz="2200" dirty="0" smtClean="0"/>
              <a:t>              </a:t>
            </a:r>
            <a:r>
              <a:rPr lang="en-US" altLang="tr-TR" sz="2200" u="sng" dirty="0" smtClean="0"/>
              <a:t>With a constructor: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endParaRPr lang="en-US" altLang="tr-TR" sz="2200" u="sng" dirty="0" smtClean="0"/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dirty="0" smtClean="0">
                <a:latin typeface="Courier New" panose="02070309020205020404" pitchFamily="49" charset="0"/>
              </a:rPr>
              <a:t>  node *p; 		 </a:t>
            </a:r>
            <a:r>
              <a:rPr lang="tr-TR" altLang="tr-TR" sz="2200" dirty="0" smtClean="0">
                <a:latin typeface="Courier New" panose="02070309020205020404" pitchFamily="49" charset="0"/>
              </a:rPr>
              <a:t>   </a:t>
            </a:r>
            <a:r>
              <a:rPr lang="en-US" altLang="tr-TR" sz="2200" dirty="0" smtClean="0">
                <a:latin typeface="Courier New" panose="02070309020205020404" pitchFamily="49" charset="0"/>
              </a:rPr>
              <a:t>node * p;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dirty="0" smtClean="0">
                <a:latin typeface="Courier New" panose="02070309020205020404" pitchFamily="49" charset="0"/>
              </a:rPr>
              <a:t>	</a:t>
            </a:r>
            <a:r>
              <a:rPr lang="en-US" altLang="tr-TR" sz="2200" b="1" dirty="0" smtClean="0">
                <a:solidFill>
                  <a:srgbClr val="339933"/>
                </a:solidFill>
                <a:latin typeface="Courier New" panose="02070309020205020404" pitchFamily="49" charset="0"/>
              </a:rPr>
              <a:t>p = new node;          p=new node(5,"Ali",NULL);	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	p-&gt;</a:t>
            </a:r>
            <a:r>
              <a:rPr lang="en-US" altLang="tr-TR" sz="2200" b="1" dirty="0" err="1" smtClean="0">
                <a:solidFill>
                  <a:srgbClr val="CC0000"/>
                </a:solidFill>
                <a:latin typeface="Courier New" panose="02070309020205020404" pitchFamily="49" charset="0"/>
              </a:rPr>
              <a:t>num</a:t>
            </a:r>
            <a:r>
              <a:rPr lang="en-US" altLang="tr-TR" sz="22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= 5;  		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	p-&gt;word = "Ali";	 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	p-&gt;next = NULL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endParaRPr lang="en-US" altLang="tr-TR" sz="2200" b="1" dirty="0" smtClean="0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dirty="0" smtClean="0">
                <a:latin typeface="Courier New" panose="02070309020205020404" pitchFamily="49" charset="0"/>
              </a:rPr>
              <a:t>	</a:t>
            </a:r>
          </a:p>
          <a:p>
            <a:pPr marL="838200" lvl="1" indent="-381000">
              <a:lnSpc>
                <a:spcPct val="80000"/>
              </a:lnSpc>
              <a:buFontTx/>
              <a:buNone/>
            </a:pPr>
            <a:endParaRPr lang="en-US" altLang="tr-TR" sz="1900" dirty="0" smtClean="0">
              <a:latin typeface="Courier New" panose="02070309020205020404" pitchFamily="49" charset="0"/>
            </a:endParaRPr>
          </a:p>
          <a:p>
            <a:pPr marL="381000" indent="-381000">
              <a:lnSpc>
                <a:spcPct val="80000"/>
              </a:lnSpc>
              <a:buFontTx/>
              <a:buNone/>
            </a:pPr>
            <a:endParaRPr lang="en-US" altLang="tr-TR" sz="2200" dirty="0" smtClean="0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6373813" y="4148138"/>
            <a:ext cx="1527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2116138" y="5021263"/>
            <a:ext cx="8731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2989263" y="5021263"/>
            <a:ext cx="1214437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Ali</a:t>
            </a:r>
          </a:p>
        </p:txBody>
      </p:sp>
      <p:sp>
        <p:nvSpPr>
          <p:cNvPr id="62471" name="Rectangle 7"/>
          <p:cNvSpPr>
            <a:spLocks noChangeArrowheads="1"/>
          </p:cNvSpPr>
          <p:nvPr/>
        </p:nvSpPr>
        <p:spPr bwMode="auto">
          <a:xfrm>
            <a:off x="4203700" y="5021263"/>
            <a:ext cx="5048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2236788" y="5745163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num</a:t>
            </a:r>
          </a:p>
        </p:txBody>
      </p:sp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3111500" y="5718175"/>
            <a:ext cx="1106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word</a:t>
            </a:r>
          </a:p>
        </p:txBody>
      </p:sp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4094163" y="5730875"/>
            <a:ext cx="8334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tr-TR" altLang="tr-TR" sz="1800">
                <a:latin typeface="Courier New" panose="02070309020205020404" pitchFamily="49" charset="0"/>
              </a:rPr>
              <a:t>next</a:t>
            </a: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62475" name="Line 12"/>
          <p:cNvSpPr>
            <a:spLocks noChangeShapeType="1"/>
          </p:cNvSpPr>
          <p:nvPr/>
        </p:nvSpPr>
        <p:spPr bwMode="auto">
          <a:xfrm>
            <a:off x="1270000" y="5376863"/>
            <a:ext cx="804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6" name="Text Box 18"/>
          <p:cNvSpPr txBox="1">
            <a:spLocks noChangeArrowheads="1"/>
          </p:cNvSpPr>
          <p:nvPr/>
        </p:nvSpPr>
        <p:spPr bwMode="auto">
          <a:xfrm>
            <a:off x="838200" y="5257800"/>
            <a:ext cx="325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p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62477" name="AutoShape 19"/>
          <p:cNvSpPr>
            <a:spLocks/>
          </p:cNvSpPr>
          <p:nvPr/>
        </p:nvSpPr>
        <p:spPr bwMode="auto">
          <a:xfrm>
            <a:off x="3708400" y="1484313"/>
            <a:ext cx="215900" cy="2449512"/>
          </a:xfrm>
          <a:prstGeom prst="rightBrace">
            <a:avLst>
              <a:gd name="adj1" fmla="val 2519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62478" name="Line 24"/>
          <p:cNvSpPr>
            <a:spLocks noChangeShapeType="1"/>
          </p:cNvSpPr>
          <p:nvPr/>
        </p:nvSpPr>
        <p:spPr bwMode="auto">
          <a:xfrm>
            <a:off x="5143500" y="5357813"/>
            <a:ext cx="0" cy="246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9" name="Line 25"/>
          <p:cNvSpPr>
            <a:spLocks noChangeShapeType="1"/>
          </p:cNvSpPr>
          <p:nvPr/>
        </p:nvSpPr>
        <p:spPr bwMode="auto">
          <a:xfrm flipV="1">
            <a:off x="5021263" y="5629275"/>
            <a:ext cx="258762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80" name="Group 30"/>
          <p:cNvGrpSpPr>
            <a:grpSpLocks/>
          </p:cNvGrpSpPr>
          <p:nvPr/>
        </p:nvGrpSpPr>
        <p:grpSpPr bwMode="auto">
          <a:xfrm>
            <a:off x="4694238" y="5343525"/>
            <a:ext cx="533400" cy="381000"/>
            <a:chOff x="4875" y="3404"/>
            <a:chExt cx="336" cy="240"/>
          </a:xfrm>
        </p:grpSpPr>
        <p:sp>
          <p:nvSpPr>
            <p:cNvPr id="62482" name="Line 23"/>
            <p:cNvSpPr>
              <a:spLocks noChangeShapeType="1"/>
            </p:cNvSpPr>
            <p:nvPr/>
          </p:nvSpPr>
          <p:spPr bwMode="auto">
            <a:xfrm>
              <a:off x="4875" y="3404"/>
              <a:ext cx="2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3" name="Line 26"/>
            <p:cNvSpPr>
              <a:spLocks noChangeShapeType="1"/>
            </p:cNvSpPr>
            <p:nvPr/>
          </p:nvSpPr>
          <p:spPr bwMode="auto">
            <a:xfrm flipV="1">
              <a:off x="5124" y="3611"/>
              <a:ext cx="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4" name="Line 27"/>
            <p:cNvSpPr>
              <a:spLocks noChangeShapeType="1"/>
            </p:cNvSpPr>
            <p:nvPr/>
          </p:nvSpPr>
          <p:spPr bwMode="auto">
            <a:xfrm flipV="1">
              <a:off x="5133" y="3642"/>
              <a:ext cx="6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481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648979-05AD-479E-AC1B-84C82CBB5BFC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7129335" y="6235295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BEF5BF-07F3-4E90-A785-4EDD7292FC39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tr-TR" sz="1400" dirty="0" smtClean="0">
              <a:latin typeface="Times New Roman" panose="02020603050405020304" pitchFamily="18" charset="0"/>
            </a:endParaRPr>
          </a:p>
        </p:txBody>
      </p:sp>
      <p:sp>
        <p:nvSpPr>
          <p:cNvPr id="79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Updated node struct with constructor</a:t>
            </a:r>
            <a:endParaRPr lang="en-US" dirty="0" smtClean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135" y="1050926"/>
            <a:ext cx="8839200" cy="5256212"/>
          </a:xfrm>
        </p:spPr>
        <p:txBody>
          <a:bodyPr>
            <a:normAutofit/>
          </a:bodyPr>
          <a:lstStyle/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chemeClr val="tx1"/>
                </a:solidFill>
              </a:rPr>
              <a:t>In order to use the </a:t>
            </a:r>
            <a:r>
              <a:rPr lang="en-US" altLang="tr-TR" sz="1600" b="1" dirty="0" err="1" smtClean="0">
                <a:solidFill>
                  <a:schemeClr val="tx1"/>
                </a:solidFill>
              </a:rPr>
              <a:t>struct</a:t>
            </a:r>
            <a:r>
              <a:rPr lang="en-US" altLang="tr-TR" sz="1600" b="1" dirty="0" smtClean="0">
                <a:solidFill>
                  <a:schemeClr val="tx1"/>
                </a:solidFill>
              </a:rPr>
              <a:t> as in the previous slide, we need to add a constructor to it: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tr-TR" sz="800" b="1" dirty="0" smtClean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err="1" smtClean="0">
                <a:latin typeface="Courier New" panose="02070309020205020404" pitchFamily="49" charset="0"/>
              </a:rPr>
              <a:t>struct</a:t>
            </a:r>
            <a:r>
              <a:rPr lang="en-US" altLang="tr-TR" sz="1600" b="1" dirty="0" smtClean="0">
                <a:latin typeface="Courier New" panose="02070309020205020404" pitchFamily="49" charset="0"/>
              </a:rPr>
              <a:t> </a:t>
            </a:r>
            <a:r>
              <a:rPr lang="en-US" altLang="tr-TR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node	  //node is a user given name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en-US" altLang="tr-TR" sz="1600" b="1" dirty="0" err="1" smtClean="0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 	</a:t>
            </a:r>
            <a:r>
              <a:rPr lang="en-US" altLang="tr-TR" sz="1600" b="1" dirty="0" err="1" smtClean="0">
                <a:solidFill>
                  <a:srgbClr val="0000FF"/>
                </a:solidFill>
                <a:latin typeface="Courier New" panose="02070309020205020404" pitchFamily="49" charset="0"/>
              </a:rPr>
              <a:t>num</a:t>
            </a:r>
            <a:r>
              <a:rPr lang="en-US" altLang="tr-TR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  	string 	word;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	node 	*next;  //</a:t>
            </a:r>
            <a:r>
              <a:rPr lang="en-US" altLang="tr-TR" sz="1600" b="1" dirty="0" smtClean="0">
                <a:latin typeface="Courier New" panose="02070309020205020404" pitchFamily="49" charset="0"/>
              </a:rPr>
              <a:t>  pointer for the next node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tr-TR" sz="1600" b="1" dirty="0" smtClean="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</a:rPr>
              <a:t>  //default constructor; actually does not initialize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</a:rPr>
              <a:t>  //anything but should exist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</a:rPr>
              <a:t>  node()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</a:rPr>
              <a:t>  {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</a:rPr>
              <a:t>  }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tr-TR" sz="1600" b="1" dirty="0" smtClean="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</a:rPr>
              <a:t>  //constructor with 3 parameters (initializer list)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 node(</a:t>
            </a:r>
            <a:r>
              <a:rPr lang="en-US" altLang="tr-TR" sz="1600" b="1" dirty="0" err="1" smtClean="0">
                <a:solidFill>
                  <a:srgbClr val="CC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n, string w, node * p)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		   : </a:t>
            </a:r>
            <a:r>
              <a:rPr lang="en-US" altLang="tr-TR" sz="1600" b="1" dirty="0" err="1" smtClean="0">
                <a:solidFill>
                  <a:srgbClr val="CC0000"/>
                </a:solidFill>
                <a:latin typeface="Courier New" panose="02070309020205020404" pitchFamily="49" charset="0"/>
              </a:rPr>
              <a:t>num</a:t>
            </a: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(n),word(w),next(p)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 {}</a:t>
            </a:r>
            <a:endParaRPr lang="en-US" altLang="tr-TR" sz="1600" b="1" dirty="0" smtClean="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3" name="Rectangle 2"/>
          <p:cNvSpPr/>
          <p:nvPr/>
        </p:nvSpPr>
        <p:spPr>
          <a:xfrm>
            <a:off x="3131840" y="5196368"/>
            <a:ext cx="5256584" cy="14829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3333CC"/>
                </a:solidFill>
                <a:latin typeface="Courier New" panose="02070309020205020404" pitchFamily="49" charset="0"/>
              </a:rPr>
              <a:t>//</a:t>
            </a:r>
            <a:r>
              <a:rPr lang="en-US" altLang="tr-TR" sz="1600" b="1" dirty="0">
                <a:solidFill>
                  <a:srgbClr val="3333CC"/>
                </a:solidFill>
                <a:latin typeface="Courier New" panose="02070309020205020404" pitchFamily="49" charset="0"/>
              </a:rPr>
              <a:t>constructor with 3 parameters (</a:t>
            </a:r>
            <a:r>
              <a:rPr lang="en-US" altLang="tr-TR" sz="1600" b="1" dirty="0" smtClean="0">
                <a:solidFill>
                  <a:srgbClr val="3333CC"/>
                </a:solidFill>
                <a:latin typeface="Courier New" panose="02070309020205020404" pitchFamily="49" charset="0"/>
              </a:rPr>
              <a:t>regular)</a:t>
            </a:r>
            <a:endParaRPr lang="en-US" altLang="tr-TR" sz="1600" b="1" dirty="0">
              <a:solidFill>
                <a:srgbClr val="3333CC"/>
              </a:solidFill>
              <a:latin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node(</a:t>
            </a:r>
            <a:r>
              <a:rPr lang="en-US" altLang="tr-TR" sz="1600" b="1" dirty="0" err="1" smtClean="0">
                <a:solidFill>
                  <a:srgbClr val="CC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>
                <a:solidFill>
                  <a:srgbClr val="CC0000"/>
                </a:solidFill>
                <a:latin typeface="Courier New" panose="02070309020205020404" pitchFamily="49" charset="0"/>
              </a:rPr>
              <a:t>n, string w, node * p)</a:t>
            </a:r>
          </a:p>
          <a:p>
            <a:pPr marL="0"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{</a:t>
            </a:r>
          </a:p>
          <a:p>
            <a:pPr marL="0"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CC0000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 </a:t>
            </a:r>
            <a:r>
              <a:rPr lang="en-US" altLang="tr-TR" sz="1600" b="1" dirty="0" err="1" smtClean="0">
                <a:solidFill>
                  <a:srgbClr val="CC0000"/>
                </a:solidFill>
                <a:latin typeface="Courier New" panose="02070309020205020404" pitchFamily="49" charset="0"/>
              </a:rPr>
              <a:t>num</a:t>
            </a: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= n; </a:t>
            </a:r>
          </a:p>
          <a:p>
            <a:pPr marL="0"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CC0000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 word = w;</a:t>
            </a:r>
          </a:p>
          <a:p>
            <a:pPr marL="0"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CC0000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 next = p;</a:t>
            </a:r>
            <a:endParaRPr lang="en-US" altLang="tr-TR" sz="1600" b="1" dirty="0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}</a:t>
            </a:r>
            <a:endParaRPr lang="en-US" dirty="0"/>
          </a:p>
        </p:txBody>
      </p:sp>
      <p:sp>
        <p:nvSpPr>
          <p:cNvPr id="5" name="Arc 4"/>
          <p:cNvSpPr/>
          <p:nvPr/>
        </p:nvSpPr>
        <p:spPr bwMode="auto">
          <a:xfrm rot="9497360">
            <a:off x="2220838" y="4569004"/>
            <a:ext cx="1258487" cy="917079"/>
          </a:xfrm>
          <a:prstGeom prst="arc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57132" y="5497195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Alternative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Introduction to linked lists: </a:t>
            </a:r>
            <a:r>
              <a:rPr lang="en-US" sz="2400" dirty="0" smtClean="0">
                <a:solidFill>
                  <a:srgbClr val="CC0000"/>
                </a:solidFill>
              </a:rPr>
              <a:t>adding a new node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341438"/>
            <a:ext cx="8404225" cy="3314700"/>
          </a:xfrm>
        </p:spPr>
        <p:txBody>
          <a:bodyPr>
            <a:normAutofit lnSpcReduction="10000"/>
          </a:bodyPr>
          <a:lstStyle/>
          <a:p>
            <a:pPr marL="381000" indent="-381000">
              <a:lnSpc>
                <a:spcPct val="90000"/>
              </a:lnSpc>
              <a:buFontTx/>
              <a:buNone/>
              <a:defRPr/>
            </a:pPr>
            <a:endParaRPr lang="en-US" altLang="tr-TR" sz="1800" dirty="0" smtClean="0"/>
          </a:p>
          <a:p>
            <a:pPr marL="381000" indent="-381000">
              <a:lnSpc>
                <a:spcPct val="90000"/>
              </a:lnSpc>
              <a:buFontTx/>
              <a:buNone/>
              <a:defRPr/>
            </a:pPr>
            <a:r>
              <a:rPr lang="en-US" altLang="tr-TR" sz="1800" dirty="0" smtClean="0"/>
              <a:t>How can you add another node that is pointed by   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p-&gt;next </a:t>
            </a:r>
            <a:r>
              <a:rPr lang="en-US" altLang="tr-TR" sz="1800" dirty="0" smtClean="0"/>
              <a:t>?</a:t>
            </a:r>
            <a:endParaRPr lang="en-US" altLang="tr-TR" sz="1800" dirty="0"/>
          </a:p>
          <a:p>
            <a:pPr marL="381000" indent="-381000">
              <a:lnSpc>
                <a:spcPct val="90000"/>
              </a:lnSpc>
              <a:buFontTx/>
              <a:buNone/>
              <a:defRPr/>
            </a:pPr>
            <a:endParaRPr lang="en-US" altLang="tr-TR" dirty="0" smtClean="0">
              <a:latin typeface="Courier New" panose="02070309020205020404" pitchFamily="49" charset="0"/>
            </a:endParaRPr>
          </a:p>
          <a:p>
            <a:pPr marL="381000" indent="-381000">
              <a:lnSpc>
                <a:spcPct val="90000"/>
              </a:lnSpc>
              <a:buFontTx/>
              <a:buNone/>
              <a:defRPr/>
            </a:pPr>
            <a:r>
              <a:rPr lang="en-US" altLang="tr-TR" dirty="0" smtClean="0">
                <a:latin typeface="Courier New" panose="02070309020205020404" pitchFamily="49" charset="0"/>
              </a:rPr>
              <a:t>	node *p;</a:t>
            </a:r>
            <a:r>
              <a:rPr lang="en-US" altLang="tr-TR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dirty="0" smtClean="0">
                <a:latin typeface="Courier New" panose="02070309020205020404" pitchFamily="49" charset="0"/>
              </a:rPr>
              <a:t>	</a:t>
            </a:r>
          </a:p>
          <a:p>
            <a:pPr marL="381000" indent="-381000">
              <a:lnSpc>
                <a:spcPct val="90000"/>
              </a:lnSpc>
              <a:buFontTx/>
              <a:buNone/>
              <a:defRPr/>
            </a:pPr>
            <a:r>
              <a:rPr lang="en-US" altLang="tr-TR" dirty="0" smtClean="0">
                <a:latin typeface="Courier New" panose="02070309020205020404" pitchFamily="49" charset="0"/>
              </a:rPr>
              <a:t>	p = new node(5,"Ali",NULL);</a:t>
            </a:r>
          </a:p>
          <a:p>
            <a:pPr marL="381000" indent="-381000">
              <a:lnSpc>
                <a:spcPct val="90000"/>
              </a:lnSpc>
              <a:buFontTx/>
              <a:buNone/>
              <a:defRPr/>
            </a:pPr>
            <a:endParaRPr lang="en-US" altLang="tr-TR" b="1" dirty="0" smtClean="0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 marL="381000" indent="-381000">
              <a:lnSpc>
                <a:spcPct val="90000"/>
              </a:lnSpc>
              <a:buFontTx/>
              <a:buNone/>
              <a:defRPr/>
            </a:pPr>
            <a:r>
              <a:rPr lang="en-US" altLang="tr-TR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	node *q;</a:t>
            </a:r>
          </a:p>
          <a:p>
            <a:pPr marL="381000" indent="-381000">
              <a:lnSpc>
                <a:spcPct val="90000"/>
              </a:lnSpc>
              <a:buFontTx/>
              <a:buNone/>
              <a:defRPr/>
            </a:pPr>
            <a:endParaRPr lang="en-US" altLang="tr-TR" sz="1800" b="1" dirty="0" smtClean="0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 marL="381000" indent="-381000">
              <a:lnSpc>
                <a:spcPct val="90000"/>
              </a:lnSpc>
              <a:buFontTx/>
              <a:buNone/>
              <a:defRPr/>
            </a:pPr>
            <a:endParaRPr lang="en-US" altLang="tr-TR" sz="1800" dirty="0" smtClean="0">
              <a:latin typeface="Courier New" panose="02070309020205020404" pitchFamily="49" charset="0"/>
            </a:endParaRPr>
          </a:p>
          <a:p>
            <a:pPr marL="381000" indent="-381000">
              <a:lnSpc>
                <a:spcPct val="90000"/>
              </a:lnSpc>
              <a:buFontTx/>
              <a:buNone/>
              <a:defRPr/>
            </a:pPr>
            <a:r>
              <a:rPr lang="en-US" altLang="tr-TR" sz="1800" dirty="0" smtClean="0">
                <a:latin typeface="Courier New" panose="02070309020205020404" pitchFamily="49" charset="0"/>
              </a:rPr>
              <a:t>	</a:t>
            </a:r>
          </a:p>
          <a:p>
            <a:pPr marL="838200" lvl="1" indent="-381000">
              <a:lnSpc>
                <a:spcPct val="90000"/>
              </a:lnSpc>
              <a:buFontTx/>
              <a:buNone/>
              <a:defRPr/>
            </a:pPr>
            <a:endParaRPr lang="en-US" altLang="tr-TR" sz="1600" dirty="0" smtClean="0">
              <a:latin typeface="Courier New" panose="02070309020205020404" pitchFamily="49" charset="0"/>
            </a:endParaRPr>
          </a:p>
          <a:p>
            <a:pPr marL="381000" indent="-381000">
              <a:lnSpc>
                <a:spcPct val="90000"/>
              </a:lnSpc>
              <a:buFontTx/>
              <a:buNone/>
              <a:defRPr/>
            </a:pPr>
            <a:endParaRPr lang="en-US" altLang="tr-TR" sz="1800" dirty="0" smtClean="0"/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6340475" y="4148138"/>
            <a:ext cx="1527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2116138" y="5021263"/>
            <a:ext cx="8731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2989263" y="5021263"/>
            <a:ext cx="1214437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Ali</a:t>
            </a:r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4203700" y="5021263"/>
            <a:ext cx="5048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66568" name="Text Box 8"/>
          <p:cNvSpPr txBox="1">
            <a:spLocks noChangeArrowheads="1"/>
          </p:cNvSpPr>
          <p:nvPr/>
        </p:nvSpPr>
        <p:spPr bwMode="auto">
          <a:xfrm>
            <a:off x="2236788" y="5745163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num</a:t>
            </a:r>
          </a:p>
        </p:txBody>
      </p:sp>
      <p:sp>
        <p:nvSpPr>
          <p:cNvPr id="66569" name="Text Box 9"/>
          <p:cNvSpPr txBox="1">
            <a:spLocks noChangeArrowheads="1"/>
          </p:cNvSpPr>
          <p:nvPr/>
        </p:nvSpPr>
        <p:spPr bwMode="auto">
          <a:xfrm>
            <a:off x="3111500" y="5718175"/>
            <a:ext cx="1106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word</a:t>
            </a: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4094163" y="5730875"/>
            <a:ext cx="8334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tr-TR" altLang="tr-TR" sz="1800">
                <a:latin typeface="Courier New" panose="02070309020205020404" pitchFamily="49" charset="0"/>
              </a:rPr>
              <a:t>next</a:t>
            </a: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66571" name="Line 12"/>
          <p:cNvSpPr>
            <a:spLocks noChangeShapeType="1"/>
          </p:cNvSpPr>
          <p:nvPr/>
        </p:nvSpPr>
        <p:spPr bwMode="auto">
          <a:xfrm>
            <a:off x="1270000" y="5376863"/>
            <a:ext cx="804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2" name="Freeform 15"/>
          <p:cNvSpPr>
            <a:spLocks/>
          </p:cNvSpPr>
          <p:nvPr/>
        </p:nvSpPr>
        <p:spPr bwMode="auto">
          <a:xfrm>
            <a:off x="4856163" y="4749800"/>
            <a:ext cx="561975" cy="306388"/>
          </a:xfrm>
          <a:custGeom>
            <a:avLst/>
            <a:gdLst>
              <a:gd name="T0" fmla="*/ 2147483646 w 199"/>
              <a:gd name="T1" fmla="*/ 0 h 325"/>
              <a:gd name="T2" fmla="*/ 2147483646 w 199"/>
              <a:gd name="T3" fmla="*/ 2147483646 h 325"/>
              <a:gd name="T4" fmla="*/ 2147483646 w 199"/>
              <a:gd name="T5" fmla="*/ 2147483646 h 325"/>
              <a:gd name="T6" fmla="*/ 0 60000 65536"/>
              <a:gd name="T7" fmla="*/ 0 60000 65536"/>
              <a:gd name="T8" fmla="*/ 0 60000 65536"/>
              <a:gd name="T9" fmla="*/ 0 w 199"/>
              <a:gd name="T10" fmla="*/ 0 h 325"/>
              <a:gd name="T11" fmla="*/ 199 w 199"/>
              <a:gd name="T12" fmla="*/ 325 h 3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" h="325">
                <a:moveTo>
                  <a:pt x="36" y="0"/>
                </a:moveTo>
                <a:cubicBezTo>
                  <a:pt x="18" y="112"/>
                  <a:pt x="0" y="225"/>
                  <a:pt x="27" y="275"/>
                </a:cubicBezTo>
                <a:cubicBezTo>
                  <a:pt x="54" y="325"/>
                  <a:pt x="126" y="313"/>
                  <a:pt x="199" y="301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3" name="Text Box 16"/>
          <p:cNvSpPr txBox="1">
            <a:spLocks noChangeArrowheads="1"/>
          </p:cNvSpPr>
          <p:nvPr/>
        </p:nvSpPr>
        <p:spPr bwMode="auto">
          <a:xfrm>
            <a:off x="5349875" y="4903788"/>
            <a:ext cx="3143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?</a:t>
            </a:r>
          </a:p>
        </p:txBody>
      </p:sp>
      <p:sp>
        <p:nvSpPr>
          <p:cNvPr id="66574" name="Text Box 18"/>
          <p:cNvSpPr txBox="1">
            <a:spLocks noChangeArrowheads="1"/>
          </p:cNvSpPr>
          <p:nvPr/>
        </p:nvSpPr>
        <p:spPr bwMode="auto">
          <a:xfrm>
            <a:off x="838200" y="5257800"/>
            <a:ext cx="325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p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66575" name="Text Box 19"/>
          <p:cNvSpPr txBox="1">
            <a:spLocks noChangeArrowheads="1"/>
          </p:cNvSpPr>
          <p:nvPr/>
        </p:nvSpPr>
        <p:spPr bwMode="auto">
          <a:xfrm>
            <a:off x="4764088" y="4310063"/>
            <a:ext cx="327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solidFill>
                  <a:srgbClr val="CC0000"/>
                </a:solidFill>
                <a:latin typeface="Times New Roman" panose="02020603050405020304" pitchFamily="18" charset="0"/>
              </a:rPr>
              <a:t>q</a:t>
            </a:r>
            <a:endParaRPr lang="en-US" altLang="tr-TR" sz="240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76" name="Line 24"/>
          <p:cNvSpPr>
            <a:spLocks noChangeShapeType="1"/>
          </p:cNvSpPr>
          <p:nvPr/>
        </p:nvSpPr>
        <p:spPr bwMode="auto">
          <a:xfrm>
            <a:off x="5143500" y="5357813"/>
            <a:ext cx="0" cy="246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7" name="Line 25"/>
          <p:cNvSpPr>
            <a:spLocks noChangeShapeType="1"/>
          </p:cNvSpPr>
          <p:nvPr/>
        </p:nvSpPr>
        <p:spPr bwMode="auto">
          <a:xfrm flipV="1">
            <a:off x="5021263" y="5629275"/>
            <a:ext cx="258762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6578" name="Group 30"/>
          <p:cNvGrpSpPr>
            <a:grpSpLocks/>
          </p:cNvGrpSpPr>
          <p:nvPr/>
        </p:nvGrpSpPr>
        <p:grpSpPr bwMode="auto">
          <a:xfrm>
            <a:off x="4694238" y="5343525"/>
            <a:ext cx="533400" cy="381000"/>
            <a:chOff x="4875" y="3404"/>
            <a:chExt cx="336" cy="240"/>
          </a:xfrm>
        </p:grpSpPr>
        <p:sp>
          <p:nvSpPr>
            <p:cNvPr id="66580" name="Line 23"/>
            <p:cNvSpPr>
              <a:spLocks noChangeShapeType="1"/>
            </p:cNvSpPr>
            <p:nvPr/>
          </p:nvSpPr>
          <p:spPr bwMode="auto">
            <a:xfrm>
              <a:off x="4875" y="3404"/>
              <a:ext cx="2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1" name="Line 26"/>
            <p:cNvSpPr>
              <a:spLocks noChangeShapeType="1"/>
            </p:cNvSpPr>
            <p:nvPr/>
          </p:nvSpPr>
          <p:spPr bwMode="auto">
            <a:xfrm flipV="1">
              <a:off x="5124" y="3611"/>
              <a:ext cx="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2" name="Line 27"/>
            <p:cNvSpPr>
              <a:spLocks noChangeShapeType="1"/>
            </p:cNvSpPr>
            <p:nvPr/>
          </p:nvSpPr>
          <p:spPr bwMode="auto">
            <a:xfrm flipV="1">
              <a:off x="5133" y="3642"/>
              <a:ext cx="6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579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1A7354-CA63-47FD-A1FD-1BF4D365C723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Introduction to linked lists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341438"/>
            <a:ext cx="8404225" cy="3314700"/>
          </a:xfrm>
        </p:spPr>
        <p:txBody>
          <a:bodyPr/>
          <a:lstStyle/>
          <a:p>
            <a:pPr marL="381000" indent="-381000">
              <a:buFontTx/>
              <a:buNone/>
            </a:pPr>
            <a:r>
              <a:rPr lang="en-US" altLang="tr-TR" smtClean="0">
                <a:latin typeface="Courier New" panose="02070309020205020404" pitchFamily="49" charset="0"/>
              </a:rPr>
              <a:t>	node *p;</a:t>
            </a:r>
            <a:r>
              <a:rPr lang="en-US" altLang="tr-TR" b="1" smtClean="0">
                <a:solidFill>
                  <a:srgbClr val="CC0000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mtClean="0">
                <a:latin typeface="Courier New" panose="02070309020205020404" pitchFamily="49" charset="0"/>
              </a:rPr>
              <a:t>	</a:t>
            </a:r>
          </a:p>
          <a:p>
            <a:pPr marL="381000" indent="-381000">
              <a:buFontTx/>
              <a:buNone/>
            </a:pPr>
            <a:r>
              <a:rPr lang="en-US" altLang="tr-TR" smtClean="0">
                <a:latin typeface="Courier New" panose="02070309020205020404" pitchFamily="49" charset="0"/>
              </a:rPr>
              <a:t>	p = new node;</a:t>
            </a:r>
          </a:p>
          <a:p>
            <a:pPr marL="381000" indent="-381000">
              <a:buFontTx/>
              <a:buNone/>
            </a:pPr>
            <a:r>
              <a:rPr lang="en-US" altLang="tr-TR" smtClean="0">
                <a:latin typeface="Courier New" panose="02070309020205020404" pitchFamily="49" charset="0"/>
              </a:rPr>
              <a:t>	p = new node(5,"Ali",NULL);</a:t>
            </a:r>
          </a:p>
          <a:p>
            <a:pPr marL="381000" indent="-381000">
              <a:buFontTx/>
              <a:buNone/>
            </a:pPr>
            <a:endParaRPr lang="en-US" altLang="tr-TR" smtClean="0">
              <a:latin typeface="Courier New" panose="02070309020205020404" pitchFamily="49" charset="0"/>
            </a:endParaRPr>
          </a:p>
          <a:p>
            <a:pPr marL="381000" indent="-381000">
              <a:buFontTx/>
              <a:buNone/>
            </a:pPr>
            <a:r>
              <a:rPr lang="en-US" altLang="tr-TR" b="1" smtClean="0">
                <a:solidFill>
                  <a:srgbClr val="CC0000"/>
                </a:solidFill>
                <a:latin typeface="Courier New" panose="02070309020205020404" pitchFamily="49" charset="0"/>
              </a:rPr>
              <a:t>	</a:t>
            </a:r>
            <a:r>
              <a:rPr lang="en-US" altLang="tr-TR" smtClean="0">
                <a:latin typeface="Courier New" panose="02070309020205020404" pitchFamily="49" charset="0"/>
              </a:rPr>
              <a:t>node *q;</a:t>
            </a:r>
            <a:r>
              <a:rPr lang="en-US" altLang="tr-TR" b="1" smtClean="0">
                <a:solidFill>
                  <a:srgbClr val="CC0000"/>
                </a:solidFill>
                <a:latin typeface="Courier New" panose="02070309020205020404" pitchFamily="49" charset="0"/>
              </a:rPr>
              <a:t>	</a:t>
            </a:r>
          </a:p>
          <a:p>
            <a:pPr marL="381000" indent="-381000">
              <a:buFontTx/>
              <a:buNone/>
            </a:pPr>
            <a:r>
              <a:rPr lang="en-US" altLang="tr-TR" b="1" smtClean="0">
                <a:solidFill>
                  <a:srgbClr val="CC0000"/>
                </a:solidFill>
                <a:latin typeface="Courier New" panose="02070309020205020404" pitchFamily="49" charset="0"/>
              </a:rPr>
              <a:t>	q = new node;</a:t>
            </a:r>
          </a:p>
          <a:p>
            <a:pPr marL="381000" indent="-381000">
              <a:buFontTx/>
              <a:buNone/>
            </a:pPr>
            <a:r>
              <a:rPr lang="en-US" altLang="tr-TR" smtClean="0">
                <a:latin typeface="Courier New" panose="02070309020205020404" pitchFamily="49" charset="0"/>
              </a:rPr>
              <a:t>	</a:t>
            </a:r>
          </a:p>
          <a:p>
            <a:pPr marL="838200" lvl="1" indent="-381000">
              <a:buFontTx/>
              <a:buNone/>
            </a:pPr>
            <a:endParaRPr lang="en-US" altLang="tr-TR" sz="1800" smtClean="0">
              <a:latin typeface="Courier New" panose="02070309020205020404" pitchFamily="49" charset="0"/>
            </a:endParaRPr>
          </a:p>
          <a:p>
            <a:pPr marL="381000" indent="-381000">
              <a:buFontTx/>
              <a:buNone/>
            </a:pPr>
            <a:endParaRPr lang="en-US" altLang="tr-TR" smtClean="0"/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6562725" y="4148138"/>
            <a:ext cx="1527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2116138" y="5021263"/>
            <a:ext cx="8731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2989263" y="5021263"/>
            <a:ext cx="1214437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Ali</a:t>
            </a:r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4203700" y="5021263"/>
            <a:ext cx="5048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68616" name="Text Box 8"/>
          <p:cNvSpPr txBox="1">
            <a:spLocks noChangeArrowheads="1"/>
          </p:cNvSpPr>
          <p:nvPr/>
        </p:nvSpPr>
        <p:spPr bwMode="auto">
          <a:xfrm>
            <a:off x="2236788" y="5745163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num</a:t>
            </a:r>
          </a:p>
        </p:txBody>
      </p:sp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3111500" y="5718175"/>
            <a:ext cx="1106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word</a:t>
            </a:r>
          </a:p>
        </p:txBody>
      </p:sp>
      <p:sp>
        <p:nvSpPr>
          <p:cNvPr id="68618" name="Text Box 10"/>
          <p:cNvSpPr txBox="1">
            <a:spLocks noChangeArrowheads="1"/>
          </p:cNvSpPr>
          <p:nvPr/>
        </p:nvSpPr>
        <p:spPr bwMode="auto">
          <a:xfrm>
            <a:off x="4094163" y="5730875"/>
            <a:ext cx="8334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tr-TR" altLang="tr-TR" sz="1800">
                <a:latin typeface="Courier New" panose="02070309020205020404" pitchFamily="49" charset="0"/>
              </a:rPr>
              <a:t>next</a:t>
            </a: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68619" name="Line 12"/>
          <p:cNvSpPr>
            <a:spLocks noChangeShapeType="1"/>
          </p:cNvSpPr>
          <p:nvPr/>
        </p:nvSpPr>
        <p:spPr bwMode="auto">
          <a:xfrm>
            <a:off x="1270000" y="5376863"/>
            <a:ext cx="804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0" name="Text Box 13"/>
          <p:cNvSpPr txBox="1">
            <a:spLocks noChangeArrowheads="1"/>
          </p:cNvSpPr>
          <p:nvPr/>
        </p:nvSpPr>
        <p:spPr bwMode="auto">
          <a:xfrm>
            <a:off x="5400675" y="5159375"/>
            <a:ext cx="3698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?</a:t>
            </a:r>
          </a:p>
        </p:txBody>
      </p:sp>
      <p:grpSp>
        <p:nvGrpSpPr>
          <p:cNvPr id="68621" name="Group 28"/>
          <p:cNvGrpSpPr>
            <a:grpSpLocks/>
          </p:cNvGrpSpPr>
          <p:nvPr/>
        </p:nvGrpSpPr>
        <p:grpSpPr bwMode="auto">
          <a:xfrm>
            <a:off x="5392738" y="5049838"/>
            <a:ext cx="2592387" cy="682625"/>
            <a:chOff x="3278" y="3181"/>
            <a:chExt cx="1633" cy="430"/>
          </a:xfrm>
        </p:grpSpPr>
        <p:sp>
          <p:nvSpPr>
            <p:cNvPr id="68637" name="Rectangle 14"/>
            <p:cNvSpPr>
              <a:spLocks noChangeArrowheads="1"/>
            </p:cNvSpPr>
            <p:nvPr/>
          </p:nvSpPr>
          <p:spPr bwMode="auto">
            <a:xfrm>
              <a:off x="3278" y="3181"/>
              <a:ext cx="550" cy="43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tr-TR" sz="1800">
                  <a:latin typeface="Courier New" panose="02070309020205020404" pitchFamily="49" charset="0"/>
                </a:rPr>
                <a:t>?</a:t>
              </a:r>
            </a:p>
          </p:txBody>
        </p:sp>
        <p:sp>
          <p:nvSpPr>
            <p:cNvPr id="68638" name="Rectangle 15"/>
            <p:cNvSpPr>
              <a:spLocks noChangeArrowheads="1"/>
            </p:cNvSpPr>
            <p:nvPr/>
          </p:nvSpPr>
          <p:spPr bwMode="auto">
            <a:xfrm>
              <a:off x="3828" y="3181"/>
              <a:ext cx="765" cy="43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tr-TR" sz="1800">
                  <a:latin typeface="Courier New" panose="02070309020205020404" pitchFamily="49" charset="0"/>
                </a:rPr>
                <a:t>?</a:t>
              </a:r>
            </a:p>
          </p:txBody>
        </p:sp>
        <p:sp>
          <p:nvSpPr>
            <p:cNvPr id="68639" name="Rectangle 16"/>
            <p:cNvSpPr>
              <a:spLocks noChangeArrowheads="1"/>
            </p:cNvSpPr>
            <p:nvPr/>
          </p:nvSpPr>
          <p:spPr bwMode="auto">
            <a:xfrm>
              <a:off x="4593" y="3181"/>
              <a:ext cx="318" cy="43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68622" name="Text Box 17"/>
          <p:cNvSpPr txBox="1">
            <a:spLocks noChangeArrowheads="1"/>
          </p:cNvSpPr>
          <p:nvPr/>
        </p:nvSpPr>
        <p:spPr bwMode="auto">
          <a:xfrm>
            <a:off x="5513388" y="5773738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num</a:t>
            </a:r>
          </a:p>
        </p:txBody>
      </p:sp>
      <p:sp>
        <p:nvSpPr>
          <p:cNvPr id="68623" name="Text Box 18"/>
          <p:cNvSpPr txBox="1">
            <a:spLocks noChangeArrowheads="1"/>
          </p:cNvSpPr>
          <p:nvPr/>
        </p:nvSpPr>
        <p:spPr bwMode="auto">
          <a:xfrm>
            <a:off x="6388100" y="5746750"/>
            <a:ext cx="1106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word</a:t>
            </a:r>
          </a:p>
        </p:txBody>
      </p:sp>
      <p:sp>
        <p:nvSpPr>
          <p:cNvPr id="68624" name="Text Box 19"/>
          <p:cNvSpPr txBox="1">
            <a:spLocks noChangeArrowheads="1"/>
          </p:cNvSpPr>
          <p:nvPr/>
        </p:nvSpPr>
        <p:spPr bwMode="auto">
          <a:xfrm>
            <a:off x="7370763" y="5759450"/>
            <a:ext cx="8334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tr-TR" altLang="tr-TR" sz="1800">
                <a:latin typeface="Courier New" panose="02070309020205020404" pitchFamily="49" charset="0"/>
              </a:rPr>
              <a:t>next</a:t>
            </a: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68625" name="Line 20"/>
          <p:cNvSpPr>
            <a:spLocks noChangeShapeType="1"/>
          </p:cNvSpPr>
          <p:nvPr/>
        </p:nvSpPr>
        <p:spPr bwMode="auto">
          <a:xfrm>
            <a:off x="7889875" y="5378450"/>
            <a:ext cx="546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6" name="Text Box 21"/>
          <p:cNvSpPr txBox="1">
            <a:spLocks noChangeArrowheads="1"/>
          </p:cNvSpPr>
          <p:nvPr/>
        </p:nvSpPr>
        <p:spPr bwMode="auto">
          <a:xfrm>
            <a:off x="8488363" y="5187950"/>
            <a:ext cx="3698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?</a:t>
            </a:r>
          </a:p>
        </p:txBody>
      </p:sp>
      <p:sp>
        <p:nvSpPr>
          <p:cNvPr id="68627" name="Freeform 23"/>
          <p:cNvSpPr>
            <a:spLocks/>
          </p:cNvSpPr>
          <p:nvPr/>
        </p:nvSpPr>
        <p:spPr bwMode="auto">
          <a:xfrm>
            <a:off x="5045075" y="4749800"/>
            <a:ext cx="315913" cy="515938"/>
          </a:xfrm>
          <a:custGeom>
            <a:avLst/>
            <a:gdLst>
              <a:gd name="T0" fmla="*/ 2147483646 w 199"/>
              <a:gd name="T1" fmla="*/ 0 h 325"/>
              <a:gd name="T2" fmla="*/ 2147483646 w 199"/>
              <a:gd name="T3" fmla="*/ 2147483646 h 325"/>
              <a:gd name="T4" fmla="*/ 2147483646 w 199"/>
              <a:gd name="T5" fmla="*/ 2147483646 h 325"/>
              <a:gd name="T6" fmla="*/ 0 60000 65536"/>
              <a:gd name="T7" fmla="*/ 0 60000 65536"/>
              <a:gd name="T8" fmla="*/ 0 60000 65536"/>
              <a:gd name="T9" fmla="*/ 0 w 199"/>
              <a:gd name="T10" fmla="*/ 0 h 325"/>
              <a:gd name="T11" fmla="*/ 199 w 199"/>
              <a:gd name="T12" fmla="*/ 325 h 3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" h="325">
                <a:moveTo>
                  <a:pt x="36" y="0"/>
                </a:moveTo>
                <a:cubicBezTo>
                  <a:pt x="18" y="112"/>
                  <a:pt x="0" y="225"/>
                  <a:pt x="27" y="275"/>
                </a:cubicBezTo>
                <a:cubicBezTo>
                  <a:pt x="54" y="325"/>
                  <a:pt x="126" y="313"/>
                  <a:pt x="199" y="301"/>
                </a:cubicBezTo>
              </a:path>
            </a:pathLst>
          </a:custGeom>
          <a:noFill/>
          <a:ln w="127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8" name="Text Box 26"/>
          <p:cNvSpPr txBox="1">
            <a:spLocks noChangeArrowheads="1"/>
          </p:cNvSpPr>
          <p:nvPr/>
        </p:nvSpPr>
        <p:spPr bwMode="auto">
          <a:xfrm>
            <a:off x="4891088" y="43068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solidFill>
                  <a:srgbClr val="C00000"/>
                </a:solidFill>
                <a:latin typeface="Times New Roman" panose="02020603050405020304" pitchFamily="18" charset="0"/>
              </a:rPr>
              <a:t>q</a:t>
            </a:r>
            <a:endParaRPr lang="en-US" altLang="tr-TR" sz="240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29" name="Text Box 27"/>
          <p:cNvSpPr txBox="1">
            <a:spLocks noChangeArrowheads="1"/>
          </p:cNvSpPr>
          <p:nvPr/>
        </p:nvSpPr>
        <p:spPr bwMode="auto">
          <a:xfrm>
            <a:off x="838200" y="5257800"/>
            <a:ext cx="325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p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68630" name="Line 24"/>
          <p:cNvSpPr>
            <a:spLocks noChangeShapeType="1"/>
          </p:cNvSpPr>
          <p:nvPr/>
        </p:nvSpPr>
        <p:spPr bwMode="auto">
          <a:xfrm>
            <a:off x="5149850" y="5357813"/>
            <a:ext cx="0" cy="246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1" name="Line 25"/>
          <p:cNvSpPr>
            <a:spLocks noChangeShapeType="1"/>
          </p:cNvSpPr>
          <p:nvPr/>
        </p:nvSpPr>
        <p:spPr bwMode="auto">
          <a:xfrm flipV="1">
            <a:off x="5027613" y="5629275"/>
            <a:ext cx="258762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8632" name="Group 30"/>
          <p:cNvGrpSpPr>
            <a:grpSpLocks/>
          </p:cNvGrpSpPr>
          <p:nvPr/>
        </p:nvGrpSpPr>
        <p:grpSpPr bwMode="auto">
          <a:xfrm>
            <a:off x="4700588" y="5343525"/>
            <a:ext cx="533400" cy="381000"/>
            <a:chOff x="4875" y="3404"/>
            <a:chExt cx="336" cy="240"/>
          </a:xfrm>
        </p:grpSpPr>
        <p:sp>
          <p:nvSpPr>
            <p:cNvPr id="68634" name="Line 23"/>
            <p:cNvSpPr>
              <a:spLocks noChangeShapeType="1"/>
            </p:cNvSpPr>
            <p:nvPr/>
          </p:nvSpPr>
          <p:spPr bwMode="auto">
            <a:xfrm>
              <a:off x="4875" y="3404"/>
              <a:ext cx="2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35" name="Line 26"/>
            <p:cNvSpPr>
              <a:spLocks noChangeShapeType="1"/>
            </p:cNvSpPr>
            <p:nvPr/>
          </p:nvSpPr>
          <p:spPr bwMode="auto">
            <a:xfrm flipV="1">
              <a:off x="5124" y="3611"/>
              <a:ext cx="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36" name="Line 27"/>
            <p:cNvSpPr>
              <a:spLocks noChangeShapeType="1"/>
            </p:cNvSpPr>
            <p:nvPr/>
          </p:nvSpPr>
          <p:spPr bwMode="auto">
            <a:xfrm flipV="1">
              <a:off x="5133" y="3642"/>
              <a:ext cx="6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633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03A1F5-5C40-4BED-B2A0-78BDF068181D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Introduction to linked lists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341438"/>
            <a:ext cx="8404225" cy="3314700"/>
          </a:xfrm>
        </p:spPr>
        <p:txBody>
          <a:bodyPr>
            <a:normAutofit lnSpcReduction="10000"/>
          </a:bodyPr>
          <a:lstStyle/>
          <a:p>
            <a:pPr marL="381000" indent="-381000">
              <a:buFontTx/>
              <a:buNone/>
              <a:defRPr/>
            </a:pPr>
            <a:r>
              <a:rPr lang="en-US" altLang="tr-TR" dirty="0" smtClean="0">
                <a:latin typeface="Courier New" panose="02070309020205020404" pitchFamily="49" charset="0"/>
              </a:rPr>
              <a:t>	node *p, *q;</a:t>
            </a:r>
          </a:p>
          <a:p>
            <a:pPr marL="381000" indent="-381000">
              <a:buFontTx/>
              <a:buNone/>
              <a:defRPr/>
            </a:pPr>
            <a:r>
              <a:rPr lang="en-US" altLang="tr-TR" dirty="0" smtClean="0">
                <a:latin typeface="Courier New" panose="02070309020205020404" pitchFamily="49" charset="0"/>
              </a:rPr>
              <a:t>	p = new node;</a:t>
            </a:r>
          </a:p>
          <a:p>
            <a:pPr marL="381000" indent="-381000">
              <a:buFontTx/>
              <a:buNone/>
              <a:defRPr/>
            </a:pPr>
            <a:r>
              <a:rPr lang="en-US" altLang="tr-TR" dirty="0" smtClean="0">
                <a:latin typeface="Courier New" panose="02070309020205020404" pitchFamily="49" charset="0"/>
              </a:rPr>
              <a:t>	p = new node(5,"Ali",NULL);</a:t>
            </a:r>
          </a:p>
          <a:p>
            <a:pPr marL="381000" indent="-381000">
              <a:buFontTx/>
              <a:buNone/>
              <a:defRPr/>
            </a:pPr>
            <a:endParaRPr lang="en-US" altLang="tr-TR" dirty="0" smtClean="0">
              <a:latin typeface="Courier New" panose="02070309020205020404" pitchFamily="49" charset="0"/>
            </a:endParaRPr>
          </a:p>
          <a:p>
            <a:pPr marL="381000" indent="-381000">
              <a:buFontTx/>
              <a:buNone/>
              <a:defRPr/>
            </a:pPr>
            <a:r>
              <a:rPr lang="en-US" altLang="tr-TR" dirty="0" smtClean="0">
                <a:latin typeface="Courier New" panose="02070309020205020404" pitchFamily="49" charset="0"/>
              </a:rPr>
              <a:t>	q = new node;</a:t>
            </a:r>
          </a:p>
          <a:p>
            <a:pPr marL="381000" indent="-381000">
              <a:buFontTx/>
              <a:buNone/>
              <a:defRPr/>
            </a:pPr>
            <a:r>
              <a:rPr lang="en-US" altLang="tr-TR" dirty="0" smtClean="0">
                <a:latin typeface="Courier New" panose="02070309020205020404" pitchFamily="49" charset="0"/>
              </a:rPr>
              <a:t>	</a:t>
            </a:r>
            <a:r>
              <a:rPr lang="en-US" altLang="tr-TR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q-&gt;</a:t>
            </a:r>
            <a:r>
              <a:rPr lang="en-US" altLang="tr-TR" b="1" dirty="0" err="1" smtClean="0">
                <a:solidFill>
                  <a:srgbClr val="CC0000"/>
                </a:solidFill>
                <a:latin typeface="Courier New" panose="02070309020205020404" pitchFamily="49" charset="0"/>
              </a:rPr>
              <a:t>num</a:t>
            </a:r>
            <a:r>
              <a:rPr lang="en-US" altLang="tr-TR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=8;	</a:t>
            </a:r>
            <a:r>
              <a:rPr lang="en-US" altLang="tr-TR" dirty="0" smtClean="0">
                <a:solidFill>
                  <a:srgbClr val="339933"/>
                </a:solidFill>
              </a:rPr>
              <a:t>//I can access fields one by one</a:t>
            </a:r>
          </a:p>
          <a:p>
            <a:pPr marL="381000" indent="-381000">
              <a:buFontTx/>
              <a:buNone/>
              <a:defRPr/>
            </a:pPr>
            <a:r>
              <a:rPr lang="en-US" altLang="tr-TR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	q-&gt;word = "</a:t>
            </a:r>
            <a:r>
              <a:rPr lang="en-US" altLang="tr-TR" b="1" dirty="0" err="1" smtClean="0">
                <a:solidFill>
                  <a:srgbClr val="CC0000"/>
                </a:solidFill>
                <a:latin typeface="Courier New" panose="02070309020205020404" pitchFamily="49" charset="0"/>
              </a:rPr>
              <a:t>Veli</a:t>
            </a:r>
            <a:r>
              <a:rPr lang="en-US" altLang="tr-TR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";</a:t>
            </a:r>
          </a:p>
          <a:p>
            <a:pPr marL="381000" indent="-381000">
              <a:buFontTx/>
              <a:buNone/>
              <a:defRPr/>
            </a:pPr>
            <a:r>
              <a:rPr lang="en-US" altLang="tr-TR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  q-</a:t>
            </a:r>
            <a:r>
              <a:rPr lang="en-US" altLang="tr-TR" b="1" dirty="0">
                <a:solidFill>
                  <a:srgbClr val="CC0000"/>
                </a:solidFill>
                <a:latin typeface="Courier New" panose="02070309020205020404" pitchFamily="49" charset="0"/>
              </a:rPr>
              <a:t>&gt;next = NULL;</a:t>
            </a:r>
            <a:endParaRPr lang="en-US" altLang="tr-TR" dirty="0">
              <a:latin typeface="Courier New" panose="02070309020205020404" pitchFamily="49" charset="0"/>
            </a:endParaRPr>
          </a:p>
          <a:p>
            <a:pPr marL="381000" indent="-381000">
              <a:buFontTx/>
              <a:buNone/>
              <a:defRPr/>
            </a:pPr>
            <a:endParaRPr lang="en-US" altLang="tr-TR" b="1" dirty="0" smtClean="0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 marL="381000" indent="-381000">
              <a:buFontTx/>
              <a:buNone/>
              <a:defRPr/>
            </a:pPr>
            <a:endParaRPr lang="en-US" altLang="tr-TR" dirty="0" smtClean="0">
              <a:latin typeface="Courier New" panose="02070309020205020404" pitchFamily="49" charset="0"/>
            </a:endParaRPr>
          </a:p>
          <a:p>
            <a:pPr marL="838200" lvl="1" indent="-381000">
              <a:buFontTx/>
              <a:buNone/>
              <a:defRPr/>
            </a:pPr>
            <a:endParaRPr lang="en-US" altLang="tr-TR" sz="1800" dirty="0" smtClean="0">
              <a:latin typeface="Courier New" panose="02070309020205020404" pitchFamily="49" charset="0"/>
            </a:endParaRPr>
          </a:p>
          <a:p>
            <a:pPr marL="838200" lvl="1" indent="-381000">
              <a:buFontTx/>
              <a:buNone/>
              <a:defRPr/>
            </a:pPr>
            <a:endParaRPr lang="en-US" altLang="tr-TR" sz="1800" dirty="0" smtClean="0">
              <a:latin typeface="Courier New" panose="02070309020205020404" pitchFamily="49" charset="0"/>
            </a:endParaRPr>
          </a:p>
          <a:p>
            <a:pPr marL="381000" indent="-381000">
              <a:buFontTx/>
              <a:buNone/>
              <a:defRPr/>
            </a:pPr>
            <a:endParaRPr lang="en-US" altLang="tr-TR" dirty="0" smtClean="0"/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6673850" y="4148138"/>
            <a:ext cx="1527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2116138" y="5021263"/>
            <a:ext cx="8731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2989263" y="5021263"/>
            <a:ext cx="1214437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Ali</a:t>
            </a:r>
          </a:p>
        </p:txBody>
      </p: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4203700" y="5021263"/>
            <a:ext cx="5048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2236788" y="5745163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num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3111500" y="5718175"/>
            <a:ext cx="1106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word</a:t>
            </a:r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4094163" y="5730875"/>
            <a:ext cx="8334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tr-TR" altLang="tr-TR" sz="1800">
                <a:latin typeface="Courier New" panose="02070309020205020404" pitchFamily="49" charset="0"/>
              </a:rPr>
              <a:t>next</a:t>
            </a: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70667" name="Line 12"/>
          <p:cNvSpPr>
            <a:spLocks noChangeShapeType="1"/>
          </p:cNvSpPr>
          <p:nvPr/>
        </p:nvSpPr>
        <p:spPr bwMode="auto">
          <a:xfrm>
            <a:off x="1270000" y="5376863"/>
            <a:ext cx="804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8" name="Text Box 13"/>
          <p:cNvSpPr txBox="1">
            <a:spLocks noChangeArrowheads="1"/>
          </p:cNvSpPr>
          <p:nvPr/>
        </p:nvSpPr>
        <p:spPr bwMode="auto">
          <a:xfrm>
            <a:off x="5511800" y="5159375"/>
            <a:ext cx="3698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?</a:t>
            </a:r>
          </a:p>
        </p:txBody>
      </p:sp>
      <p:sp>
        <p:nvSpPr>
          <p:cNvPr id="70669" name="Rectangle 14"/>
          <p:cNvSpPr>
            <a:spLocks noChangeArrowheads="1"/>
          </p:cNvSpPr>
          <p:nvPr/>
        </p:nvSpPr>
        <p:spPr bwMode="auto">
          <a:xfrm>
            <a:off x="5503863" y="5049838"/>
            <a:ext cx="8731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solidFill>
                  <a:srgbClr val="CC0000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70670" name="Rectangle 15"/>
          <p:cNvSpPr>
            <a:spLocks noChangeArrowheads="1"/>
          </p:cNvSpPr>
          <p:nvPr/>
        </p:nvSpPr>
        <p:spPr bwMode="auto">
          <a:xfrm>
            <a:off x="6376988" y="5049838"/>
            <a:ext cx="1214437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solidFill>
                  <a:srgbClr val="CC0000"/>
                </a:solidFill>
                <a:latin typeface="Courier New" panose="02070309020205020404" pitchFamily="49" charset="0"/>
              </a:rPr>
              <a:t>Veli</a:t>
            </a:r>
          </a:p>
        </p:txBody>
      </p:sp>
      <p:sp>
        <p:nvSpPr>
          <p:cNvPr id="70671" name="Rectangle 16"/>
          <p:cNvSpPr>
            <a:spLocks noChangeArrowheads="1"/>
          </p:cNvSpPr>
          <p:nvPr/>
        </p:nvSpPr>
        <p:spPr bwMode="auto">
          <a:xfrm>
            <a:off x="7591425" y="5049838"/>
            <a:ext cx="5048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70672" name="Text Box 17"/>
          <p:cNvSpPr txBox="1">
            <a:spLocks noChangeArrowheads="1"/>
          </p:cNvSpPr>
          <p:nvPr/>
        </p:nvSpPr>
        <p:spPr bwMode="auto">
          <a:xfrm>
            <a:off x="5624513" y="5773738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num</a:t>
            </a:r>
          </a:p>
        </p:txBody>
      </p:sp>
      <p:sp>
        <p:nvSpPr>
          <p:cNvPr id="70673" name="Text Box 18"/>
          <p:cNvSpPr txBox="1">
            <a:spLocks noChangeArrowheads="1"/>
          </p:cNvSpPr>
          <p:nvPr/>
        </p:nvSpPr>
        <p:spPr bwMode="auto">
          <a:xfrm>
            <a:off x="6499225" y="5746750"/>
            <a:ext cx="1106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word</a:t>
            </a:r>
          </a:p>
        </p:txBody>
      </p:sp>
      <p:sp>
        <p:nvSpPr>
          <p:cNvPr id="70674" name="Text Box 19"/>
          <p:cNvSpPr txBox="1">
            <a:spLocks noChangeArrowheads="1"/>
          </p:cNvSpPr>
          <p:nvPr/>
        </p:nvSpPr>
        <p:spPr bwMode="auto">
          <a:xfrm>
            <a:off x="7481888" y="5759450"/>
            <a:ext cx="8334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tr-TR" altLang="tr-TR" sz="1800">
                <a:latin typeface="Courier New" panose="02070309020205020404" pitchFamily="49" charset="0"/>
              </a:rPr>
              <a:t>next</a:t>
            </a: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70675" name="Freeform 23"/>
          <p:cNvSpPr>
            <a:spLocks/>
          </p:cNvSpPr>
          <p:nvPr/>
        </p:nvSpPr>
        <p:spPr bwMode="auto">
          <a:xfrm>
            <a:off x="5156200" y="4749800"/>
            <a:ext cx="315913" cy="515938"/>
          </a:xfrm>
          <a:custGeom>
            <a:avLst/>
            <a:gdLst>
              <a:gd name="T0" fmla="*/ 2147483646 w 199"/>
              <a:gd name="T1" fmla="*/ 0 h 325"/>
              <a:gd name="T2" fmla="*/ 2147483646 w 199"/>
              <a:gd name="T3" fmla="*/ 2147483646 h 325"/>
              <a:gd name="T4" fmla="*/ 2147483646 w 199"/>
              <a:gd name="T5" fmla="*/ 2147483646 h 325"/>
              <a:gd name="T6" fmla="*/ 0 60000 65536"/>
              <a:gd name="T7" fmla="*/ 0 60000 65536"/>
              <a:gd name="T8" fmla="*/ 0 60000 65536"/>
              <a:gd name="T9" fmla="*/ 0 w 199"/>
              <a:gd name="T10" fmla="*/ 0 h 325"/>
              <a:gd name="T11" fmla="*/ 199 w 199"/>
              <a:gd name="T12" fmla="*/ 325 h 3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" h="325">
                <a:moveTo>
                  <a:pt x="36" y="0"/>
                </a:moveTo>
                <a:cubicBezTo>
                  <a:pt x="18" y="112"/>
                  <a:pt x="0" y="225"/>
                  <a:pt x="27" y="275"/>
                </a:cubicBezTo>
                <a:cubicBezTo>
                  <a:pt x="54" y="325"/>
                  <a:pt x="126" y="313"/>
                  <a:pt x="199" y="301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6" name="Text Box 26"/>
          <p:cNvSpPr txBox="1">
            <a:spLocks noChangeArrowheads="1"/>
          </p:cNvSpPr>
          <p:nvPr/>
        </p:nvSpPr>
        <p:spPr bwMode="auto">
          <a:xfrm>
            <a:off x="838200" y="5257800"/>
            <a:ext cx="325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p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70677" name="Text Box 27"/>
          <p:cNvSpPr txBox="1">
            <a:spLocks noChangeArrowheads="1"/>
          </p:cNvSpPr>
          <p:nvPr/>
        </p:nvSpPr>
        <p:spPr bwMode="auto">
          <a:xfrm>
            <a:off x="5008563" y="4306888"/>
            <a:ext cx="325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q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70678" name="Line 24"/>
          <p:cNvSpPr>
            <a:spLocks noChangeShapeType="1"/>
          </p:cNvSpPr>
          <p:nvPr/>
        </p:nvSpPr>
        <p:spPr bwMode="auto">
          <a:xfrm>
            <a:off x="5164138" y="5357813"/>
            <a:ext cx="0" cy="246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9" name="Line 25"/>
          <p:cNvSpPr>
            <a:spLocks noChangeShapeType="1"/>
          </p:cNvSpPr>
          <p:nvPr/>
        </p:nvSpPr>
        <p:spPr bwMode="auto">
          <a:xfrm flipV="1">
            <a:off x="5041900" y="5629275"/>
            <a:ext cx="258763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0680" name="Group 30"/>
          <p:cNvGrpSpPr>
            <a:grpSpLocks/>
          </p:cNvGrpSpPr>
          <p:nvPr/>
        </p:nvGrpSpPr>
        <p:grpSpPr bwMode="auto">
          <a:xfrm>
            <a:off x="4714875" y="5343525"/>
            <a:ext cx="533400" cy="381000"/>
            <a:chOff x="4875" y="3404"/>
            <a:chExt cx="336" cy="240"/>
          </a:xfrm>
        </p:grpSpPr>
        <p:sp>
          <p:nvSpPr>
            <p:cNvPr id="70688" name="Line 23"/>
            <p:cNvSpPr>
              <a:spLocks noChangeShapeType="1"/>
            </p:cNvSpPr>
            <p:nvPr/>
          </p:nvSpPr>
          <p:spPr bwMode="auto">
            <a:xfrm>
              <a:off x="4875" y="3404"/>
              <a:ext cx="2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9" name="Line 26"/>
            <p:cNvSpPr>
              <a:spLocks noChangeShapeType="1"/>
            </p:cNvSpPr>
            <p:nvPr/>
          </p:nvSpPr>
          <p:spPr bwMode="auto">
            <a:xfrm flipV="1">
              <a:off x="5124" y="3611"/>
              <a:ext cx="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0" name="Line 27"/>
            <p:cNvSpPr>
              <a:spLocks noChangeShapeType="1"/>
            </p:cNvSpPr>
            <p:nvPr/>
          </p:nvSpPr>
          <p:spPr bwMode="auto">
            <a:xfrm flipV="1">
              <a:off x="5133" y="3642"/>
              <a:ext cx="6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81" name="Line 24"/>
          <p:cNvSpPr>
            <a:spLocks noChangeShapeType="1"/>
          </p:cNvSpPr>
          <p:nvPr/>
        </p:nvSpPr>
        <p:spPr bwMode="auto">
          <a:xfrm>
            <a:off x="8535988" y="5395913"/>
            <a:ext cx="0" cy="246062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82" name="Line 25"/>
          <p:cNvSpPr>
            <a:spLocks noChangeShapeType="1"/>
          </p:cNvSpPr>
          <p:nvPr/>
        </p:nvSpPr>
        <p:spPr bwMode="auto">
          <a:xfrm flipV="1">
            <a:off x="8413750" y="5667375"/>
            <a:ext cx="258763" cy="1588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0683" name="Group 30"/>
          <p:cNvGrpSpPr>
            <a:grpSpLocks/>
          </p:cNvGrpSpPr>
          <p:nvPr/>
        </p:nvGrpSpPr>
        <p:grpSpPr bwMode="auto">
          <a:xfrm>
            <a:off x="8086725" y="5381625"/>
            <a:ext cx="533400" cy="328613"/>
            <a:chOff x="4875" y="3404"/>
            <a:chExt cx="336" cy="207"/>
          </a:xfrm>
        </p:grpSpPr>
        <p:sp>
          <p:nvSpPr>
            <p:cNvPr id="70686" name="Line 23"/>
            <p:cNvSpPr>
              <a:spLocks noChangeShapeType="1"/>
            </p:cNvSpPr>
            <p:nvPr/>
          </p:nvSpPr>
          <p:spPr bwMode="auto">
            <a:xfrm>
              <a:off x="4875" y="3404"/>
              <a:ext cx="283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7" name="Line 26"/>
            <p:cNvSpPr>
              <a:spLocks noChangeShapeType="1"/>
            </p:cNvSpPr>
            <p:nvPr/>
          </p:nvSpPr>
          <p:spPr bwMode="auto">
            <a:xfrm flipV="1">
              <a:off x="5124" y="3611"/>
              <a:ext cx="87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70684" name="Straight Connector 4"/>
          <p:cNvCxnSpPr>
            <a:cxnSpLocks noChangeShapeType="1"/>
          </p:cNvCxnSpPr>
          <p:nvPr/>
        </p:nvCxnSpPr>
        <p:spPr bwMode="auto">
          <a:xfrm>
            <a:off x="8531225" y="5732463"/>
            <a:ext cx="73025" cy="0"/>
          </a:xfrm>
          <a:prstGeom prst="line">
            <a:avLst/>
          </a:prstGeom>
          <a:noFill/>
          <a:ln w="952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85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C6E5E3-F92F-4424-AAFA-D1F7E08A1139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Introduction to linked lists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250" y="1363663"/>
            <a:ext cx="8526463" cy="3790950"/>
          </a:xfrm>
        </p:spPr>
        <p:txBody>
          <a:bodyPr/>
          <a:lstStyle/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smtClean="0">
                <a:latin typeface="Courier New" panose="02070309020205020404" pitchFamily="49" charset="0"/>
              </a:rPr>
              <a:t>	node *p, *q;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smtClean="0">
                <a:latin typeface="Courier New" panose="02070309020205020404" pitchFamily="49" charset="0"/>
              </a:rPr>
              <a:t>	p = new node;</a:t>
            </a:r>
          </a:p>
          <a:p>
            <a:pPr marL="381000" indent="-381000">
              <a:buFontTx/>
              <a:buNone/>
            </a:pPr>
            <a:r>
              <a:rPr lang="en-US" altLang="tr-TR" sz="2200" smtClean="0">
                <a:latin typeface="Courier New" panose="02070309020205020404" pitchFamily="49" charset="0"/>
              </a:rPr>
              <a:t>	p = new node(5,"Ali",NULL);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endParaRPr lang="en-US" altLang="tr-TR" sz="2200" smtClean="0">
              <a:latin typeface="Courier New" panose="02070309020205020404" pitchFamily="49" charset="0"/>
            </a:endParaRPr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smtClean="0">
                <a:latin typeface="Courier New" panose="02070309020205020404" pitchFamily="49" charset="0"/>
              </a:rPr>
              <a:t>	</a:t>
            </a:r>
            <a:r>
              <a:rPr lang="en-US" altLang="tr-TR" sz="2200" smtClean="0">
                <a:solidFill>
                  <a:srgbClr val="FF0000"/>
                </a:solidFill>
                <a:latin typeface="Courier New" panose="02070309020205020404" pitchFamily="49" charset="0"/>
              </a:rPr>
              <a:t>q = new node(8,"Veli",NULL);  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smtClean="0">
                <a:solidFill>
                  <a:srgbClr val="FF0000"/>
                </a:solidFill>
                <a:latin typeface="Courier New" panose="02070309020205020404" pitchFamily="49" charset="0"/>
              </a:rPr>
              <a:t>					</a:t>
            </a:r>
            <a:r>
              <a:rPr lang="en-US" altLang="tr-TR" sz="2200" smtClean="0">
                <a:solidFill>
                  <a:srgbClr val="00B050"/>
                </a:solidFill>
              </a:rPr>
              <a:t>//or I can use constructor</a:t>
            </a:r>
          </a:p>
          <a:p>
            <a:pPr marL="381000" indent="-381000">
              <a:lnSpc>
                <a:spcPct val="80000"/>
              </a:lnSpc>
              <a:buFontTx/>
              <a:buNone/>
            </a:pPr>
            <a:endParaRPr lang="en-US" altLang="tr-TR" sz="2200" smtClean="0">
              <a:latin typeface="Courier New" panose="02070309020205020404" pitchFamily="49" charset="0"/>
            </a:endParaRPr>
          </a:p>
          <a:p>
            <a:pPr marL="381000" indent="-381000">
              <a:lnSpc>
                <a:spcPct val="80000"/>
              </a:lnSpc>
              <a:buFontTx/>
              <a:buNone/>
            </a:pPr>
            <a:r>
              <a:rPr lang="en-US" altLang="tr-TR" sz="2200" b="1" smtClean="0">
                <a:solidFill>
                  <a:srgbClr val="CC0000"/>
                </a:solidFill>
                <a:latin typeface="Courier New" panose="02070309020205020404" pitchFamily="49" charset="0"/>
              </a:rPr>
              <a:t>	p-&gt;next = q;</a:t>
            </a:r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6373813" y="4148138"/>
            <a:ext cx="1527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2116138" y="5021263"/>
            <a:ext cx="8731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72710" name="Rectangle 6"/>
          <p:cNvSpPr>
            <a:spLocks noChangeArrowheads="1"/>
          </p:cNvSpPr>
          <p:nvPr/>
        </p:nvSpPr>
        <p:spPr bwMode="auto">
          <a:xfrm>
            <a:off x="2989263" y="5021263"/>
            <a:ext cx="1214437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Ali</a:t>
            </a:r>
          </a:p>
        </p:txBody>
      </p:sp>
      <p:sp>
        <p:nvSpPr>
          <p:cNvPr id="72711" name="Rectangle 7"/>
          <p:cNvSpPr>
            <a:spLocks noChangeArrowheads="1"/>
          </p:cNvSpPr>
          <p:nvPr/>
        </p:nvSpPr>
        <p:spPr bwMode="auto">
          <a:xfrm>
            <a:off x="4203700" y="5021263"/>
            <a:ext cx="5048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2236788" y="5745163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num</a:t>
            </a:r>
          </a:p>
        </p:txBody>
      </p:sp>
      <p:sp>
        <p:nvSpPr>
          <p:cNvPr id="72713" name="Text Box 9"/>
          <p:cNvSpPr txBox="1">
            <a:spLocks noChangeArrowheads="1"/>
          </p:cNvSpPr>
          <p:nvPr/>
        </p:nvSpPr>
        <p:spPr bwMode="auto">
          <a:xfrm>
            <a:off x="3111500" y="5718175"/>
            <a:ext cx="1106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word</a:t>
            </a:r>
          </a:p>
        </p:txBody>
      </p:sp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4094163" y="5730875"/>
            <a:ext cx="8334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tr-TR" altLang="tr-TR" sz="1800">
                <a:latin typeface="Courier New" panose="02070309020205020404" pitchFamily="49" charset="0"/>
              </a:rPr>
              <a:t>next</a:t>
            </a: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72715" name="Line 12"/>
          <p:cNvSpPr>
            <a:spLocks noChangeShapeType="1"/>
          </p:cNvSpPr>
          <p:nvPr/>
        </p:nvSpPr>
        <p:spPr bwMode="auto">
          <a:xfrm>
            <a:off x="1270000" y="5376863"/>
            <a:ext cx="804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6" name="Line 13"/>
          <p:cNvSpPr>
            <a:spLocks noChangeShapeType="1"/>
          </p:cNvSpPr>
          <p:nvPr/>
        </p:nvSpPr>
        <p:spPr bwMode="auto">
          <a:xfrm>
            <a:off x="4673972" y="5349875"/>
            <a:ext cx="5461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7" name="Text Box 14"/>
          <p:cNvSpPr txBox="1">
            <a:spLocks noChangeArrowheads="1"/>
          </p:cNvSpPr>
          <p:nvPr/>
        </p:nvSpPr>
        <p:spPr bwMode="auto">
          <a:xfrm>
            <a:off x="5211763" y="5159375"/>
            <a:ext cx="3698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?</a:t>
            </a:r>
          </a:p>
        </p:txBody>
      </p:sp>
      <p:sp>
        <p:nvSpPr>
          <p:cNvPr id="72718" name="Rectangle 15"/>
          <p:cNvSpPr>
            <a:spLocks noChangeArrowheads="1"/>
          </p:cNvSpPr>
          <p:nvPr/>
        </p:nvSpPr>
        <p:spPr bwMode="auto">
          <a:xfrm>
            <a:off x="5203825" y="5049838"/>
            <a:ext cx="8731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72719" name="Rectangle 16"/>
          <p:cNvSpPr>
            <a:spLocks noChangeArrowheads="1"/>
          </p:cNvSpPr>
          <p:nvPr/>
        </p:nvSpPr>
        <p:spPr bwMode="auto">
          <a:xfrm>
            <a:off x="6076950" y="5049838"/>
            <a:ext cx="1214438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Veli</a:t>
            </a:r>
          </a:p>
        </p:txBody>
      </p:sp>
      <p:sp>
        <p:nvSpPr>
          <p:cNvPr id="72720" name="Rectangle 17"/>
          <p:cNvSpPr>
            <a:spLocks noChangeArrowheads="1"/>
          </p:cNvSpPr>
          <p:nvPr/>
        </p:nvSpPr>
        <p:spPr bwMode="auto">
          <a:xfrm>
            <a:off x="7291388" y="5049838"/>
            <a:ext cx="504825" cy="682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72721" name="Text Box 18"/>
          <p:cNvSpPr txBox="1">
            <a:spLocks noChangeArrowheads="1"/>
          </p:cNvSpPr>
          <p:nvPr/>
        </p:nvSpPr>
        <p:spPr bwMode="auto">
          <a:xfrm>
            <a:off x="5324475" y="5773738"/>
            <a:ext cx="669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num</a:t>
            </a:r>
          </a:p>
        </p:txBody>
      </p:sp>
      <p:sp>
        <p:nvSpPr>
          <p:cNvPr id="72722" name="Text Box 19"/>
          <p:cNvSpPr txBox="1">
            <a:spLocks noChangeArrowheads="1"/>
          </p:cNvSpPr>
          <p:nvPr/>
        </p:nvSpPr>
        <p:spPr bwMode="auto">
          <a:xfrm>
            <a:off x="6199188" y="5746750"/>
            <a:ext cx="11064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sz="1800">
                <a:latin typeface="Courier New" panose="02070309020205020404" pitchFamily="49" charset="0"/>
              </a:rPr>
              <a:t>word</a:t>
            </a:r>
          </a:p>
        </p:txBody>
      </p:sp>
      <p:sp>
        <p:nvSpPr>
          <p:cNvPr id="72723" name="Text Box 20"/>
          <p:cNvSpPr txBox="1">
            <a:spLocks noChangeArrowheads="1"/>
          </p:cNvSpPr>
          <p:nvPr/>
        </p:nvSpPr>
        <p:spPr bwMode="auto">
          <a:xfrm>
            <a:off x="7181850" y="5759450"/>
            <a:ext cx="833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tr-TR" altLang="tr-TR" sz="1800">
                <a:latin typeface="Courier New" panose="02070309020205020404" pitchFamily="49" charset="0"/>
              </a:rPr>
              <a:t>next</a:t>
            </a:r>
            <a:endParaRPr lang="en-US" altLang="tr-TR" sz="1800">
              <a:latin typeface="Courier New" panose="02070309020205020404" pitchFamily="49" charset="0"/>
            </a:endParaRPr>
          </a:p>
        </p:txBody>
      </p:sp>
      <p:sp>
        <p:nvSpPr>
          <p:cNvPr id="72724" name="Freeform 22"/>
          <p:cNvSpPr>
            <a:spLocks/>
          </p:cNvSpPr>
          <p:nvPr/>
        </p:nvSpPr>
        <p:spPr bwMode="auto">
          <a:xfrm>
            <a:off x="4856163" y="4749800"/>
            <a:ext cx="315912" cy="515938"/>
          </a:xfrm>
          <a:custGeom>
            <a:avLst/>
            <a:gdLst>
              <a:gd name="T0" fmla="*/ 2147483646 w 199"/>
              <a:gd name="T1" fmla="*/ 0 h 325"/>
              <a:gd name="T2" fmla="*/ 2147483646 w 199"/>
              <a:gd name="T3" fmla="*/ 2147483646 h 325"/>
              <a:gd name="T4" fmla="*/ 2147483646 w 199"/>
              <a:gd name="T5" fmla="*/ 2147483646 h 325"/>
              <a:gd name="T6" fmla="*/ 0 60000 65536"/>
              <a:gd name="T7" fmla="*/ 0 60000 65536"/>
              <a:gd name="T8" fmla="*/ 0 60000 65536"/>
              <a:gd name="T9" fmla="*/ 0 w 199"/>
              <a:gd name="T10" fmla="*/ 0 h 325"/>
              <a:gd name="T11" fmla="*/ 199 w 199"/>
              <a:gd name="T12" fmla="*/ 325 h 3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" h="325">
                <a:moveTo>
                  <a:pt x="36" y="0"/>
                </a:moveTo>
                <a:cubicBezTo>
                  <a:pt x="18" y="112"/>
                  <a:pt x="0" y="225"/>
                  <a:pt x="27" y="275"/>
                </a:cubicBezTo>
                <a:cubicBezTo>
                  <a:pt x="54" y="325"/>
                  <a:pt x="126" y="313"/>
                  <a:pt x="199" y="301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2725" name="Group 1"/>
          <p:cNvGrpSpPr>
            <a:grpSpLocks/>
          </p:cNvGrpSpPr>
          <p:nvPr/>
        </p:nvGrpSpPr>
        <p:grpSpPr bwMode="auto">
          <a:xfrm>
            <a:off x="7739063" y="5403850"/>
            <a:ext cx="585787" cy="381000"/>
            <a:chOff x="7739063" y="5403850"/>
            <a:chExt cx="585787" cy="381000"/>
          </a:xfrm>
        </p:grpSpPr>
        <p:sp>
          <p:nvSpPr>
            <p:cNvPr id="72729" name="Line 24"/>
            <p:cNvSpPr>
              <a:spLocks noChangeShapeType="1"/>
            </p:cNvSpPr>
            <p:nvPr/>
          </p:nvSpPr>
          <p:spPr bwMode="auto">
            <a:xfrm>
              <a:off x="8188325" y="5418138"/>
              <a:ext cx="0" cy="2460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30" name="Line 25"/>
            <p:cNvSpPr>
              <a:spLocks noChangeShapeType="1"/>
            </p:cNvSpPr>
            <p:nvPr/>
          </p:nvSpPr>
          <p:spPr bwMode="auto">
            <a:xfrm flipV="1">
              <a:off x="8066088" y="5689600"/>
              <a:ext cx="258762" cy="1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731" name="Group 30"/>
            <p:cNvGrpSpPr>
              <a:grpSpLocks/>
            </p:cNvGrpSpPr>
            <p:nvPr/>
          </p:nvGrpSpPr>
          <p:grpSpPr bwMode="auto">
            <a:xfrm>
              <a:off x="7739063" y="5403850"/>
              <a:ext cx="533400" cy="381000"/>
              <a:chOff x="4875" y="3404"/>
              <a:chExt cx="336" cy="240"/>
            </a:xfrm>
          </p:grpSpPr>
          <p:sp>
            <p:nvSpPr>
              <p:cNvPr id="72732" name="Line 23"/>
              <p:cNvSpPr>
                <a:spLocks noChangeShapeType="1"/>
              </p:cNvSpPr>
              <p:nvPr/>
            </p:nvSpPr>
            <p:spPr bwMode="auto">
              <a:xfrm>
                <a:off x="4875" y="3404"/>
                <a:ext cx="28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33" name="Line 26"/>
              <p:cNvSpPr>
                <a:spLocks noChangeShapeType="1"/>
              </p:cNvSpPr>
              <p:nvPr/>
            </p:nvSpPr>
            <p:spPr bwMode="auto">
              <a:xfrm flipV="1">
                <a:off x="5124" y="3611"/>
                <a:ext cx="8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34" name="Line 27"/>
              <p:cNvSpPr>
                <a:spLocks noChangeShapeType="1"/>
              </p:cNvSpPr>
              <p:nvPr/>
            </p:nvSpPr>
            <p:spPr bwMode="auto">
              <a:xfrm flipV="1">
                <a:off x="5133" y="3642"/>
                <a:ext cx="69" cy="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2726" name="Text Box 28"/>
          <p:cNvSpPr txBox="1">
            <a:spLocks noChangeArrowheads="1"/>
          </p:cNvSpPr>
          <p:nvPr/>
        </p:nvSpPr>
        <p:spPr bwMode="auto">
          <a:xfrm>
            <a:off x="838200" y="5257800"/>
            <a:ext cx="325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p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72727" name="Text Box 29"/>
          <p:cNvSpPr txBox="1">
            <a:spLocks noChangeArrowheads="1"/>
          </p:cNvSpPr>
          <p:nvPr/>
        </p:nvSpPr>
        <p:spPr bwMode="auto">
          <a:xfrm>
            <a:off x="4708525" y="4306888"/>
            <a:ext cx="3254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q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7272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AD1911-E958-4CFD-8691-769C744C27D7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Linked Lists: Typical Functions</a:t>
            </a:r>
            <a:endParaRPr lang="en-US" dirty="0" smtClean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341438"/>
            <a:ext cx="8839200" cy="4087812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endParaRPr lang="en-US" altLang="tr-TR" sz="1700" smtClean="0"/>
          </a:p>
          <a:p>
            <a:pPr>
              <a:lnSpc>
                <a:spcPct val="70000"/>
              </a:lnSpc>
              <a:buFontTx/>
              <a:buNone/>
            </a:pPr>
            <a:endParaRPr lang="en-US" altLang="tr-TR" sz="1700" smtClean="0"/>
          </a:p>
          <a:p>
            <a:pPr>
              <a:lnSpc>
                <a:spcPct val="70000"/>
              </a:lnSpc>
              <a:buFontTx/>
              <a:buNone/>
            </a:pPr>
            <a:endParaRPr lang="en-US" altLang="tr-TR" sz="1700" smtClean="0"/>
          </a:p>
          <a:p>
            <a:pPr>
              <a:lnSpc>
                <a:spcPct val="70000"/>
              </a:lnSpc>
              <a:buFontTx/>
              <a:buNone/>
            </a:pPr>
            <a:endParaRPr lang="en-US" altLang="tr-TR" sz="2200" smtClean="0">
              <a:solidFill>
                <a:srgbClr val="CC0000"/>
              </a:solidFill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2200" b="1" smtClean="0">
                <a:solidFill>
                  <a:srgbClr val="CC0000"/>
                </a:solidFill>
              </a:rPr>
              <a:t>Printing an existing list pointed by </a:t>
            </a:r>
            <a:r>
              <a:rPr lang="en-US" altLang="tr-TR" sz="2200" b="1" i="1" smtClean="0">
                <a:solidFill>
                  <a:srgbClr val="CC0000"/>
                </a:solidFill>
              </a:rPr>
              <a:t>head</a:t>
            </a:r>
            <a:r>
              <a:rPr lang="en-US" altLang="tr-TR" sz="2200" b="1" smtClean="0">
                <a:solidFill>
                  <a:srgbClr val="CC0000"/>
                </a:solidFill>
              </a:rPr>
              <a:t>: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tr-TR" sz="2200" b="1" smtClean="0">
              <a:solidFill>
                <a:srgbClr val="CC0000"/>
              </a:solidFill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700" smtClean="0">
                <a:solidFill>
                  <a:schemeClr val="tx2"/>
                </a:solidFill>
              </a:rPr>
              <a:t>struct node {    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700" smtClean="0">
                <a:solidFill>
                  <a:schemeClr val="tx2"/>
                </a:solidFill>
              </a:rPr>
              <a:t>	int info;    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700" smtClean="0">
                <a:solidFill>
                  <a:schemeClr val="tx2"/>
                </a:solidFill>
              </a:rPr>
              <a:t>	node *next; </a:t>
            </a:r>
            <a:endParaRPr lang="tr-TR" altLang="tr-TR" sz="1700" smtClean="0">
              <a:solidFill>
                <a:schemeClr val="tx2"/>
              </a:solidFill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altLang="tr-TR" sz="1700" smtClean="0">
              <a:solidFill>
                <a:schemeClr val="tx2"/>
              </a:solidFill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tr-TR" altLang="tr-TR" sz="1700" smtClean="0">
                <a:solidFill>
                  <a:schemeClr val="tx2"/>
                </a:solidFill>
              </a:rPr>
              <a:t>      . . .  //constructors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700" smtClean="0">
                <a:solidFill>
                  <a:schemeClr val="tx2"/>
                </a:solidFill>
              </a:rPr>
              <a:t>}; 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tr-TR" sz="1700" smtClean="0">
              <a:solidFill>
                <a:schemeClr val="tx2"/>
              </a:solidFill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700" smtClean="0">
                <a:solidFill>
                  <a:schemeClr val="tx2"/>
                </a:solidFill>
              </a:rPr>
              <a:t>node *</a:t>
            </a:r>
            <a:r>
              <a:rPr lang="en-US" altLang="tr-TR" sz="1700" smtClean="0">
                <a:solidFill>
                  <a:srgbClr val="CC0000"/>
                </a:solidFill>
              </a:rPr>
              <a:t>head</a:t>
            </a:r>
            <a:r>
              <a:rPr lang="en-US" altLang="tr-TR" sz="1700" smtClean="0">
                <a:solidFill>
                  <a:schemeClr val="tx2"/>
                </a:solidFill>
              </a:rPr>
              <a:t>, *ptr;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700" smtClean="0">
                <a:solidFill>
                  <a:srgbClr val="339933"/>
                </a:solidFill>
              </a:rPr>
              <a:t>//list is filled here...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tr-TR" sz="1700" smtClean="0">
                <a:solidFill>
                  <a:srgbClr val="339933"/>
                </a:solidFill>
              </a:rPr>
              <a:t>//head points to first node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tr-TR" sz="17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altLang="tr-TR" sz="1700" smtClean="0">
              <a:latin typeface="Arial Unicode MS" pitchFamily="34" charset="-128"/>
            </a:endParaRPr>
          </a:p>
        </p:txBody>
      </p:sp>
      <p:grpSp>
        <p:nvGrpSpPr>
          <p:cNvPr id="74756" name="Group 4"/>
          <p:cNvGrpSpPr>
            <a:grpSpLocks/>
          </p:cNvGrpSpPr>
          <p:nvPr/>
        </p:nvGrpSpPr>
        <p:grpSpPr bwMode="auto">
          <a:xfrm>
            <a:off x="3857625" y="1547813"/>
            <a:ext cx="3838575" cy="533400"/>
            <a:chOff x="3150" y="720"/>
            <a:chExt cx="2418" cy="336"/>
          </a:xfrm>
        </p:grpSpPr>
        <p:grpSp>
          <p:nvGrpSpPr>
            <p:cNvPr id="74769" name="Group 5"/>
            <p:cNvGrpSpPr>
              <a:grpSpLocks/>
            </p:cNvGrpSpPr>
            <p:nvPr/>
          </p:nvGrpSpPr>
          <p:grpSpPr bwMode="auto">
            <a:xfrm>
              <a:off x="3600" y="720"/>
              <a:ext cx="1968" cy="336"/>
              <a:chOff x="2784" y="1152"/>
              <a:chExt cx="1968" cy="336"/>
            </a:xfrm>
          </p:grpSpPr>
          <p:sp>
            <p:nvSpPr>
              <p:cNvPr id="74771" name="Rectangle 6"/>
              <p:cNvSpPr>
                <a:spLocks noChangeArrowheads="1"/>
              </p:cNvSpPr>
              <p:nvPr/>
            </p:nvSpPr>
            <p:spPr bwMode="white">
              <a:xfrm>
                <a:off x="2784" y="1152"/>
                <a:ext cx="43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tr-TR" altLang="tr-T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772" name="Rectangle 7"/>
              <p:cNvSpPr>
                <a:spLocks noChangeArrowheads="1"/>
              </p:cNvSpPr>
              <p:nvPr/>
            </p:nvSpPr>
            <p:spPr bwMode="white">
              <a:xfrm>
                <a:off x="4320" y="1152"/>
                <a:ext cx="43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tr-TR" altLang="tr-T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773" name="Rectangle 8"/>
              <p:cNvSpPr>
                <a:spLocks noChangeArrowheads="1"/>
              </p:cNvSpPr>
              <p:nvPr/>
            </p:nvSpPr>
            <p:spPr bwMode="white">
              <a:xfrm>
                <a:off x="3552" y="1152"/>
                <a:ext cx="43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1600">
                    <a:solidFill>
                      <a:srgbClr val="3333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tr-TR" altLang="tr-T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774" name="Line 9"/>
              <p:cNvSpPr>
                <a:spLocks noChangeShapeType="1"/>
              </p:cNvSpPr>
              <p:nvPr/>
            </p:nvSpPr>
            <p:spPr bwMode="white">
              <a:xfrm>
                <a:off x="3216" y="1296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4775" name="Line 10"/>
              <p:cNvSpPr>
                <a:spLocks noChangeShapeType="1"/>
              </p:cNvSpPr>
              <p:nvPr/>
            </p:nvSpPr>
            <p:spPr bwMode="white">
              <a:xfrm>
                <a:off x="3984" y="1296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4770" name="Line 11"/>
            <p:cNvSpPr>
              <a:spLocks noChangeShapeType="1"/>
            </p:cNvSpPr>
            <p:nvPr/>
          </p:nvSpPr>
          <p:spPr bwMode="white">
            <a:xfrm>
              <a:off x="3150" y="871"/>
              <a:ext cx="405" cy="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74757" name="Text Box 14"/>
          <p:cNvSpPr txBox="1">
            <a:spLocks noChangeArrowheads="1"/>
          </p:cNvSpPr>
          <p:nvPr/>
        </p:nvSpPr>
        <p:spPr bwMode="white">
          <a:xfrm>
            <a:off x="2992438" y="1547813"/>
            <a:ext cx="1000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 b="1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tr-TR" altLang="tr-TR" sz="2400">
                <a:latin typeface="Times New Roman" panose="02020603050405020304" pitchFamily="18" charset="0"/>
              </a:rPr>
              <a:t> 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74758" name="Text Box 15"/>
          <p:cNvSpPr txBox="1">
            <a:spLocks noChangeArrowheads="1"/>
          </p:cNvSpPr>
          <p:nvPr/>
        </p:nvSpPr>
        <p:spPr bwMode="white">
          <a:xfrm>
            <a:off x="4140200" y="3141663"/>
            <a:ext cx="21129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1800">
              <a:solidFill>
                <a:schemeClr val="tx2"/>
              </a:solidFill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solidFill>
                  <a:srgbClr val="3333CC"/>
                </a:solidFill>
              </a:rPr>
              <a:t>	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74759" name="Line 24"/>
          <p:cNvSpPr>
            <a:spLocks noChangeShapeType="1"/>
          </p:cNvSpPr>
          <p:nvPr/>
        </p:nvSpPr>
        <p:spPr bwMode="auto">
          <a:xfrm>
            <a:off x="8145463" y="1776413"/>
            <a:ext cx="0" cy="246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0" name="Line 25"/>
          <p:cNvSpPr>
            <a:spLocks noChangeShapeType="1"/>
          </p:cNvSpPr>
          <p:nvPr/>
        </p:nvSpPr>
        <p:spPr bwMode="auto">
          <a:xfrm flipV="1">
            <a:off x="8023225" y="2047875"/>
            <a:ext cx="258763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4761" name="Group 30"/>
          <p:cNvGrpSpPr>
            <a:grpSpLocks/>
          </p:cNvGrpSpPr>
          <p:nvPr/>
        </p:nvGrpSpPr>
        <p:grpSpPr bwMode="auto">
          <a:xfrm>
            <a:off x="7696200" y="1762125"/>
            <a:ext cx="533400" cy="381000"/>
            <a:chOff x="4875" y="3404"/>
            <a:chExt cx="336" cy="240"/>
          </a:xfrm>
        </p:grpSpPr>
        <p:sp>
          <p:nvSpPr>
            <p:cNvPr id="74766" name="Line 23"/>
            <p:cNvSpPr>
              <a:spLocks noChangeShapeType="1"/>
            </p:cNvSpPr>
            <p:nvPr/>
          </p:nvSpPr>
          <p:spPr bwMode="auto">
            <a:xfrm>
              <a:off x="4875" y="3404"/>
              <a:ext cx="2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767" name="Line 26"/>
            <p:cNvSpPr>
              <a:spLocks noChangeShapeType="1"/>
            </p:cNvSpPr>
            <p:nvPr/>
          </p:nvSpPr>
          <p:spPr bwMode="auto">
            <a:xfrm flipV="1">
              <a:off x="5124" y="3611"/>
              <a:ext cx="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768" name="Line 27"/>
            <p:cNvSpPr>
              <a:spLocks noChangeShapeType="1"/>
            </p:cNvSpPr>
            <p:nvPr/>
          </p:nvSpPr>
          <p:spPr bwMode="auto">
            <a:xfrm flipV="1">
              <a:off x="5133" y="3642"/>
              <a:ext cx="6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424488" y="4924425"/>
            <a:ext cx="2857500" cy="708025"/>
          </a:xfrm>
          <a:prstGeom prst="rect">
            <a:avLst/>
          </a:prstGeom>
          <a:ln w="476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tr-TR" sz="2000" dirty="0" err="1"/>
              <a:t>End</a:t>
            </a:r>
            <a:r>
              <a:rPr lang="tr-TR" sz="2000" dirty="0"/>
              <a:t> of a </a:t>
            </a:r>
            <a:r>
              <a:rPr lang="tr-TR" sz="2000" dirty="0" err="1"/>
              <a:t>linked</a:t>
            </a:r>
            <a:r>
              <a:rPr lang="tr-TR" sz="2000" dirty="0"/>
              <a:t> </a:t>
            </a:r>
            <a:r>
              <a:rPr lang="tr-TR" sz="2000" dirty="0" err="1"/>
              <a:t>list</a:t>
            </a:r>
            <a:r>
              <a:rPr lang="tr-TR" sz="2000" dirty="0"/>
              <a:t> </a:t>
            </a:r>
            <a:r>
              <a:rPr lang="tr-TR" sz="2000" dirty="0" err="1"/>
              <a:t>should</a:t>
            </a:r>
            <a:r>
              <a:rPr lang="tr-TR" sz="2000" dirty="0"/>
              <a:t> </a:t>
            </a:r>
            <a:r>
              <a:rPr lang="tr-TR" sz="2000" dirty="0" err="1"/>
              <a:t>point</a:t>
            </a:r>
            <a:r>
              <a:rPr lang="tr-TR" sz="2000" dirty="0"/>
              <a:t> </a:t>
            </a:r>
            <a:r>
              <a:rPr lang="tr-TR" sz="2000" dirty="0" err="1"/>
              <a:t>to</a:t>
            </a:r>
            <a:r>
              <a:rPr lang="tr-TR" sz="2000" dirty="0"/>
              <a:t> NULL</a:t>
            </a:r>
          </a:p>
        </p:txBody>
      </p:sp>
      <p:sp>
        <p:nvSpPr>
          <p:cNvPr id="74763" name="Rectangle 20"/>
          <p:cNvSpPr>
            <a:spLocks noChangeArrowheads="1"/>
          </p:cNvSpPr>
          <p:nvPr/>
        </p:nvSpPr>
        <p:spPr bwMode="auto">
          <a:xfrm>
            <a:off x="4357688" y="3071813"/>
            <a:ext cx="45720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dirty="0">
                <a:solidFill>
                  <a:schemeClr val="tx2"/>
                </a:solidFill>
              </a:rPr>
              <a:t>ptr = </a:t>
            </a:r>
            <a:r>
              <a:rPr lang="tr-TR" altLang="tr-TR" dirty="0" err="1">
                <a:solidFill>
                  <a:schemeClr val="tx2"/>
                </a:solidFill>
              </a:rPr>
              <a:t>head</a:t>
            </a:r>
            <a:r>
              <a:rPr lang="tr-TR" altLang="tr-TR" dirty="0">
                <a:solidFill>
                  <a:schemeClr val="tx2"/>
                </a:solidFill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dirty="0" err="1">
                <a:solidFill>
                  <a:schemeClr val="tx2"/>
                </a:solidFill>
              </a:rPr>
              <a:t>while</a:t>
            </a:r>
            <a:r>
              <a:rPr lang="tr-TR" altLang="tr-TR" dirty="0">
                <a:solidFill>
                  <a:schemeClr val="tx2"/>
                </a:solidFill>
              </a:rPr>
              <a:t> (ptr != NULL)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dirty="0">
                <a:solidFill>
                  <a:schemeClr val="tx2"/>
                </a:solidFill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dirty="0">
                <a:solidFill>
                  <a:schemeClr val="tx2"/>
                </a:solidFill>
              </a:rPr>
              <a:t>    </a:t>
            </a:r>
            <a:r>
              <a:rPr lang="tr-TR" altLang="tr-TR" dirty="0" err="1">
                <a:solidFill>
                  <a:schemeClr val="tx2"/>
                </a:solidFill>
              </a:rPr>
              <a:t>cout</a:t>
            </a:r>
            <a:r>
              <a:rPr lang="tr-TR" altLang="tr-TR" dirty="0">
                <a:solidFill>
                  <a:schemeClr val="tx2"/>
                </a:solidFill>
              </a:rPr>
              <a:t> &lt;&lt; ptr -&gt;</a:t>
            </a:r>
            <a:r>
              <a:rPr lang="tr-TR" altLang="tr-TR" dirty="0" err="1">
                <a:solidFill>
                  <a:schemeClr val="tx2"/>
                </a:solidFill>
              </a:rPr>
              <a:t>info</a:t>
            </a:r>
            <a:r>
              <a:rPr lang="tr-TR" altLang="tr-TR" dirty="0">
                <a:solidFill>
                  <a:schemeClr val="tx2"/>
                </a:solidFill>
              </a:rPr>
              <a:t> &lt;&lt; </a:t>
            </a:r>
            <a:r>
              <a:rPr lang="tr-TR" altLang="tr-TR" dirty="0" err="1">
                <a:solidFill>
                  <a:schemeClr val="tx2"/>
                </a:solidFill>
              </a:rPr>
              <a:t>endl</a:t>
            </a:r>
            <a:r>
              <a:rPr lang="tr-TR" altLang="tr-TR" dirty="0">
                <a:solidFill>
                  <a:schemeClr val="tx2"/>
                </a:solidFill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dirty="0">
                <a:solidFill>
                  <a:schemeClr val="tx2"/>
                </a:solidFill>
              </a:rPr>
              <a:t>    ptr = ptr-&gt;</a:t>
            </a:r>
            <a:r>
              <a:rPr lang="tr-TR" altLang="tr-TR" dirty="0" err="1">
                <a:solidFill>
                  <a:schemeClr val="tx2"/>
                </a:solidFill>
              </a:rPr>
              <a:t>next</a:t>
            </a:r>
            <a:r>
              <a:rPr lang="tr-TR" altLang="tr-TR" dirty="0">
                <a:solidFill>
                  <a:schemeClr val="tx2"/>
                </a:solidFill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dirty="0">
                <a:solidFill>
                  <a:schemeClr val="tx2"/>
                </a:solidFill>
              </a:rPr>
              <a:t>}</a:t>
            </a:r>
            <a:endParaRPr lang="tr-TR" altLang="tr-TR" dirty="0">
              <a:latin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73163" y="5795963"/>
            <a:ext cx="6013450" cy="708025"/>
          </a:xfrm>
          <a:prstGeom prst="rect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do not want to lose </a:t>
            </a:r>
            <a:r>
              <a:rPr lang="en-US" sz="2000" b="1" dirty="0"/>
              <a:t>head</a:t>
            </a:r>
            <a:r>
              <a:rPr lang="en-US" sz="2000" dirty="0"/>
              <a:t>, because otherwise you cannot reach the list later</a:t>
            </a:r>
            <a:endParaRPr lang="tr-TR" sz="2000" dirty="0"/>
          </a:p>
        </p:txBody>
      </p:sp>
      <p:sp>
        <p:nvSpPr>
          <p:cNvPr id="7476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262E13D-9CC8-49C4-96A5-2A438E77F60D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Linked Lists: Typical Functions</a:t>
            </a:r>
            <a:endParaRPr lang="en-US" dirty="0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143001"/>
            <a:ext cx="8839200" cy="57150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endParaRPr lang="en-US" altLang="tr-TR" sz="1600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altLang="tr-TR" sz="1600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altLang="tr-TR" sz="1600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altLang="tr-TR" dirty="0" smtClean="0">
              <a:solidFill>
                <a:srgbClr val="CC0000"/>
              </a:solidFill>
              <a:latin typeface="Arial Unicode MS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tr-TR" dirty="0" smtClean="0">
              <a:solidFill>
                <a:srgbClr val="CC0000"/>
              </a:solidFill>
              <a:latin typeface="Arial Unicode MS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b="1" dirty="0" smtClean="0">
                <a:solidFill>
                  <a:srgbClr val="CC0000"/>
                </a:solidFill>
              </a:rPr>
              <a:t>Adding a node to the end of the list: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b="1" dirty="0" smtClean="0">
                <a:solidFill>
                  <a:srgbClr val="CC0000"/>
                </a:solidFill>
              </a:rPr>
              <a:t>Not so complete solution (Note the discussion in lecture)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tr-TR" sz="1800" dirty="0" smtClean="0">
              <a:latin typeface="Arial Unicode MS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void Add2End(node * tail, int id)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   node *</a:t>
            </a:r>
            <a:r>
              <a:rPr lang="en-US" altLang="tr-TR" sz="1600" dirty="0" err="1" smtClean="0"/>
              <a:t>nn</a:t>
            </a:r>
            <a:r>
              <a:rPr lang="en-US" altLang="tr-TR" sz="1600" dirty="0" smtClean="0"/>
              <a:t> = new node(id, NULL);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   tail-&gt;next = </a:t>
            </a:r>
            <a:r>
              <a:rPr lang="en-US" altLang="tr-TR" sz="1600" dirty="0" err="1" smtClean="0"/>
              <a:t>nn</a:t>
            </a:r>
            <a:r>
              <a:rPr lang="en-US" altLang="tr-TR" sz="1600" dirty="0" smtClean="0"/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   //This added the new id to the end of the list,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   //but now tail also needs updating – how?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   //we could return the new tail from the function: </a:t>
            </a:r>
            <a:r>
              <a:rPr lang="en-US" altLang="tr-TR" sz="1600" dirty="0" smtClean="0">
                <a:solidFill>
                  <a:srgbClr val="0000CC"/>
                </a:solidFill>
              </a:rPr>
              <a:t>node * Add2End(node * tail, int id)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>
                <a:solidFill>
                  <a:srgbClr val="0000CC"/>
                </a:solidFill>
              </a:rPr>
              <a:t>   </a:t>
            </a:r>
            <a:r>
              <a:rPr lang="en-US" altLang="tr-TR" sz="1600" dirty="0" smtClean="0"/>
              <a:t>//and let the caller do the update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   //or we could make tail a reference parameter and update it here…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   //but we left it as it is right now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/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dirty="0" smtClean="0">
                <a:latin typeface="Arial Unicode MS" pitchFamily="34" charset="-128"/>
              </a:rPr>
              <a:t>   </a:t>
            </a:r>
          </a:p>
        </p:txBody>
      </p:sp>
      <p:sp>
        <p:nvSpPr>
          <p:cNvPr id="76804" name="Text Box 15"/>
          <p:cNvSpPr txBox="1">
            <a:spLocks noChangeArrowheads="1"/>
          </p:cNvSpPr>
          <p:nvPr/>
        </p:nvSpPr>
        <p:spPr bwMode="white">
          <a:xfrm>
            <a:off x="4140200" y="3141663"/>
            <a:ext cx="10985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solidFill>
                  <a:srgbClr val="3333CC"/>
                </a:solidFill>
              </a:rPr>
              <a:t>	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grpSp>
        <p:nvGrpSpPr>
          <p:cNvPr id="76805" name="Group 30"/>
          <p:cNvGrpSpPr>
            <a:grpSpLocks/>
          </p:cNvGrpSpPr>
          <p:nvPr/>
        </p:nvGrpSpPr>
        <p:grpSpPr bwMode="auto">
          <a:xfrm>
            <a:off x="3071813" y="1547813"/>
            <a:ext cx="5210175" cy="595312"/>
            <a:chOff x="3071802" y="1547800"/>
            <a:chExt cx="5210185" cy="595316"/>
          </a:xfrm>
        </p:grpSpPr>
        <p:grpSp>
          <p:nvGrpSpPr>
            <p:cNvPr id="76809" name="Group 4"/>
            <p:cNvGrpSpPr>
              <a:grpSpLocks/>
            </p:cNvGrpSpPr>
            <p:nvPr/>
          </p:nvGrpSpPr>
          <p:grpSpPr bwMode="auto">
            <a:xfrm>
              <a:off x="3857624" y="1547818"/>
              <a:ext cx="3838575" cy="533400"/>
              <a:chOff x="3150" y="720"/>
              <a:chExt cx="2418" cy="336"/>
            </a:xfrm>
          </p:grpSpPr>
          <p:grpSp>
            <p:nvGrpSpPr>
              <p:cNvPr id="76817" name="Group 5"/>
              <p:cNvGrpSpPr>
                <a:grpSpLocks/>
              </p:cNvGrpSpPr>
              <p:nvPr/>
            </p:nvGrpSpPr>
            <p:grpSpPr bwMode="auto">
              <a:xfrm>
                <a:off x="3600" y="720"/>
                <a:ext cx="1968" cy="336"/>
                <a:chOff x="2784" y="1152"/>
                <a:chExt cx="1968" cy="336"/>
              </a:xfrm>
            </p:grpSpPr>
            <p:sp>
              <p:nvSpPr>
                <p:cNvPr id="76819" name="Rectangle 6"/>
                <p:cNvSpPr>
                  <a:spLocks noChangeArrowheads="1"/>
                </p:cNvSpPr>
                <p:nvPr/>
              </p:nvSpPr>
              <p:spPr bwMode="white">
                <a:xfrm>
                  <a:off x="2784" y="1152"/>
                  <a:ext cx="432" cy="33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tr-TR" altLang="tr-T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6820" name="Rectangle 7"/>
                <p:cNvSpPr>
                  <a:spLocks noChangeArrowheads="1"/>
                </p:cNvSpPr>
                <p:nvPr/>
              </p:nvSpPr>
              <p:spPr bwMode="white">
                <a:xfrm>
                  <a:off x="4320" y="1152"/>
                  <a:ext cx="432" cy="33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tr-TR" altLang="tr-T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6821" name="Rectangle 8"/>
                <p:cNvSpPr>
                  <a:spLocks noChangeArrowheads="1"/>
                </p:cNvSpPr>
                <p:nvPr/>
              </p:nvSpPr>
              <p:spPr bwMode="white">
                <a:xfrm>
                  <a:off x="3552" y="1152"/>
                  <a:ext cx="432" cy="33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sz="1600">
                      <a:solidFill>
                        <a:srgbClr val="3333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tr-TR" altLang="tr-T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6822" name="Line 9"/>
                <p:cNvSpPr>
                  <a:spLocks noChangeShapeType="1"/>
                </p:cNvSpPr>
                <p:nvPr/>
              </p:nvSpPr>
              <p:spPr bwMode="white">
                <a:xfrm>
                  <a:off x="3216" y="129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76823" name="Line 10"/>
                <p:cNvSpPr>
                  <a:spLocks noChangeShapeType="1"/>
                </p:cNvSpPr>
                <p:nvPr/>
              </p:nvSpPr>
              <p:spPr bwMode="white">
                <a:xfrm>
                  <a:off x="3984" y="129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6818" name="Line 11"/>
              <p:cNvSpPr>
                <a:spLocks noChangeShapeType="1"/>
              </p:cNvSpPr>
              <p:nvPr/>
            </p:nvSpPr>
            <p:spPr bwMode="white">
              <a:xfrm>
                <a:off x="3150" y="871"/>
                <a:ext cx="405" cy="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6810" name="Text Box 14"/>
            <p:cNvSpPr txBox="1">
              <a:spLocks noChangeArrowheads="1"/>
            </p:cNvSpPr>
            <p:nvPr/>
          </p:nvSpPr>
          <p:spPr bwMode="white">
            <a:xfrm>
              <a:off x="3071802" y="1547800"/>
              <a:ext cx="841896" cy="461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rgbClr val="3333C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rgbClr val="3333CC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sz="1600">
                  <a:solidFill>
                    <a:srgbClr val="3333CC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tr-TR" altLang="tr-TR" sz="2400">
                  <a:latin typeface="Times New Roman" panose="02020603050405020304" pitchFamily="18" charset="0"/>
                </a:rPr>
                <a:t>head </a:t>
              </a:r>
              <a:endParaRPr lang="en-US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76811" name="Line 24"/>
            <p:cNvSpPr>
              <a:spLocks noChangeShapeType="1"/>
            </p:cNvSpPr>
            <p:nvPr/>
          </p:nvSpPr>
          <p:spPr bwMode="auto">
            <a:xfrm>
              <a:off x="8145461" y="1776402"/>
              <a:ext cx="0" cy="2460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12" name="Line 25"/>
            <p:cNvSpPr>
              <a:spLocks noChangeShapeType="1"/>
            </p:cNvSpPr>
            <p:nvPr/>
          </p:nvSpPr>
          <p:spPr bwMode="auto">
            <a:xfrm flipV="1">
              <a:off x="8023225" y="2047864"/>
              <a:ext cx="258762" cy="1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6813" name="Group 30"/>
            <p:cNvGrpSpPr>
              <a:grpSpLocks/>
            </p:cNvGrpSpPr>
            <p:nvPr/>
          </p:nvGrpSpPr>
          <p:grpSpPr bwMode="auto">
            <a:xfrm>
              <a:off x="7696200" y="1762116"/>
              <a:ext cx="533400" cy="381000"/>
              <a:chOff x="4875" y="3404"/>
              <a:chExt cx="336" cy="240"/>
            </a:xfrm>
          </p:grpSpPr>
          <p:sp>
            <p:nvSpPr>
              <p:cNvPr id="76814" name="Line 23"/>
              <p:cNvSpPr>
                <a:spLocks noChangeShapeType="1"/>
              </p:cNvSpPr>
              <p:nvPr/>
            </p:nvSpPr>
            <p:spPr bwMode="auto">
              <a:xfrm>
                <a:off x="4875" y="3404"/>
                <a:ext cx="28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15" name="Line 26"/>
              <p:cNvSpPr>
                <a:spLocks noChangeShapeType="1"/>
              </p:cNvSpPr>
              <p:nvPr/>
            </p:nvSpPr>
            <p:spPr bwMode="auto">
              <a:xfrm flipV="1">
                <a:off x="5124" y="3611"/>
                <a:ext cx="8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16" name="Line 27"/>
              <p:cNvSpPr>
                <a:spLocks noChangeShapeType="1"/>
              </p:cNvSpPr>
              <p:nvPr/>
            </p:nvSpPr>
            <p:spPr bwMode="auto">
              <a:xfrm flipV="1">
                <a:off x="5133" y="3642"/>
                <a:ext cx="69" cy="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6806" name="Text Box 14"/>
          <p:cNvSpPr txBox="1">
            <a:spLocks noChangeArrowheads="1"/>
          </p:cNvSpPr>
          <p:nvPr/>
        </p:nvSpPr>
        <p:spPr bwMode="white">
          <a:xfrm>
            <a:off x="7072313" y="2357438"/>
            <a:ext cx="5762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tail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cxnSp>
        <p:nvCxnSpPr>
          <p:cNvPr id="76807" name="Straight Arrow Connector 33"/>
          <p:cNvCxnSpPr>
            <a:cxnSpLocks noChangeShapeType="1"/>
            <a:stCxn id="76806" idx="0"/>
            <a:endCxn id="76820" idx="2"/>
          </p:cNvCxnSpPr>
          <p:nvPr/>
        </p:nvCxnSpPr>
        <p:spPr bwMode="auto">
          <a:xfrm rot="16200000" flipV="1">
            <a:off x="7218362" y="2216151"/>
            <a:ext cx="276225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680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9E6C49D-4F6E-4E4B-9C7D-723D23A06372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52400"/>
            <a:ext cx="9001125" cy="990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Linked Lists: building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341438"/>
            <a:ext cx="8839200" cy="2895600"/>
          </a:xfrm>
        </p:spPr>
        <p:txBody>
          <a:bodyPr/>
          <a:lstStyle/>
          <a:p>
            <a:pPr>
              <a:buFontTx/>
              <a:buNone/>
            </a:pPr>
            <a:endParaRPr lang="en-US" altLang="tr-TR" dirty="0" smtClean="0"/>
          </a:p>
          <a:p>
            <a:pPr>
              <a:buFontTx/>
              <a:buNone/>
            </a:pPr>
            <a:endParaRPr lang="en-US" altLang="tr-TR" dirty="0" smtClean="0"/>
          </a:p>
          <a:p>
            <a:pPr>
              <a:buFontTx/>
              <a:buNone/>
            </a:pPr>
            <a:endParaRPr lang="en-US" altLang="tr-TR" dirty="0" smtClean="0"/>
          </a:p>
          <a:p>
            <a:pPr>
              <a:buFontTx/>
              <a:buNone/>
            </a:pPr>
            <a:endParaRPr lang="en-US" altLang="tr-TR" dirty="0" smtClean="0"/>
          </a:p>
          <a:p>
            <a:pPr>
              <a:buFontTx/>
              <a:buNone/>
            </a:pPr>
            <a:endParaRPr lang="en-US" altLang="tr-TR" dirty="0" smtClean="0">
              <a:latin typeface="Arial Unicode MS" pitchFamily="34" charset="-128"/>
            </a:endParaRPr>
          </a:p>
          <a:p>
            <a:pPr>
              <a:buFontTx/>
              <a:buNone/>
            </a:pPr>
            <a:endParaRPr lang="en-US" altLang="tr-TR" dirty="0" smtClean="0">
              <a:latin typeface="Arial Unicode MS" pitchFamily="34" charset="-128"/>
            </a:endParaRPr>
          </a:p>
        </p:txBody>
      </p:sp>
      <p:sp>
        <p:nvSpPr>
          <p:cNvPr id="78852" name="Text Box 15"/>
          <p:cNvSpPr txBox="1">
            <a:spLocks noChangeArrowheads="1"/>
          </p:cNvSpPr>
          <p:nvPr/>
        </p:nvSpPr>
        <p:spPr bwMode="white">
          <a:xfrm>
            <a:off x="285750" y="1143000"/>
            <a:ext cx="8750300" cy="5047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600" b="1" dirty="0">
                <a:solidFill>
                  <a:srgbClr val="339933"/>
                </a:solidFill>
              </a:rPr>
              <a:t>//TASK: Put </a:t>
            </a:r>
            <a:r>
              <a:rPr lang="tr-TR" altLang="tr-TR" sz="1600" b="1" dirty="0" err="1">
                <a:solidFill>
                  <a:srgbClr val="339933"/>
                </a:solidFill>
              </a:rPr>
              <a:t>contents</a:t>
            </a:r>
            <a:r>
              <a:rPr lang="tr-TR" altLang="tr-TR" sz="1600" b="1" dirty="0">
                <a:solidFill>
                  <a:srgbClr val="339933"/>
                </a:solidFill>
              </a:rPr>
              <a:t> of </a:t>
            </a:r>
            <a:r>
              <a:rPr lang="tr-TR" altLang="tr-TR" sz="1600" b="1" dirty="0" err="1">
                <a:solidFill>
                  <a:srgbClr val="339933"/>
                </a:solidFill>
              </a:rPr>
              <a:t>storage</a:t>
            </a:r>
            <a:r>
              <a:rPr lang="tr-TR" altLang="tr-TR" sz="1600" b="1" dirty="0">
                <a:solidFill>
                  <a:srgbClr val="339933"/>
                </a:solidFill>
              </a:rPr>
              <a:t> </a:t>
            </a:r>
            <a:r>
              <a:rPr lang="tr-TR" altLang="tr-TR" sz="1600" b="1" dirty="0" err="1">
                <a:solidFill>
                  <a:srgbClr val="339933"/>
                </a:solidFill>
              </a:rPr>
              <a:t>into</a:t>
            </a:r>
            <a:r>
              <a:rPr lang="tr-TR" altLang="tr-TR" sz="1600" b="1" dirty="0">
                <a:solidFill>
                  <a:srgbClr val="339933"/>
                </a:solidFill>
              </a:rPr>
              <a:t> a </a:t>
            </a:r>
            <a:r>
              <a:rPr lang="tr-TR" altLang="tr-TR" sz="1600" b="1" dirty="0" err="1">
                <a:solidFill>
                  <a:srgbClr val="339933"/>
                </a:solidFill>
              </a:rPr>
              <a:t>linked</a:t>
            </a:r>
            <a:r>
              <a:rPr lang="tr-TR" altLang="tr-TR" sz="1600" b="1" dirty="0">
                <a:solidFill>
                  <a:srgbClr val="339933"/>
                </a:solidFill>
              </a:rPr>
              <a:t> </a:t>
            </a:r>
            <a:r>
              <a:rPr lang="tr-TR" altLang="tr-TR" sz="1600" b="1" dirty="0" err="1" smtClean="0">
                <a:solidFill>
                  <a:srgbClr val="339933"/>
                </a:solidFill>
              </a:rPr>
              <a:t>list</a:t>
            </a:r>
            <a:r>
              <a:rPr lang="en-US" altLang="tr-TR" sz="1600" b="1" dirty="0">
                <a:solidFill>
                  <a:srgbClr val="339933"/>
                </a:solidFill>
              </a:rPr>
              <a:t> </a:t>
            </a:r>
            <a:r>
              <a:rPr lang="en-US" altLang="tr-TR" sz="1600" b="1" dirty="0" smtClean="0">
                <a:solidFill>
                  <a:srgbClr val="339933"/>
                </a:solidFill>
              </a:rPr>
              <a:t>(to the beginning of the list one by one)</a:t>
            </a:r>
            <a:endParaRPr lang="tr-TR" altLang="tr-TR" sz="1600" b="1" dirty="0">
              <a:solidFill>
                <a:srgbClr val="339933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tr-TR" sz="1800" dirty="0" err="1">
                <a:solidFill>
                  <a:schemeClr val="tx2"/>
                </a:solidFill>
              </a:rPr>
              <a:t>struct</a:t>
            </a:r>
            <a:r>
              <a:rPr lang="en-US" altLang="tr-TR" sz="1800" dirty="0">
                <a:solidFill>
                  <a:schemeClr val="tx2"/>
                </a:solidFill>
              </a:rPr>
              <a:t> node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tr-TR" sz="1800" dirty="0">
                <a:solidFill>
                  <a:schemeClr val="tx2"/>
                </a:solidFill>
              </a:rPr>
              <a:t>{    </a:t>
            </a:r>
            <a:endParaRPr lang="tr-TR" altLang="tr-TR" sz="18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chemeClr val="tx2"/>
                </a:solidFill>
              </a:rPr>
              <a:t>	</a:t>
            </a:r>
            <a:r>
              <a:rPr lang="en-US" altLang="tr-TR" sz="1800" dirty="0">
                <a:solidFill>
                  <a:schemeClr val="tx2"/>
                </a:solidFill>
              </a:rPr>
              <a:t>int </a:t>
            </a:r>
            <a:r>
              <a:rPr lang="tr-TR" altLang="tr-TR" sz="1800" dirty="0" err="1">
                <a:solidFill>
                  <a:schemeClr val="tx2"/>
                </a:solidFill>
              </a:rPr>
              <a:t>info</a:t>
            </a:r>
            <a:r>
              <a:rPr lang="en-US" altLang="tr-TR" sz="1800" dirty="0">
                <a:solidFill>
                  <a:schemeClr val="tx2"/>
                </a:solidFill>
              </a:rPr>
              <a:t>;    </a:t>
            </a:r>
            <a:endParaRPr lang="tr-TR" altLang="tr-TR" sz="18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chemeClr val="tx2"/>
                </a:solidFill>
              </a:rPr>
              <a:t>	</a:t>
            </a:r>
            <a:r>
              <a:rPr lang="en-US" altLang="tr-TR" sz="1800" dirty="0">
                <a:solidFill>
                  <a:schemeClr val="tx2"/>
                </a:solidFill>
              </a:rPr>
              <a:t>node *</a:t>
            </a:r>
            <a:r>
              <a:rPr lang="tr-TR" altLang="tr-TR" sz="1800" dirty="0" err="1">
                <a:solidFill>
                  <a:schemeClr val="tx2"/>
                </a:solidFill>
              </a:rPr>
              <a:t>next</a:t>
            </a:r>
            <a:r>
              <a:rPr lang="en-US" altLang="tr-TR" sz="1800" dirty="0">
                <a:solidFill>
                  <a:schemeClr val="tx2"/>
                </a:solidFill>
              </a:rPr>
              <a:t>; </a:t>
            </a:r>
            <a:endParaRPr lang="tr-TR" altLang="tr-TR" sz="18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tr-TR" sz="1800" dirty="0">
                <a:solidFill>
                  <a:schemeClr val="tx2"/>
                </a:solidFill>
              </a:rPr>
              <a:t>};</a:t>
            </a:r>
            <a:endParaRPr lang="tr-TR" altLang="tr-TR" sz="18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chemeClr val="tx2"/>
                </a:solidFill>
              </a:rPr>
              <a:t>int </a:t>
            </a:r>
            <a:r>
              <a:rPr lang="tr-TR" altLang="tr-TR" sz="1800" dirty="0" err="1">
                <a:solidFill>
                  <a:schemeClr val="tx2"/>
                </a:solidFill>
              </a:rPr>
              <a:t>storage</a:t>
            </a:r>
            <a:r>
              <a:rPr lang="tr-TR" altLang="tr-TR" sz="1800" dirty="0">
                <a:solidFill>
                  <a:schemeClr val="tx2"/>
                </a:solidFill>
              </a:rPr>
              <a:t>[] = {1,2,3,4};</a:t>
            </a:r>
            <a:endParaRPr lang="tr-TR" altLang="tr-TR" sz="1200" i="1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tr-TR" sz="1800" dirty="0">
                <a:solidFill>
                  <a:srgbClr val="CC0000"/>
                </a:solidFill>
              </a:rPr>
              <a:t>node *</a:t>
            </a:r>
            <a:r>
              <a:rPr lang="tr-TR" altLang="tr-TR" sz="1800" dirty="0" err="1">
                <a:solidFill>
                  <a:srgbClr val="CC0000"/>
                </a:solidFill>
              </a:rPr>
              <a:t>head</a:t>
            </a:r>
            <a:r>
              <a:rPr lang="tr-TR" altLang="tr-TR" sz="1800" dirty="0">
                <a:solidFill>
                  <a:srgbClr val="CC0000"/>
                </a:solidFill>
              </a:rPr>
              <a:t> = NULL;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 err="1">
                <a:solidFill>
                  <a:srgbClr val="CC0000"/>
                </a:solidFill>
              </a:rPr>
              <a:t>node</a:t>
            </a:r>
            <a:r>
              <a:rPr lang="tr-TR" altLang="tr-TR" sz="1800" dirty="0">
                <a:solidFill>
                  <a:srgbClr val="CC0000"/>
                </a:solidFill>
              </a:rPr>
              <a:t> *</a:t>
            </a:r>
            <a:r>
              <a:rPr lang="tr-TR" altLang="tr-TR" sz="1800" dirty="0" err="1">
                <a:solidFill>
                  <a:srgbClr val="CC0000"/>
                </a:solidFill>
              </a:rPr>
              <a:t>temp</a:t>
            </a:r>
            <a:r>
              <a:rPr lang="tr-TR" altLang="tr-TR" sz="1800" dirty="0">
                <a:solidFill>
                  <a:srgbClr val="CC0000"/>
                </a:solidFill>
              </a:rPr>
              <a:t> = NULL;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tr-TR" altLang="tr-TR" sz="1800" dirty="0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 err="1">
                <a:solidFill>
                  <a:schemeClr val="tx2"/>
                </a:solidFill>
              </a:rPr>
              <a:t>for</a:t>
            </a:r>
            <a:r>
              <a:rPr lang="tr-TR" altLang="tr-TR" sz="1800" dirty="0">
                <a:solidFill>
                  <a:schemeClr val="tx2"/>
                </a:solidFill>
              </a:rPr>
              <a:t> (int k=0; k &lt; 4; k++)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chemeClr val="tx2"/>
                </a:solidFill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rgbClr val="008000"/>
                </a:solidFill>
              </a:rPr>
              <a:t>	</a:t>
            </a:r>
            <a:r>
              <a:rPr lang="tr-TR" altLang="tr-TR" sz="1800" dirty="0" err="1"/>
              <a:t>temp</a:t>
            </a:r>
            <a:r>
              <a:rPr lang="tr-TR" altLang="tr-TR" sz="1800" dirty="0"/>
              <a:t> = </a:t>
            </a:r>
            <a:r>
              <a:rPr lang="tr-TR" altLang="tr-TR" sz="1800" dirty="0" err="1"/>
              <a:t>new</a:t>
            </a:r>
            <a:r>
              <a:rPr lang="tr-TR" altLang="tr-TR" sz="1800" dirty="0"/>
              <a:t> </a:t>
            </a:r>
            <a:r>
              <a:rPr lang="tr-TR" altLang="tr-TR" sz="1800" dirty="0" err="1"/>
              <a:t>node</a:t>
            </a:r>
            <a:r>
              <a:rPr lang="tr-TR" altLang="tr-TR" sz="1800" dirty="0"/>
              <a:t>();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/>
              <a:t>	</a:t>
            </a:r>
            <a:r>
              <a:rPr lang="tr-TR" altLang="tr-TR" sz="1800" dirty="0" err="1">
                <a:solidFill>
                  <a:srgbClr val="0000CC"/>
                </a:solidFill>
              </a:rPr>
              <a:t>temp</a:t>
            </a:r>
            <a:r>
              <a:rPr lang="tr-TR" altLang="tr-TR" sz="1800" dirty="0">
                <a:solidFill>
                  <a:srgbClr val="0000CC"/>
                </a:solidFill>
              </a:rPr>
              <a:t>-&gt;</a:t>
            </a:r>
            <a:r>
              <a:rPr lang="tr-TR" altLang="tr-TR" sz="1800" dirty="0" err="1">
                <a:solidFill>
                  <a:srgbClr val="0000CC"/>
                </a:solidFill>
              </a:rPr>
              <a:t>info</a:t>
            </a:r>
            <a:r>
              <a:rPr lang="tr-TR" altLang="tr-TR" sz="1800" dirty="0">
                <a:solidFill>
                  <a:srgbClr val="0000CC"/>
                </a:solidFill>
              </a:rPr>
              <a:t> = </a:t>
            </a:r>
            <a:r>
              <a:rPr lang="tr-TR" altLang="tr-TR" sz="1800" dirty="0" err="1">
                <a:solidFill>
                  <a:srgbClr val="0000CC"/>
                </a:solidFill>
              </a:rPr>
              <a:t>storage</a:t>
            </a:r>
            <a:r>
              <a:rPr lang="tr-TR" altLang="tr-TR" sz="1800" dirty="0">
                <a:solidFill>
                  <a:srgbClr val="0000CC"/>
                </a:solidFill>
              </a:rPr>
              <a:t>[k];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rgbClr val="0000CC"/>
                </a:solidFill>
              </a:rPr>
              <a:t>	</a:t>
            </a:r>
            <a:r>
              <a:rPr lang="tr-TR" altLang="tr-TR" sz="1800" dirty="0" err="1">
                <a:solidFill>
                  <a:srgbClr val="0000CC"/>
                </a:solidFill>
              </a:rPr>
              <a:t>temp</a:t>
            </a:r>
            <a:r>
              <a:rPr lang="tr-TR" altLang="tr-TR" sz="1800" dirty="0">
                <a:solidFill>
                  <a:srgbClr val="0000CC"/>
                </a:solidFill>
              </a:rPr>
              <a:t>-&gt;</a:t>
            </a:r>
            <a:r>
              <a:rPr lang="tr-TR" altLang="tr-TR" sz="1800" dirty="0" err="1">
                <a:solidFill>
                  <a:srgbClr val="0000CC"/>
                </a:solidFill>
              </a:rPr>
              <a:t>next</a:t>
            </a:r>
            <a:r>
              <a:rPr lang="tr-TR" altLang="tr-TR" sz="1800" dirty="0">
                <a:solidFill>
                  <a:srgbClr val="0000CC"/>
                </a:solidFill>
              </a:rPr>
              <a:t> = </a:t>
            </a:r>
            <a:r>
              <a:rPr lang="tr-TR" altLang="tr-TR" sz="1800" dirty="0" err="1">
                <a:solidFill>
                  <a:srgbClr val="0000CC"/>
                </a:solidFill>
              </a:rPr>
              <a:t>head</a:t>
            </a:r>
            <a:r>
              <a:rPr lang="tr-TR" altLang="tr-TR" sz="1800" dirty="0">
                <a:solidFill>
                  <a:srgbClr val="0000CC"/>
                </a:solidFill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chemeClr val="tx2"/>
                </a:solidFill>
              </a:rPr>
              <a:t>	</a:t>
            </a:r>
            <a:r>
              <a:rPr lang="tr-TR" altLang="tr-TR" sz="1800" dirty="0" err="1">
                <a:solidFill>
                  <a:schemeClr val="tx2"/>
                </a:solidFill>
              </a:rPr>
              <a:t>head</a:t>
            </a:r>
            <a:r>
              <a:rPr lang="tr-TR" altLang="tr-TR" sz="1800" dirty="0">
                <a:solidFill>
                  <a:schemeClr val="tx2"/>
                </a:solidFill>
              </a:rPr>
              <a:t> = </a:t>
            </a:r>
            <a:r>
              <a:rPr lang="tr-TR" altLang="tr-TR" sz="1800" dirty="0" err="1">
                <a:solidFill>
                  <a:schemeClr val="tx2"/>
                </a:solidFill>
              </a:rPr>
              <a:t>temp</a:t>
            </a:r>
            <a:r>
              <a:rPr lang="tr-TR" altLang="tr-TR" sz="1800" dirty="0">
                <a:solidFill>
                  <a:schemeClr val="tx2"/>
                </a:solidFill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chemeClr val="tx2"/>
                </a:solidFill>
              </a:rPr>
              <a:t>}</a:t>
            </a:r>
            <a:endParaRPr lang="en-US" altLang="tr-TR" sz="1800" dirty="0">
              <a:solidFill>
                <a:schemeClr val="tx2"/>
              </a:solidFill>
            </a:endParaRPr>
          </a:p>
        </p:txBody>
      </p:sp>
      <p:sp>
        <p:nvSpPr>
          <p:cNvPr id="78853" name="Text Box 27"/>
          <p:cNvSpPr txBox="1">
            <a:spLocks noChangeArrowheads="1"/>
          </p:cNvSpPr>
          <p:nvPr/>
        </p:nvSpPr>
        <p:spPr bwMode="auto">
          <a:xfrm>
            <a:off x="3635896" y="3666768"/>
            <a:ext cx="4986338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dirty="0" err="1"/>
              <a:t>What</a:t>
            </a:r>
            <a:r>
              <a:rPr lang="tr-TR" altLang="tr-TR" dirty="0"/>
              <a:t> </a:t>
            </a:r>
            <a:r>
              <a:rPr lang="tr-TR" altLang="tr-TR" dirty="0" err="1"/>
              <a:t>happens</a:t>
            </a:r>
            <a:r>
              <a:rPr lang="tr-TR" altLang="tr-TR" dirty="0"/>
              <a:t> as a </a:t>
            </a:r>
            <a:r>
              <a:rPr lang="tr-TR" altLang="tr-TR" dirty="0" err="1"/>
              <a:t>result</a:t>
            </a:r>
            <a:r>
              <a:rPr lang="tr-TR" altLang="tr-TR" dirty="0"/>
              <a:t> of </a:t>
            </a:r>
            <a:r>
              <a:rPr lang="tr-TR" altLang="tr-TR" dirty="0" err="1"/>
              <a:t>this</a:t>
            </a:r>
            <a:endParaRPr lang="tr-TR" altLang="tr-TR" dirty="0"/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dirty="0" err="1"/>
              <a:t>code’s</a:t>
            </a:r>
            <a:r>
              <a:rPr lang="tr-TR" altLang="tr-TR" dirty="0"/>
              <a:t> </a:t>
            </a:r>
            <a:r>
              <a:rPr lang="tr-TR" altLang="tr-TR" dirty="0" err="1"/>
              <a:t>execution</a:t>
            </a:r>
            <a:r>
              <a:rPr lang="tr-TR" altLang="tr-TR" dirty="0"/>
              <a:t>? </a:t>
            </a:r>
            <a:r>
              <a:rPr lang="tr-TR" altLang="tr-TR" dirty="0" err="1"/>
              <a:t>Let's</a:t>
            </a:r>
            <a:r>
              <a:rPr lang="tr-TR" altLang="tr-TR" dirty="0"/>
              <a:t> </a:t>
            </a:r>
            <a:r>
              <a:rPr lang="tr-TR" altLang="tr-TR" dirty="0" err="1"/>
              <a:t>trace</a:t>
            </a:r>
            <a:r>
              <a:rPr lang="tr-TR" altLang="tr-TR" dirty="0"/>
              <a:t> on </a:t>
            </a:r>
            <a:r>
              <a:rPr lang="tr-TR" altLang="tr-TR" dirty="0" err="1"/>
              <a:t>the</a:t>
            </a:r>
            <a:r>
              <a:rPr lang="tr-TR" altLang="tr-TR" dirty="0"/>
              <a:t> board</a:t>
            </a:r>
            <a:endParaRPr lang="en-US" altLang="tr-TR" dirty="0"/>
          </a:p>
        </p:txBody>
      </p:sp>
      <p:sp>
        <p:nvSpPr>
          <p:cNvPr id="7885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3330B4B-8112-4E06-BA03-7D8D708E9A35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68421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Linked Lists: building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341438"/>
            <a:ext cx="8839200" cy="2895600"/>
          </a:xfrm>
        </p:spPr>
        <p:txBody>
          <a:bodyPr/>
          <a:lstStyle/>
          <a:p>
            <a:pPr>
              <a:buFontTx/>
              <a:buNone/>
            </a:pPr>
            <a:endParaRPr lang="en-US" altLang="tr-TR" smtClean="0"/>
          </a:p>
          <a:p>
            <a:pPr>
              <a:buFontTx/>
              <a:buNone/>
            </a:pPr>
            <a:endParaRPr lang="en-US" altLang="tr-TR" smtClean="0"/>
          </a:p>
          <a:p>
            <a:pPr>
              <a:buFontTx/>
              <a:buNone/>
            </a:pPr>
            <a:endParaRPr lang="en-US" altLang="tr-TR" smtClean="0"/>
          </a:p>
          <a:p>
            <a:pPr>
              <a:buFontTx/>
              <a:buNone/>
            </a:pPr>
            <a:endParaRPr lang="en-US" altLang="tr-TR" smtClean="0"/>
          </a:p>
          <a:p>
            <a:pPr>
              <a:buFontTx/>
              <a:buNone/>
            </a:pPr>
            <a:endParaRPr lang="en-US" altLang="tr-TR" smtClean="0">
              <a:latin typeface="Arial Unicode MS" pitchFamily="34" charset="-128"/>
            </a:endParaRPr>
          </a:p>
          <a:p>
            <a:pPr>
              <a:buFontTx/>
              <a:buNone/>
            </a:pPr>
            <a:endParaRPr lang="en-US" altLang="tr-TR" smtClean="0">
              <a:latin typeface="Arial Unicode MS" pitchFamily="34" charset="-128"/>
            </a:endParaRPr>
          </a:p>
        </p:txBody>
      </p:sp>
      <p:sp>
        <p:nvSpPr>
          <p:cNvPr id="80900" name="Text Box 26"/>
          <p:cNvSpPr txBox="1">
            <a:spLocks noChangeArrowheads="1"/>
          </p:cNvSpPr>
          <p:nvPr/>
        </p:nvSpPr>
        <p:spPr bwMode="white">
          <a:xfrm>
            <a:off x="5081588" y="3200400"/>
            <a:ext cx="3757612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600" b="1">
                <a:solidFill>
                  <a:srgbClr val="CC0000"/>
                </a:solidFill>
              </a:rPr>
              <a:t>You better use a constructor to insert data more compactly and in a less error-prone fashion – like this.</a:t>
            </a:r>
            <a:endParaRPr lang="en-US" altLang="tr-TR" sz="1600" b="1">
              <a:solidFill>
                <a:srgbClr val="CC0000"/>
              </a:solidFill>
            </a:endParaRPr>
          </a:p>
        </p:txBody>
      </p:sp>
      <p:sp>
        <p:nvSpPr>
          <p:cNvPr id="80901" name="Rectangle 27"/>
          <p:cNvSpPr>
            <a:spLocks noChangeArrowheads="1"/>
          </p:cNvSpPr>
          <p:nvPr/>
        </p:nvSpPr>
        <p:spPr bwMode="white">
          <a:xfrm>
            <a:off x="5181600" y="3124200"/>
            <a:ext cx="3581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80902" name="Line 29"/>
          <p:cNvSpPr>
            <a:spLocks noChangeShapeType="1"/>
          </p:cNvSpPr>
          <p:nvPr/>
        </p:nvSpPr>
        <p:spPr bwMode="white">
          <a:xfrm flipH="1">
            <a:off x="4572000" y="4076700"/>
            <a:ext cx="1368425" cy="709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0903" name="Line 30"/>
          <p:cNvSpPr>
            <a:spLocks noChangeShapeType="1"/>
          </p:cNvSpPr>
          <p:nvPr/>
        </p:nvSpPr>
        <p:spPr bwMode="auto">
          <a:xfrm>
            <a:off x="1042988" y="5143500"/>
            <a:ext cx="2592387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4" name="Line 31"/>
          <p:cNvSpPr>
            <a:spLocks noChangeShapeType="1"/>
          </p:cNvSpPr>
          <p:nvPr/>
        </p:nvSpPr>
        <p:spPr bwMode="auto">
          <a:xfrm flipV="1">
            <a:off x="900113" y="5143500"/>
            <a:ext cx="2519362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5" name="Text Box 15"/>
          <p:cNvSpPr txBox="1">
            <a:spLocks noChangeArrowheads="1"/>
          </p:cNvSpPr>
          <p:nvPr/>
        </p:nvSpPr>
        <p:spPr bwMode="white">
          <a:xfrm>
            <a:off x="214313" y="836613"/>
            <a:ext cx="7924800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  <a:defRPr/>
            </a:pPr>
            <a:endParaRPr lang="tr-TR" altLang="tr-TR" sz="1800" dirty="0" smtClean="0">
              <a:solidFill>
                <a:schemeClr val="tx2"/>
              </a:solidFill>
              <a:latin typeface="Arial Unicode MS" pitchFamily="34" charset="-128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tr-TR" sz="1800" dirty="0" err="1" smtClean="0">
                <a:solidFill>
                  <a:schemeClr val="tx2"/>
                </a:solidFill>
                <a:latin typeface="+mn-lt"/>
              </a:rPr>
              <a:t>struct</a:t>
            </a:r>
            <a:r>
              <a:rPr lang="en-US" altLang="tr-TR" sz="1800" dirty="0" smtClean="0">
                <a:solidFill>
                  <a:schemeClr val="tx2"/>
                </a:solidFill>
                <a:latin typeface="+mn-lt"/>
              </a:rPr>
              <a:t> node {    </a:t>
            </a:r>
            <a:endParaRPr lang="tr-TR" altLang="tr-TR" sz="1800" dirty="0" smtClean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chemeClr val="tx2"/>
                </a:solidFill>
                <a:latin typeface="+mn-lt"/>
              </a:rPr>
              <a:t>	</a:t>
            </a:r>
            <a:r>
              <a:rPr lang="en-US" altLang="tr-TR" sz="1800" dirty="0" err="1" smtClean="0">
                <a:solidFill>
                  <a:schemeClr val="tx2"/>
                </a:solidFill>
                <a:latin typeface="+mn-lt"/>
              </a:rPr>
              <a:t>int</a:t>
            </a:r>
            <a:r>
              <a:rPr lang="en-US" altLang="tr-TR" sz="18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tr-TR" altLang="tr-TR" sz="1800" dirty="0" err="1" smtClean="0">
                <a:solidFill>
                  <a:schemeClr val="tx2"/>
                </a:solidFill>
                <a:latin typeface="+mn-lt"/>
              </a:rPr>
              <a:t>info</a:t>
            </a:r>
            <a:r>
              <a:rPr lang="en-US" altLang="tr-TR" sz="1800" dirty="0" smtClean="0">
                <a:solidFill>
                  <a:schemeClr val="tx2"/>
                </a:solidFill>
                <a:latin typeface="+mn-lt"/>
              </a:rPr>
              <a:t>;    </a:t>
            </a:r>
            <a:endParaRPr lang="tr-TR" altLang="tr-TR" sz="1800" dirty="0" smtClean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chemeClr val="tx2"/>
                </a:solidFill>
                <a:latin typeface="+mn-lt"/>
              </a:rPr>
              <a:t>	</a:t>
            </a:r>
            <a:r>
              <a:rPr lang="en-US" altLang="tr-TR" sz="1800" dirty="0" smtClean="0">
                <a:solidFill>
                  <a:schemeClr val="tx2"/>
                </a:solidFill>
                <a:latin typeface="+mn-lt"/>
              </a:rPr>
              <a:t>node *</a:t>
            </a:r>
            <a:r>
              <a:rPr lang="tr-TR" altLang="tr-TR" sz="1800" dirty="0" err="1" smtClean="0">
                <a:solidFill>
                  <a:schemeClr val="tx2"/>
                </a:solidFill>
                <a:latin typeface="+mn-lt"/>
              </a:rPr>
              <a:t>next</a:t>
            </a:r>
            <a:r>
              <a:rPr lang="en-US" altLang="tr-TR" sz="1800" dirty="0" smtClean="0">
                <a:solidFill>
                  <a:schemeClr val="tx2"/>
                </a:solidFill>
                <a:latin typeface="+mn-lt"/>
              </a:rPr>
              <a:t>; </a:t>
            </a:r>
            <a:endParaRPr lang="tr-TR" altLang="tr-TR" sz="1800" dirty="0" smtClean="0">
              <a:solidFill>
                <a:schemeClr val="tx2"/>
              </a:solidFill>
              <a:latin typeface="+mn-lt"/>
            </a:endParaRP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tr-TR" altLang="tr-TR" sz="1800" dirty="0" smtClean="0">
                <a:latin typeface="+mn-lt"/>
              </a:rPr>
              <a:t>      </a:t>
            </a:r>
            <a:r>
              <a:rPr lang="en-US" altLang="tr-TR" sz="1800" dirty="0" smtClean="0">
                <a:latin typeface="+mn-lt"/>
              </a:rPr>
              <a:t>	</a:t>
            </a:r>
            <a:r>
              <a:rPr lang="tr-TR" altLang="tr-TR" sz="1800" dirty="0" err="1" smtClean="0">
                <a:solidFill>
                  <a:srgbClr val="CC0000"/>
                </a:solidFill>
                <a:latin typeface="+mn-lt"/>
              </a:rPr>
              <a:t>node</a:t>
            </a:r>
            <a:r>
              <a:rPr lang="tr-TR" altLang="tr-TR" sz="1800" dirty="0" smtClean="0">
                <a:solidFill>
                  <a:srgbClr val="CC0000"/>
                </a:solidFill>
                <a:latin typeface="+mn-lt"/>
              </a:rPr>
              <a:t> () {}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chemeClr val="tx2"/>
                </a:solidFill>
                <a:latin typeface="+mn-lt"/>
              </a:rPr>
              <a:t>	</a:t>
            </a:r>
            <a:r>
              <a:rPr lang="tr-TR" altLang="tr-TR" sz="1800" dirty="0" err="1" smtClean="0">
                <a:solidFill>
                  <a:srgbClr val="CC0000"/>
                </a:solidFill>
                <a:latin typeface="+mn-lt"/>
              </a:rPr>
              <a:t>node</a:t>
            </a:r>
            <a:r>
              <a:rPr lang="tr-TR" altLang="tr-TR" sz="1800" dirty="0" smtClean="0">
                <a:solidFill>
                  <a:srgbClr val="CC0000"/>
                </a:solidFill>
                <a:latin typeface="+mn-lt"/>
              </a:rPr>
              <a:t> (</a:t>
            </a:r>
            <a:r>
              <a:rPr lang="tr-TR" altLang="tr-TR" sz="1800" dirty="0" err="1" smtClean="0">
                <a:solidFill>
                  <a:srgbClr val="CC0000"/>
                </a:solidFill>
                <a:latin typeface="+mn-lt"/>
              </a:rPr>
              <a:t>const</a:t>
            </a:r>
            <a:r>
              <a:rPr lang="tr-TR" altLang="tr-TR" sz="1800" dirty="0" smtClean="0">
                <a:solidFill>
                  <a:srgbClr val="CC0000"/>
                </a:solidFill>
                <a:latin typeface="+mn-lt"/>
              </a:rPr>
              <a:t> </a:t>
            </a:r>
            <a:r>
              <a:rPr lang="tr-TR" altLang="tr-TR" sz="1800" dirty="0" err="1" smtClean="0">
                <a:solidFill>
                  <a:srgbClr val="CC0000"/>
                </a:solidFill>
                <a:latin typeface="+mn-lt"/>
              </a:rPr>
              <a:t>int</a:t>
            </a:r>
            <a:r>
              <a:rPr lang="tr-TR" altLang="tr-TR" sz="1800" dirty="0" smtClean="0">
                <a:solidFill>
                  <a:srgbClr val="CC0000"/>
                </a:solidFill>
                <a:latin typeface="+mn-lt"/>
              </a:rPr>
              <a:t> &amp; s, </a:t>
            </a:r>
            <a:r>
              <a:rPr lang="tr-TR" altLang="tr-TR" sz="1800" dirty="0" err="1" smtClean="0">
                <a:solidFill>
                  <a:srgbClr val="CC0000"/>
                </a:solidFill>
                <a:latin typeface="+mn-lt"/>
              </a:rPr>
              <a:t>node</a:t>
            </a:r>
            <a:r>
              <a:rPr lang="tr-TR" altLang="tr-TR" sz="1800" dirty="0" smtClean="0">
                <a:solidFill>
                  <a:srgbClr val="CC0000"/>
                </a:solidFill>
                <a:latin typeface="+mn-lt"/>
              </a:rPr>
              <a:t> * link)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rgbClr val="CC0000"/>
                </a:solidFill>
                <a:latin typeface="+mn-lt"/>
              </a:rPr>
              <a:t>		: </a:t>
            </a:r>
            <a:r>
              <a:rPr lang="tr-TR" altLang="tr-TR" sz="1800" dirty="0" err="1" smtClean="0">
                <a:solidFill>
                  <a:srgbClr val="CC0000"/>
                </a:solidFill>
                <a:latin typeface="+mn-lt"/>
              </a:rPr>
              <a:t>info</a:t>
            </a:r>
            <a:r>
              <a:rPr lang="tr-TR" altLang="tr-TR" sz="1800" dirty="0" smtClean="0">
                <a:solidFill>
                  <a:srgbClr val="CC0000"/>
                </a:solidFill>
                <a:latin typeface="+mn-lt"/>
              </a:rPr>
              <a:t>(s), </a:t>
            </a:r>
            <a:r>
              <a:rPr lang="tr-TR" altLang="tr-TR" sz="1800" dirty="0" err="1" smtClean="0">
                <a:solidFill>
                  <a:srgbClr val="CC0000"/>
                </a:solidFill>
                <a:latin typeface="+mn-lt"/>
              </a:rPr>
              <a:t>next</a:t>
            </a:r>
            <a:r>
              <a:rPr lang="tr-TR" altLang="tr-TR" sz="1800" dirty="0" smtClean="0">
                <a:solidFill>
                  <a:srgbClr val="CC0000"/>
                </a:solidFill>
                <a:latin typeface="+mn-lt"/>
              </a:rPr>
              <a:t> (link)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rgbClr val="CC0000"/>
                </a:solidFill>
                <a:latin typeface="+mn-lt"/>
              </a:rPr>
              <a:t>	{}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tr-TR" sz="1800" dirty="0" smtClean="0">
                <a:solidFill>
                  <a:schemeClr val="tx2"/>
                </a:solidFill>
                <a:latin typeface="+mn-lt"/>
              </a:rPr>
              <a:t>}; </a:t>
            </a:r>
            <a:endParaRPr lang="tr-TR" altLang="tr-TR" sz="1800" dirty="0" smtClean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dirty="0" err="1" smtClean="0">
                <a:solidFill>
                  <a:schemeClr val="tx2"/>
                </a:solidFill>
                <a:latin typeface="+mn-lt"/>
              </a:rPr>
              <a:t>int</a:t>
            </a:r>
            <a:r>
              <a:rPr lang="tr-TR" altLang="tr-TR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tr-TR" altLang="tr-TR" dirty="0" err="1" smtClean="0">
                <a:solidFill>
                  <a:schemeClr val="tx2"/>
                </a:solidFill>
                <a:latin typeface="+mn-lt"/>
              </a:rPr>
              <a:t>storage</a:t>
            </a:r>
            <a:r>
              <a:rPr lang="tr-TR" altLang="tr-TR" dirty="0" smtClean="0">
                <a:solidFill>
                  <a:schemeClr val="tx2"/>
                </a:solidFill>
                <a:latin typeface="+mn-lt"/>
              </a:rPr>
              <a:t>[] = {1,2,3,4};</a:t>
            </a:r>
            <a:endParaRPr lang="tr-TR" altLang="tr-TR" i="1" dirty="0" smtClean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tr-TR" sz="1800" dirty="0" smtClean="0">
                <a:solidFill>
                  <a:schemeClr val="tx2"/>
                </a:solidFill>
                <a:latin typeface="+mn-lt"/>
              </a:rPr>
              <a:t>node *head</a:t>
            </a:r>
            <a:r>
              <a:rPr lang="tr-TR" altLang="tr-TR" sz="1800" dirty="0" smtClean="0">
                <a:solidFill>
                  <a:schemeClr val="tx2"/>
                </a:solidFill>
                <a:latin typeface="+mn-lt"/>
              </a:rPr>
              <a:t> = NULL</a:t>
            </a:r>
            <a:r>
              <a:rPr lang="en-US" altLang="tr-TR" sz="1800" dirty="0" smtClean="0">
                <a:solidFill>
                  <a:schemeClr val="tx2"/>
                </a:solidFill>
                <a:latin typeface="+mn-lt"/>
              </a:rPr>
              <a:t>, *</a:t>
            </a:r>
            <a:r>
              <a:rPr lang="tr-TR" altLang="tr-TR" sz="1800" dirty="0" err="1" smtClean="0">
                <a:solidFill>
                  <a:schemeClr val="tx2"/>
                </a:solidFill>
                <a:latin typeface="+mn-lt"/>
              </a:rPr>
              <a:t>temp</a:t>
            </a:r>
            <a:r>
              <a:rPr lang="tr-TR" altLang="tr-TR" sz="1800" dirty="0" smtClean="0">
                <a:solidFill>
                  <a:schemeClr val="tx2"/>
                </a:solidFill>
                <a:latin typeface="+mn-lt"/>
              </a:rPr>
              <a:t> = NULL</a:t>
            </a:r>
            <a:r>
              <a:rPr lang="en-US" altLang="tr-TR" sz="1800" dirty="0" smtClean="0">
                <a:solidFill>
                  <a:schemeClr val="tx2"/>
                </a:solidFill>
                <a:latin typeface="+mn-lt"/>
              </a:rPr>
              <a:t>; </a:t>
            </a:r>
            <a:endParaRPr lang="tr-TR" altLang="tr-TR" sz="1800" dirty="0" smtClean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err="1" smtClean="0">
                <a:solidFill>
                  <a:schemeClr val="tx2"/>
                </a:solidFill>
              </a:rPr>
              <a:t>for</a:t>
            </a:r>
            <a:r>
              <a:rPr lang="tr-TR" altLang="tr-TR" sz="1800" dirty="0" smtClean="0">
                <a:solidFill>
                  <a:schemeClr val="tx2"/>
                </a:solidFill>
              </a:rPr>
              <a:t> (</a:t>
            </a:r>
            <a:r>
              <a:rPr lang="tr-TR" altLang="tr-TR" sz="1800" dirty="0" err="1" smtClean="0">
                <a:solidFill>
                  <a:schemeClr val="tx2"/>
                </a:solidFill>
              </a:rPr>
              <a:t>int</a:t>
            </a:r>
            <a:r>
              <a:rPr lang="tr-TR" altLang="tr-TR" sz="1800" dirty="0" smtClean="0">
                <a:solidFill>
                  <a:schemeClr val="tx2"/>
                </a:solidFill>
              </a:rPr>
              <a:t> k=0; k &lt; 4; k++)  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chemeClr val="tx2"/>
                </a:solidFill>
              </a:rPr>
              <a:t>{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chemeClr val="tx2"/>
                </a:solidFill>
              </a:rPr>
              <a:t>	</a:t>
            </a:r>
            <a:r>
              <a:rPr lang="tr-TR" altLang="tr-TR" sz="1800" dirty="0" err="1" smtClean="0">
                <a:solidFill>
                  <a:srgbClr val="CC0000"/>
                </a:solidFill>
              </a:rPr>
              <a:t>temp</a:t>
            </a:r>
            <a:r>
              <a:rPr lang="tr-TR" altLang="tr-TR" sz="1800" dirty="0" smtClean="0">
                <a:solidFill>
                  <a:srgbClr val="CC0000"/>
                </a:solidFill>
              </a:rPr>
              <a:t> = </a:t>
            </a:r>
            <a:r>
              <a:rPr lang="tr-TR" altLang="tr-TR" sz="1800" dirty="0" err="1" smtClean="0">
                <a:solidFill>
                  <a:srgbClr val="CC0000"/>
                </a:solidFill>
              </a:rPr>
              <a:t>new</a:t>
            </a:r>
            <a:r>
              <a:rPr lang="tr-TR" altLang="tr-TR" sz="1800" dirty="0" smtClean="0">
                <a:solidFill>
                  <a:srgbClr val="CC0000"/>
                </a:solidFill>
              </a:rPr>
              <a:t> </a:t>
            </a:r>
            <a:r>
              <a:rPr lang="tr-TR" altLang="tr-TR" sz="1800" dirty="0" err="1" smtClean="0">
                <a:solidFill>
                  <a:srgbClr val="CC0000"/>
                </a:solidFill>
              </a:rPr>
              <a:t>node</a:t>
            </a:r>
            <a:r>
              <a:rPr lang="tr-TR" altLang="tr-TR" sz="1800" dirty="0" smtClean="0">
                <a:solidFill>
                  <a:srgbClr val="CC0000"/>
                </a:solidFill>
              </a:rPr>
              <a:t> (</a:t>
            </a:r>
            <a:r>
              <a:rPr lang="tr-TR" altLang="tr-TR" sz="1800" dirty="0" err="1" smtClean="0">
                <a:solidFill>
                  <a:srgbClr val="CC0000"/>
                </a:solidFill>
              </a:rPr>
              <a:t>storage</a:t>
            </a:r>
            <a:r>
              <a:rPr lang="tr-TR" altLang="tr-TR" sz="1800" dirty="0" smtClean="0">
                <a:solidFill>
                  <a:srgbClr val="CC0000"/>
                </a:solidFill>
              </a:rPr>
              <a:t>[k], </a:t>
            </a:r>
            <a:r>
              <a:rPr lang="tr-TR" altLang="tr-TR" sz="1800" dirty="0" err="1" smtClean="0">
                <a:solidFill>
                  <a:srgbClr val="CC0000"/>
                </a:solidFill>
              </a:rPr>
              <a:t>head</a:t>
            </a:r>
            <a:r>
              <a:rPr lang="tr-TR" altLang="tr-TR" sz="1800" dirty="0" smtClean="0">
                <a:solidFill>
                  <a:srgbClr val="CC0000"/>
                </a:solidFill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rgbClr val="008000"/>
                </a:solidFill>
              </a:rPr>
              <a:t>	</a:t>
            </a:r>
            <a:r>
              <a:rPr lang="tr-TR" altLang="tr-TR" sz="1800" dirty="0" err="1" smtClean="0">
                <a:solidFill>
                  <a:schemeClr val="folHlink"/>
                </a:solidFill>
              </a:rPr>
              <a:t>temp</a:t>
            </a:r>
            <a:r>
              <a:rPr lang="tr-TR" altLang="tr-TR" sz="1800" dirty="0" smtClean="0">
                <a:solidFill>
                  <a:schemeClr val="folHlink"/>
                </a:solidFill>
              </a:rPr>
              <a:t> = </a:t>
            </a:r>
            <a:r>
              <a:rPr lang="tr-TR" altLang="tr-TR" sz="1800" dirty="0" err="1" smtClean="0">
                <a:solidFill>
                  <a:schemeClr val="folHlink"/>
                </a:solidFill>
              </a:rPr>
              <a:t>new</a:t>
            </a:r>
            <a:r>
              <a:rPr lang="tr-TR" altLang="tr-TR" sz="1800" dirty="0" smtClean="0">
                <a:solidFill>
                  <a:schemeClr val="folHlink"/>
                </a:solidFill>
              </a:rPr>
              <a:t> </a:t>
            </a:r>
            <a:r>
              <a:rPr lang="tr-TR" altLang="tr-TR" sz="1800" dirty="0" err="1" smtClean="0">
                <a:solidFill>
                  <a:schemeClr val="folHlink"/>
                </a:solidFill>
              </a:rPr>
              <a:t>node</a:t>
            </a:r>
            <a:r>
              <a:rPr lang="tr-TR" altLang="tr-TR" sz="1800" dirty="0" smtClean="0">
                <a:solidFill>
                  <a:schemeClr val="folHlink"/>
                </a:solidFill>
              </a:rPr>
              <a:t>();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chemeClr val="folHlink"/>
                </a:solidFill>
              </a:rPr>
              <a:t>	</a:t>
            </a:r>
            <a:r>
              <a:rPr lang="tr-TR" altLang="tr-TR" sz="1800" dirty="0" err="1" smtClean="0">
                <a:solidFill>
                  <a:schemeClr val="folHlink"/>
                </a:solidFill>
              </a:rPr>
              <a:t>temp</a:t>
            </a:r>
            <a:r>
              <a:rPr lang="tr-TR" altLang="tr-TR" sz="1800" dirty="0" smtClean="0">
                <a:solidFill>
                  <a:schemeClr val="folHlink"/>
                </a:solidFill>
              </a:rPr>
              <a:t>-&gt;</a:t>
            </a:r>
            <a:r>
              <a:rPr lang="tr-TR" altLang="tr-TR" sz="1800" dirty="0" err="1" smtClean="0">
                <a:solidFill>
                  <a:schemeClr val="folHlink"/>
                </a:solidFill>
              </a:rPr>
              <a:t>info</a:t>
            </a:r>
            <a:r>
              <a:rPr lang="tr-TR" altLang="tr-TR" sz="1800" dirty="0" smtClean="0">
                <a:solidFill>
                  <a:schemeClr val="folHlink"/>
                </a:solidFill>
              </a:rPr>
              <a:t> = </a:t>
            </a:r>
            <a:r>
              <a:rPr lang="tr-TR" altLang="tr-TR" sz="1800" dirty="0" err="1" smtClean="0">
                <a:solidFill>
                  <a:schemeClr val="folHlink"/>
                </a:solidFill>
              </a:rPr>
              <a:t>storage</a:t>
            </a:r>
            <a:r>
              <a:rPr lang="tr-TR" altLang="tr-TR" sz="1800" dirty="0" smtClean="0">
                <a:solidFill>
                  <a:schemeClr val="folHlink"/>
                </a:solidFill>
              </a:rPr>
              <a:t>[k];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chemeClr val="folHlink"/>
                </a:solidFill>
              </a:rPr>
              <a:t>	</a:t>
            </a:r>
            <a:r>
              <a:rPr lang="tr-TR" altLang="tr-TR" sz="1800" dirty="0" err="1" smtClean="0">
                <a:solidFill>
                  <a:schemeClr val="folHlink"/>
                </a:solidFill>
              </a:rPr>
              <a:t>temp</a:t>
            </a:r>
            <a:r>
              <a:rPr lang="tr-TR" altLang="tr-TR" sz="1800" dirty="0" smtClean="0">
                <a:solidFill>
                  <a:schemeClr val="folHlink"/>
                </a:solidFill>
              </a:rPr>
              <a:t>-&gt;</a:t>
            </a:r>
            <a:r>
              <a:rPr lang="tr-TR" altLang="tr-TR" sz="1800" dirty="0" err="1" smtClean="0">
                <a:solidFill>
                  <a:schemeClr val="folHlink"/>
                </a:solidFill>
              </a:rPr>
              <a:t>next</a:t>
            </a:r>
            <a:r>
              <a:rPr lang="tr-TR" altLang="tr-TR" sz="1800" dirty="0" smtClean="0">
                <a:solidFill>
                  <a:schemeClr val="folHlink"/>
                </a:solidFill>
              </a:rPr>
              <a:t> = </a:t>
            </a:r>
            <a:r>
              <a:rPr lang="tr-TR" altLang="tr-TR" sz="1800" dirty="0" err="1" smtClean="0">
                <a:solidFill>
                  <a:schemeClr val="folHlink"/>
                </a:solidFill>
              </a:rPr>
              <a:t>head</a:t>
            </a:r>
            <a:r>
              <a:rPr lang="tr-TR" altLang="tr-TR" sz="1800" dirty="0" smtClean="0">
                <a:solidFill>
                  <a:schemeClr val="folHlink"/>
                </a:solidFill>
              </a:rPr>
              <a:t>;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chemeClr val="tx2"/>
                </a:solidFill>
              </a:rPr>
              <a:t>	</a:t>
            </a:r>
            <a:r>
              <a:rPr lang="tr-TR" altLang="tr-TR" sz="1800" dirty="0" err="1" smtClean="0">
                <a:solidFill>
                  <a:schemeClr val="tx2"/>
                </a:solidFill>
              </a:rPr>
              <a:t>head</a:t>
            </a:r>
            <a:r>
              <a:rPr lang="tr-TR" altLang="tr-TR" sz="1800" dirty="0" smtClean="0">
                <a:solidFill>
                  <a:schemeClr val="tx2"/>
                </a:solidFill>
              </a:rPr>
              <a:t> = </a:t>
            </a:r>
            <a:r>
              <a:rPr lang="tr-TR" altLang="tr-TR" sz="1800" dirty="0" err="1" smtClean="0">
                <a:solidFill>
                  <a:schemeClr val="tx2"/>
                </a:solidFill>
              </a:rPr>
              <a:t>temp</a:t>
            </a:r>
            <a:r>
              <a:rPr lang="tr-TR" altLang="tr-TR" sz="1800" dirty="0" smtClean="0">
                <a:solidFill>
                  <a:schemeClr val="tx2"/>
                </a:solidFill>
              </a:rPr>
              <a:t>;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tr-TR" altLang="tr-TR" sz="1800" dirty="0" smtClean="0">
                <a:solidFill>
                  <a:schemeClr val="tx2"/>
                </a:solidFill>
              </a:rPr>
              <a:t>}</a:t>
            </a:r>
            <a:endParaRPr lang="en-US" altLang="tr-TR" sz="1800" dirty="0" smtClean="0">
              <a:solidFill>
                <a:schemeClr val="tx2"/>
              </a:solidFill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5003800" y="692150"/>
            <a:ext cx="3960813" cy="1720850"/>
          </a:xfrm>
          <a:prstGeom prst="roundRect">
            <a:avLst/>
          </a:prstGeom>
          <a:noFill/>
          <a:ln w="9525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tr-TR" sz="1900" dirty="0" err="1">
                <a:latin typeface="+mn-lt"/>
              </a:rPr>
              <a:t>The</a:t>
            </a:r>
            <a:r>
              <a:rPr lang="tr-TR" sz="1900" dirty="0">
                <a:latin typeface="+mn-lt"/>
              </a:rPr>
              <a:t> </a:t>
            </a:r>
            <a:r>
              <a:rPr lang="tr-TR" sz="1900" dirty="0" err="1">
                <a:latin typeface="+mn-lt"/>
              </a:rPr>
              <a:t>codes</a:t>
            </a:r>
            <a:r>
              <a:rPr lang="tr-TR" sz="1900" dirty="0">
                <a:latin typeface="+mn-lt"/>
              </a:rPr>
              <a:t> in </a:t>
            </a:r>
            <a:r>
              <a:rPr lang="tr-TR" sz="1900" dirty="0" err="1">
                <a:latin typeface="+mn-lt"/>
              </a:rPr>
              <a:t>the</a:t>
            </a:r>
            <a:r>
              <a:rPr lang="tr-TR" sz="1900" dirty="0">
                <a:latin typeface="+mn-lt"/>
              </a:rPr>
              <a:t> </a:t>
            </a:r>
            <a:r>
              <a:rPr lang="tr-TR" sz="1900" dirty="0" err="1">
                <a:latin typeface="+mn-lt"/>
              </a:rPr>
              <a:t>last</a:t>
            </a:r>
            <a:r>
              <a:rPr lang="tr-TR" sz="1900" dirty="0">
                <a:latin typeface="+mn-lt"/>
              </a:rPr>
              <a:t> 3 </a:t>
            </a:r>
            <a:r>
              <a:rPr lang="tr-TR" sz="1900" dirty="0" err="1">
                <a:latin typeface="+mn-lt"/>
              </a:rPr>
              <a:t>slides</a:t>
            </a:r>
            <a:r>
              <a:rPr lang="tr-TR" sz="1900" dirty="0">
                <a:latin typeface="+mn-lt"/>
              </a:rPr>
              <a:t> </a:t>
            </a:r>
            <a:r>
              <a:rPr lang="tr-TR" sz="1900" dirty="0" err="1">
                <a:latin typeface="+mn-lt"/>
              </a:rPr>
              <a:t>are</a:t>
            </a:r>
            <a:r>
              <a:rPr lang="tr-TR" sz="1900" dirty="0">
                <a:latin typeface="+mn-lt"/>
              </a:rPr>
              <a:t> in </a:t>
            </a:r>
            <a:r>
              <a:rPr lang="tr-TR" sz="1900" dirty="0" err="1">
                <a:latin typeface="+mn-lt"/>
              </a:rPr>
              <a:t>ptrfunc</a:t>
            </a:r>
            <a:r>
              <a:rPr lang="tr-TR" sz="1900" dirty="0">
                <a:latin typeface="+mn-lt"/>
              </a:rPr>
              <a:t>.</a:t>
            </a:r>
            <a:r>
              <a:rPr lang="tr-TR" sz="1900" dirty="0" err="1">
                <a:latin typeface="+mn-lt"/>
              </a:rPr>
              <a:t>cpp</a:t>
            </a:r>
            <a:r>
              <a:rPr lang="tr-TR" sz="1900" dirty="0">
                <a:latin typeface="+mn-lt"/>
              </a:rPr>
              <a:t>, but </a:t>
            </a:r>
            <a:r>
              <a:rPr lang="tr-TR" sz="1900" dirty="0" err="1">
                <a:latin typeface="+mn-lt"/>
              </a:rPr>
              <a:t>this</a:t>
            </a:r>
            <a:r>
              <a:rPr lang="tr-TR" sz="1900" dirty="0">
                <a:latin typeface="+mn-lt"/>
              </a:rPr>
              <a:t> file </a:t>
            </a:r>
            <a:r>
              <a:rPr lang="tr-TR" sz="1900" dirty="0" err="1">
                <a:latin typeface="+mn-lt"/>
              </a:rPr>
              <a:t>also</a:t>
            </a:r>
            <a:r>
              <a:rPr lang="tr-TR" sz="1900" dirty="0">
                <a:latin typeface="+mn-lt"/>
              </a:rPr>
              <a:t> </a:t>
            </a:r>
            <a:r>
              <a:rPr lang="tr-TR" sz="1900" dirty="0" err="1">
                <a:latin typeface="+mn-lt"/>
              </a:rPr>
              <a:t>contains</a:t>
            </a:r>
            <a:r>
              <a:rPr lang="tr-TR" sz="1900" dirty="0">
                <a:latin typeface="+mn-lt"/>
              </a:rPr>
              <a:t> </a:t>
            </a:r>
            <a:r>
              <a:rPr lang="tr-TR" sz="1900" dirty="0" err="1">
                <a:latin typeface="+mn-lt"/>
              </a:rPr>
              <a:t>some</a:t>
            </a:r>
            <a:r>
              <a:rPr lang="tr-TR" sz="1900" dirty="0">
                <a:latin typeface="+mn-lt"/>
              </a:rPr>
              <a:t> </a:t>
            </a:r>
            <a:r>
              <a:rPr lang="tr-TR" sz="1900" dirty="0" err="1">
                <a:latin typeface="+mn-lt"/>
              </a:rPr>
              <a:t>features</a:t>
            </a:r>
            <a:r>
              <a:rPr lang="tr-TR" sz="1900" dirty="0">
                <a:latin typeface="+mn-lt"/>
              </a:rPr>
              <a:t> </a:t>
            </a:r>
            <a:r>
              <a:rPr lang="tr-TR" sz="1900" dirty="0" err="1">
                <a:latin typeface="+mn-lt"/>
              </a:rPr>
              <a:t>that</a:t>
            </a:r>
            <a:r>
              <a:rPr lang="tr-TR" sz="1900" dirty="0">
                <a:latin typeface="+mn-lt"/>
              </a:rPr>
              <a:t> </a:t>
            </a:r>
            <a:r>
              <a:rPr lang="tr-TR" sz="1900" dirty="0" err="1">
                <a:latin typeface="+mn-lt"/>
              </a:rPr>
              <a:t>we</a:t>
            </a:r>
            <a:r>
              <a:rPr lang="tr-TR" sz="1900" dirty="0">
                <a:latin typeface="+mn-lt"/>
              </a:rPr>
              <a:t> </a:t>
            </a:r>
            <a:r>
              <a:rPr lang="tr-TR" sz="1900" dirty="0" err="1">
                <a:latin typeface="+mn-lt"/>
              </a:rPr>
              <a:t>have</a:t>
            </a:r>
            <a:r>
              <a:rPr lang="tr-TR" sz="1900" dirty="0">
                <a:latin typeface="+mn-lt"/>
              </a:rPr>
              <a:t> not </a:t>
            </a:r>
            <a:r>
              <a:rPr lang="tr-TR" sz="1900" dirty="0" err="1">
                <a:latin typeface="+mn-lt"/>
              </a:rPr>
              <a:t>seen</a:t>
            </a:r>
            <a:r>
              <a:rPr lang="tr-TR" sz="1900" dirty="0">
                <a:latin typeface="+mn-lt"/>
              </a:rPr>
              <a:t> as of </a:t>
            </a:r>
            <a:r>
              <a:rPr lang="tr-TR" sz="1900" dirty="0" err="1">
                <a:latin typeface="+mn-lt"/>
              </a:rPr>
              <a:t>now</a:t>
            </a:r>
            <a:r>
              <a:rPr lang="tr-TR" sz="1900" dirty="0">
                <a:latin typeface="+mn-lt"/>
              </a:rPr>
              <a:t>. </a:t>
            </a:r>
            <a:r>
              <a:rPr lang="tr-TR" sz="1900" dirty="0" err="1">
                <a:latin typeface="+mn-lt"/>
              </a:rPr>
              <a:t>Please</a:t>
            </a:r>
            <a:r>
              <a:rPr lang="tr-TR" sz="1900" dirty="0">
                <a:latin typeface="+mn-lt"/>
              </a:rPr>
              <a:t> do not </a:t>
            </a:r>
            <a:r>
              <a:rPr lang="tr-TR" sz="1900" dirty="0" err="1">
                <a:latin typeface="+mn-lt"/>
              </a:rPr>
              <a:t>get</a:t>
            </a:r>
            <a:r>
              <a:rPr lang="tr-TR" sz="1900" dirty="0">
                <a:latin typeface="+mn-lt"/>
              </a:rPr>
              <a:t> </a:t>
            </a:r>
            <a:r>
              <a:rPr lang="tr-TR" sz="1900" dirty="0" err="1">
                <a:latin typeface="+mn-lt"/>
              </a:rPr>
              <a:t>confused</a:t>
            </a:r>
            <a:r>
              <a:rPr lang="tr-TR" sz="1900" dirty="0">
                <a:latin typeface="+mn-lt"/>
              </a:rPr>
              <a:t>.</a:t>
            </a:r>
          </a:p>
        </p:txBody>
      </p:sp>
      <p:sp>
        <p:nvSpPr>
          <p:cNvPr id="80907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2E45DD-D16B-4D76-83C2-D5ACFCDD1B1E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en-US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45C87B31-E8EF-4D19-92E3-D45EAD40CCDA}" type="slidenum">
              <a:rPr lang="en-US" altLang="tr-TR" sz="1400" smtClean="0">
                <a:latin typeface="Times New Roman" panose="02020603050405020304" pitchFamily="18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8541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 smtClean="0"/>
              <a:t>Stack and Heap</a:t>
            </a:r>
            <a:r>
              <a:rPr lang="tr-TR" sz="3600" dirty="0" smtClean="0"/>
              <a:t/>
            </a:r>
            <a:br>
              <a:rPr lang="tr-TR" sz="3600" dirty="0" smtClean="0"/>
            </a:br>
            <a:r>
              <a:rPr lang="tr-TR" sz="3600" dirty="0" err="1" smtClean="0"/>
              <a:t>Scope</a:t>
            </a:r>
            <a:r>
              <a:rPr lang="tr-TR" sz="3600" dirty="0" smtClean="0"/>
              <a:t> </a:t>
            </a:r>
            <a:r>
              <a:rPr lang="tr-TR" sz="3600" dirty="0" err="1" smtClean="0"/>
              <a:t>and</a:t>
            </a:r>
            <a:r>
              <a:rPr lang="tr-TR" sz="3600" dirty="0" smtClean="0"/>
              <a:t> </a:t>
            </a:r>
            <a:r>
              <a:rPr lang="tr-TR" sz="3600" dirty="0" err="1" smtClean="0"/>
              <a:t>Lifetime</a:t>
            </a:r>
            <a:r>
              <a:rPr lang="tr-TR" sz="3600" dirty="0" smtClean="0"/>
              <a:t/>
            </a:r>
            <a:br>
              <a:rPr lang="tr-TR" sz="3600" dirty="0" smtClean="0"/>
            </a:br>
            <a:r>
              <a:rPr lang="tr-TR" sz="3600" dirty="0" err="1" smtClean="0"/>
              <a:t>Extern</a:t>
            </a:r>
            <a:r>
              <a:rPr lang="tr-TR" sz="3600" dirty="0" smtClean="0"/>
              <a:t> </a:t>
            </a:r>
            <a:r>
              <a:rPr lang="tr-TR" sz="3600" dirty="0" err="1" smtClean="0"/>
              <a:t>and</a:t>
            </a:r>
            <a:r>
              <a:rPr lang="tr-TR" sz="3600" dirty="0" smtClean="0"/>
              <a:t> </a:t>
            </a:r>
            <a:r>
              <a:rPr lang="tr-TR" sz="3600" dirty="0" err="1" smtClean="0"/>
              <a:t>Static</a:t>
            </a:r>
            <a:r>
              <a:rPr lang="tr-TR" sz="3600" dirty="0" smtClean="0"/>
              <a:t> </a:t>
            </a:r>
            <a:r>
              <a:rPr lang="tr-TR" sz="3600" dirty="0" err="1" smtClean="0"/>
              <a:t>Variables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Freeing Memory Allocated by New</a:t>
            </a:r>
          </a:p>
        </p:txBody>
      </p:sp>
      <p:sp>
        <p:nvSpPr>
          <p:cNvPr id="82948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8BF517-48B9-443F-A5A7-8D7D230DFF28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2225"/>
            <a:ext cx="8929687" cy="61277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Static vs. Dynamic Memory Allocation</a:t>
            </a: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692696"/>
            <a:ext cx="8712200" cy="612068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1700" u="sng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Automatic (ordinary) variables</a:t>
            </a:r>
            <a:r>
              <a:rPr lang="en-US" altLang="tr-TR" sz="1700" u="sng" dirty="0" smtClean="0">
                <a:solidFill>
                  <a:srgbClr val="CC0000"/>
                </a:solidFill>
              </a:rPr>
              <a:t>:</a:t>
            </a:r>
            <a:r>
              <a:rPr lang="en-US" altLang="tr-TR" sz="1700" dirty="0" smtClean="0">
                <a:solidFill>
                  <a:srgbClr val="CC0000"/>
                </a:solidFill>
              </a:rPr>
              <a:t> </a:t>
            </a:r>
            <a:r>
              <a:rPr lang="en-US" altLang="tr-TR" sz="1700" dirty="0" smtClean="0">
                <a:cs typeface="Times New Roman" panose="02020603050405020304" pitchFamily="18" charset="0"/>
              </a:rPr>
              <a:t>Normal declaration of variables within a function (including main</a:t>
            </a:r>
            <a:r>
              <a:rPr lang="en-US" altLang="tr-TR" sz="1700" dirty="0" smtClean="0"/>
              <a:t>): </a:t>
            </a:r>
            <a:r>
              <a:rPr lang="en-US" altLang="tr-TR" sz="1700" dirty="0" smtClean="0">
                <a:solidFill>
                  <a:srgbClr val="0000CC"/>
                </a:solidFill>
              </a:rPr>
              <a:t>e.g. </a:t>
            </a:r>
            <a:r>
              <a:rPr lang="en-US" altLang="tr-TR" sz="1700" dirty="0" err="1" smtClean="0">
                <a:solidFill>
                  <a:srgbClr val="0000CC"/>
                </a:solidFill>
              </a:rPr>
              <a:t>ints</a:t>
            </a:r>
            <a:r>
              <a:rPr lang="en-US" altLang="tr-TR" sz="1700" dirty="0" smtClean="0">
                <a:solidFill>
                  <a:srgbClr val="0000CC"/>
                </a:solidFill>
              </a:rPr>
              <a:t>, chars that you define by    </a:t>
            </a:r>
            <a:r>
              <a:rPr lang="en-US" altLang="tr-TR" sz="17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n;    char c;   </a:t>
            </a:r>
            <a:r>
              <a:rPr lang="en-US" altLang="tr-TR" sz="1700" dirty="0" smtClean="0">
                <a:solidFill>
                  <a:srgbClr val="0000CC"/>
                </a:solidFill>
              </a:rPr>
              <a:t>etc.</a:t>
            </a:r>
            <a:r>
              <a:rPr lang="en-US" altLang="tr-TR" sz="1700" dirty="0" smtClean="0">
                <a:solidFill>
                  <a:srgbClr val="0000CC"/>
                </a:solidFill>
                <a:cs typeface="Times New Roman" panose="02020603050405020304" pitchFamily="18" charset="0"/>
              </a:rPr>
              <a:t>. </a:t>
            </a:r>
            <a:endParaRPr lang="en-US" altLang="tr-TR" sz="1700" dirty="0" smtClean="0">
              <a:solidFill>
                <a:srgbClr val="0000CC"/>
              </a:solidFill>
            </a:endParaRPr>
          </a:p>
          <a:p>
            <a:pPr marL="457200" lvl="1" indent="0">
              <a:lnSpc>
                <a:spcPct val="80000"/>
              </a:lnSpc>
              <a:buFontTx/>
              <a:buNone/>
              <a:defRPr/>
            </a:pPr>
            <a:endParaRPr lang="en-US" altLang="tr-TR" sz="800" dirty="0" smtClean="0">
              <a:solidFill>
                <a:srgbClr val="0000CC"/>
              </a:solidFill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tr-TR" sz="17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C++ allocates memory </a:t>
            </a:r>
            <a:r>
              <a:rPr lang="en-US" altLang="tr-TR" sz="1700" dirty="0" smtClean="0">
                <a:solidFill>
                  <a:schemeClr val="tx1"/>
                </a:solidFill>
              </a:rPr>
              <a:t>on the </a:t>
            </a:r>
            <a:r>
              <a:rPr lang="en-US" altLang="tr-TR" sz="1700" dirty="0" smtClean="0">
                <a:solidFill>
                  <a:srgbClr val="CC0000"/>
                </a:solidFill>
              </a:rPr>
              <a:t>stack</a:t>
            </a:r>
            <a:r>
              <a:rPr lang="en-US" altLang="tr-TR" sz="1700" dirty="0" smtClean="0">
                <a:solidFill>
                  <a:schemeClr val="tx1"/>
                </a:solidFill>
              </a:rPr>
              <a:t> (a pool of memory cells) for automatic variables </a:t>
            </a:r>
            <a:r>
              <a:rPr lang="en-US" altLang="tr-TR" sz="17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when it is declared in a function, releases the space when the function completes (automatically). This is </a:t>
            </a:r>
            <a:r>
              <a:rPr lang="en-US" altLang="tr-TR" sz="1700" dirty="0">
                <a:solidFill>
                  <a:srgbClr val="CC0000"/>
                </a:solidFill>
              </a:rPr>
              <a:t>static</a:t>
            </a:r>
            <a:r>
              <a:rPr lang="en-US" altLang="tr-TR" sz="17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 memory allocation (do </a:t>
            </a:r>
            <a:r>
              <a:rPr lang="en-US" altLang="tr-TR" sz="1700" u="sng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not</a:t>
            </a:r>
            <a:r>
              <a:rPr lang="en-US" altLang="tr-TR" sz="17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 confuse with static variables). This is for variables defined in function-level. For variables defined in inner block, see next bullet.</a:t>
            </a:r>
          </a:p>
          <a:p>
            <a:pPr lvl="1">
              <a:lnSpc>
                <a:spcPct val="80000"/>
              </a:lnSpc>
              <a:defRPr/>
            </a:pPr>
            <a:endParaRPr lang="en-US" altLang="tr-TR" sz="800" dirty="0" smtClean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tr-TR" sz="1700" dirty="0" smtClean="0">
                <a:solidFill>
                  <a:schemeClr val="tx1"/>
                </a:solidFill>
              </a:rPr>
              <a:t>The </a:t>
            </a:r>
            <a:r>
              <a:rPr lang="en-US" altLang="tr-TR" sz="1700" dirty="0" smtClean="0">
                <a:solidFill>
                  <a:srgbClr val="CC0000"/>
                </a:solidFill>
              </a:rPr>
              <a:t>lifetime</a:t>
            </a:r>
            <a:r>
              <a:rPr lang="en-US" altLang="tr-TR" sz="1700" dirty="0" smtClean="0">
                <a:solidFill>
                  <a:schemeClr val="tx1"/>
                </a:solidFill>
              </a:rPr>
              <a:t> of an automatic variable is defined by its </a:t>
            </a:r>
            <a:r>
              <a:rPr lang="en-US" altLang="tr-TR" sz="1700" dirty="0" smtClean="0">
                <a:solidFill>
                  <a:srgbClr val="CC0000"/>
                </a:solidFill>
              </a:rPr>
              <a:t>scope</a:t>
            </a:r>
            <a:r>
              <a:rPr lang="en-US" altLang="tr-TR" sz="1700" dirty="0" smtClean="0">
                <a:solidFill>
                  <a:schemeClr val="tx1"/>
                </a:solidFill>
              </a:rPr>
              <a:t> (the compound block in which the variable is defined). After the block finishes, the variable’s location is returned to memory.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tr-TR" sz="1700" dirty="0" smtClean="0"/>
              <a:t>A </a:t>
            </a:r>
            <a:r>
              <a:rPr lang="en-US" altLang="tr-TR" sz="1700" dirty="0" smtClean="0">
                <a:solidFill>
                  <a:srgbClr val="CC0000"/>
                </a:solidFill>
              </a:rPr>
              <a:t>block</a:t>
            </a:r>
            <a:r>
              <a:rPr lang="en-US" altLang="tr-TR" sz="1700" i="1" dirty="0" smtClean="0"/>
              <a:t> </a:t>
            </a:r>
            <a:r>
              <a:rPr lang="en-US" altLang="tr-TR" sz="1700" dirty="0" smtClean="0"/>
              <a:t>is defined as any code fragment enclosed in an left curly brace, </a:t>
            </a:r>
            <a:r>
              <a:rPr lang="en-US" altLang="tr-TR" sz="1700" b="1" dirty="0" smtClean="0"/>
              <a:t>{</a:t>
            </a:r>
            <a:r>
              <a:rPr lang="en-US" altLang="tr-TR" sz="1700" dirty="0" smtClean="0"/>
              <a:t>, and a right curly brace, </a:t>
            </a:r>
            <a:r>
              <a:rPr lang="en-US" altLang="tr-TR" sz="1700" b="1" dirty="0" smtClean="0"/>
              <a:t>}</a:t>
            </a:r>
            <a:r>
              <a:rPr lang="en-US" altLang="tr-TR" sz="1700" dirty="0" smtClean="0"/>
              <a:t>. </a:t>
            </a:r>
            <a:endParaRPr lang="en-US" altLang="tr-TR" sz="1700" dirty="0" smtClean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500" u="sng" dirty="0" smtClean="0">
              <a:solidFill>
                <a:srgbClr val="CC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1700" u="sng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Dynamic variables</a:t>
            </a:r>
            <a:r>
              <a:rPr lang="en-US" altLang="tr-TR" sz="1700" u="sng" dirty="0" smtClean="0">
                <a:solidFill>
                  <a:srgbClr val="CC0000"/>
                </a:solidFill>
              </a:rPr>
              <a:t>:</a:t>
            </a:r>
            <a:r>
              <a:rPr lang="en-US" altLang="tr-TR" sz="1700" dirty="0" smtClean="0">
                <a:solidFill>
                  <a:srgbClr val="CC0000"/>
                </a:solidFill>
              </a:rPr>
              <a:t> </a:t>
            </a:r>
            <a:r>
              <a:rPr lang="en-US" altLang="tr-TR" sz="1700" dirty="0" smtClean="0">
                <a:cs typeface="Times New Roman" panose="02020603050405020304" pitchFamily="18" charset="0"/>
              </a:rPr>
              <a:t>Allocated by the </a:t>
            </a:r>
            <a:r>
              <a:rPr lang="en-US" altLang="tr-TR" sz="17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new</a:t>
            </a:r>
            <a:r>
              <a:rPr lang="en-US" altLang="tr-TR" sz="1700" dirty="0" smtClean="0">
                <a:cs typeface="Times New Roman" panose="02020603050405020304" pitchFamily="18" charset="0"/>
              </a:rPr>
              <a:t> operator</a:t>
            </a:r>
            <a:r>
              <a:rPr lang="en-US" altLang="tr-TR" sz="1700" dirty="0" smtClean="0"/>
              <a:t>, on the </a:t>
            </a:r>
            <a:r>
              <a:rPr lang="en-US" altLang="tr-TR" sz="1700" dirty="0" smtClean="0">
                <a:solidFill>
                  <a:srgbClr val="CC0000"/>
                </a:solidFill>
              </a:rPr>
              <a:t>heap</a:t>
            </a:r>
            <a:r>
              <a:rPr lang="en-US" altLang="tr-TR" sz="1700" dirty="0" smtClean="0"/>
              <a:t> (a storage pool of available memory cells for dynamic allocation).</a:t>
            </a:r>
            <a:r>
              <a:rPr lang="en-US" altLang="tr-TR" sz="1700" dirty="0" smtClean="0">
                <a:solidFill>
                  <a:srgbClr val="0000CC"/>
                </a:solidFill>
              </a:rPr>
              <a:t> E.g.</a:t>
            </a:r>
            <a:r>
              <a:rPr lang="tr-TR" altLang="tr-TR" sz="1700" dirty="0" smtClean="0">
                <a:solidFill>
                  <a:srgbClr val="0000CC"/>
                </a:solidFill>
              </a:rPr>
              <a:t>  </a:t>
            </a:r>
            <a:r>
              <a:rPr lang="en-US" altLang="tr-TR" sz="1700" dirty="0" smtClean="0">
                <a:solidFill>
                  <a:srgbClr val="0000CC"/>
                </a:solidFill>
              </a:rPr>
              <a:t> </a:t>
            </a:r>
            <a:r>
              <a:rPr lang="en-US" altLang="tr-TR" sz="17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= new int[100];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800" dirty="0" smtClean="0">
              <a:solidFill>
                <a:srgbClr val="0000CC"/>
              </a:solidFill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tr-TR" sz="1700" b="1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tr-TR" sz="17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 returns the address of the first element allocated (this is generally assigned to a pointer variable)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tr-TR" sz="17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System will return </a:t>
            </a:r>
            <a:r>
              <a:rPr lang="en-US" altLang="tr-TR" sz="17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tr-TR" sz="17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 (or </a:t>
            </a:r>
            <a:r>
              <a:rPr lang="en-US" altLang="tr-TR" sz="1700" b="1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altLang="tr-TR" sz="17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) if there is no more space in heap to be allocated in some compilers. In some others (incl. g++), exception is thrown (will see later how to handle exceptions). </a:t>
            </a:r>
            <a:endParaRPr lang="en-US" altLang="tr-TR" sz="1700" dirty="0" smtClean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tr-TR" sz="1700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Programmer should use </a:t>
            </a:r>
            <a:r>
              <a:rPr lang="en-US" altLang="tr-TR" sz="17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tr-TR" sz="1700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to release space when it is no longer needed. </a:t>
            </a:r>
            <a:endParaRPr lang="tr-TR" altLang="tr-TR" sz="1700" dirty="0" smtClean="0">
              <a:solidFill>
                <a:srgbClr val="CC0000"/>
              </a:solidFill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spcAft>
                <a:spcPts val="600"/>
              </a:spcAft>
              <a:defRPr/>
            </a:pP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If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you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do not do </a:t>
            </a: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so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, </a:t>
            </a: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you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cause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so-called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"</a:t>
            </a:r>
            <a:r>
              <a:rPr lang="tr-TR" altLang="tr-TR" sz="1600" b="1" i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memory</a:t>
            </a:r>
            <a:r>
              <a:rPr lang="tr-TR" altLang="tr-TR" sz="1600" b="1" i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</a:t>
            </a:r>
            <a:r>
              <a:rPr lang="tr-TR" altLang="tr-TR" sz="1600" b="1" i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leak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"; </a:t>
            </a: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This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is </a:t>
            </a: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one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of </a:t>
            </a: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deadly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sins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 of </a:t>
            </a:r>
            <a:r>
              <a:rPr lang="tr-TR" altLang="tr-TR" sz="1600" b="1" dirty="0" err="1" smtClean="0">
                <a:solidFill>
                  <a:srgbClr val="CC0000"/>
                </a:solidFill>
                <a:cs typeface="Times New Roman" panose="02020603050405020304" pitchFamily="18" charset="0"/>
              </a:rPr>
              <a:t>programming</a:t>
            </a:r>
            <a:r>
              <a:rPr lang="tr-TR" altLang="tr-TR" sz="1600" b="1" dirty="0" smtClean="0">
                <a:solidFill>
                  <a:srgbClr val="CC0000"/>
                </a:solidFill>
                <a:cs typeface="Times New Roman" panose="02020603050405020304" pitchFamily="18" charset="0"/>
              </a:rPr>
              <a:t>. </a:t>
            </a:r>
            <a:endParaRPr lang="en-US" altLang="tr-TR" sz="1600" b="1" dirty="0" smtClean="0">
              <a:solidFill>
                <a:srgbClr val="CC0000"/>
              </a:solidFill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tr-TR" sz="1800" b="1" u="sng" dirty="0" smtClean="0">
                <a:solidFill>
                  <a:srgbClr val="CC0000"/>
                </a:solidFill>
              </a:rPr>
              <a:t>The lifetime of a dynamic variable is until they are explicitly deleted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tr-TR" sz="1500" dirty="0" smtClean="0">
                <a:cs typeface="Times New Roman" panose="02020603050405020304" pitchFamily="18" charset="0"/>
              </a:rPr>
              <a:t> </a:t>
            </a:r>
            <a:endParaRPr lang="en-US" altLang="tr-TR" sz="1500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altLang="tr-TR" sz="15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A3C359-B6E4-4D45-860C-70F236640776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82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776288"/>
          </a:xfrm>
        </p:spPr>
        <p:txBody>
          <a:bodyPr/>
          <a:lstStyle/>
          <a:p>
            <a:pPr>
              <a:defRPr/>
            </a:pPr>
            <a:r>
              <a:rPr lang="en-US" b="1" dirty="0"/>
              <a:t>Local Variables </a:t>
            </a:r>
            <a:r>
              <a:rPr lang="en-US" b="1" dirty="0" err="1"/>
              <a:t>vs</a:t>
            </a:r>
            <a:r>
              <a:rPr lang="en-US" b="1" dirty="0"/>
              <a:t> Global Variables</a:t>
            </a: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928688"/>
            <a:ext cx="8839200" cy="57864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tr-TR" smtClean="0"/>
              <a:t>A </a:t>
            </a:r>
            <a:r>
              <a:rPr lang="en-US" altLang="tr-TR" smtClean="0">
                <a:solidFill>
                  <a:srgbClr val="CC0000"/>
                </a:solidFill>
              </a:rPr>
              <a:t>block</a:t>
            </a:r>
            <a:r>
              <a:rPr lang="en-US" altLang="tr-TR" i="1" smtClean="0"/>
              <a:t> </a:t>
            </a:r>
            <a:r>
              <a:rPr lang="en-US" altLang="tr-TR" smtClean="0"/>
              <a:t>is any code fragment enclosed in an left curly brace, </a:t>
            </a:r>
            <a:r>
              <a:rPr lang="en-US" altLang="tr-TR" b="1" smtClean="0"/>
              <a:t>{</a:t>
            </a:r>
            <a:r>
              <a:rPr lang="en-US" altLang="tr-TR" smtClean="0"/>
              <a:t>, and a right curly brace, </a:t>
            </a:r>
            <a:r>
              <a:rPr lang="en-US" altLang="tr-TR" b="1" smtClean="0"/>
              <a:t>}</a:t>
            </a:r>
            <a:r>
              <a:rPr lang="en-US" altLang="tr-TR" smtClean="0"/>
              <a:t>. </a:t>
            </a:r>
            <a:endParaRPr lang="tr-TR" altLang="tr-TR" smtClean="0"/>
          </a:p>
          <a:p>
            <a:pPr>
              <a:lnSpc>
                <a:spcPct val="80000"/>
              </a:lnSpc>
            </a:pPr>
            <a:endParaRPr lang="tr-TR" altLang="tr-TR" smtClean="0"/>
          </a:p>
          <a:p>
            <a:pPr>
              <a:lnSpc>
                <a:spcPct val="80000"/>
              </a:lnSpc>
            </a:pPr>
            <a:r>
              <a:rPr lang="en-US" altLang="tr-TR" smtClean="0"/>
              <a:t>Variables are categorized as either </a:t>
            </a:r>
            <a:r>
              <a:rPr lang="en-US" altLang="tr-TR" i="1" smtClean="0">
                <a:solidFill>
                  <a:srgbClr val="CC0000"/>
                </a:solidFill>
              </a:rPr>
              <a:t>local</a:t>
            </a:r>
            <a:r>
              <a:rPr lang="en-US" altLang="tr-TR" i="1" smtClean="0"/>
              <a:t> </a:t>
            </a:r>
            <a:r>
              <a:rPr lang="en-US" altLang="tr-TR" smtClean="0"/>
              <a:t>or </a:t>
            </a:r>
            <a:r>
              <a:rPr lang="en-US" altLang="tr-TR" i="1" smtClean="0">
                <a:solidFill>
                  <a:srgbClr val="CC0000"/>
                </a:solidFill>
              </a:rPr>
              <a:t>global</a:t>
            </a:r>
            <a:r>
              <a:rPr lang="en-US" altLang="tr-TR" i="1" smtClean="0"/>
              <a:t> </a:t>
            </a:r>
            <a:r>
              <a:rPr lang="en-US" altLang="tr-TR" smtClean="0"/>
              <a:t>solely based on there they are declared: </a:t>
            </a:r>
            <a:r>
              <a:rPr lang="en-US" altLang="tr-TR" b="1" smtClean="0"/>
              <a:t>inside a block</a:t>
            </a:r>
            <a:r>
              <a:rPr lang="en-US" altLang="tr-TR" smtClean="0"/>
              <a:t> </a:t>
            </a:r>
            <a:r>
              <a:rPr lang="tr-TR" altLang="tr-TR" smtClean="0"/>
              <a:t>or </a:t>
            </a:r>
            <a:r>
              <a:rPr lang="en-US" altLang="tr-TR" b="1" smtClean="0"/>
              <a:t>outside </a:t>
            </a:r>
            <a:r>
              <a:rPr lang="tr-TR" altLang="tr-TR" b="1" smtClean="0"/>
              <a:t>of </a:t>
            </a:r>
            <a:r>
              <a:rPr lang="en-US" altLang="tr-TR" b="1" smtClean="0"/>
              <a:t>all blocks</a:t>
            </a:r>
            <a:r>
              <a:rPr lang="en-US" altLang="tr-TR" smtClean="0"/>
              <a:t>. </a:t>
            </a:r>
            <a:endParaRPr lang="tr-TR" altLang="tr-TR" smtClean="0"/>
          </a:p>
          <a:p>
            <a:pPr lvl="1">
              <a:lnSpc>
                <a:spcPct val="80000"/>
              </a:lnSpc>
            </a:pPr>
            <a:r>
              <a:rPr lang="en-US" altLang="tr-TR" smtClean="0">
                <a:solidFill>
                  <a:srgbClr val="CC0000"/>
                </a:solidFill>
              </a:rPr>
              <a:t>Local</a:t>
            </a:r>
            <a:r>
              <a:rPr lang="en-US" altLang="tr-TR" smtClean="0"/>
              <a:t> variables are declared in a block. </a:t>
            </a:r>
            <a:endParaRPr lang="tr-TR" altLang="tr-TR" smtClean="0"/>
          </a:p>
          <a:p>
            <a:pPr lvl="1">
              <a:lnSpc>
                <a:spcPct val="80000"/>
              </a:lnSpc>
            </a:pPr>
            <a:r>
              <a:rPr lang="en-US" altLang="tr-TR" smtClean="0">
                <a:solidFill>
                  <a:srgbClr val="CC0000"/>
                </a:solidFill>
              </a:rPr>
              <a:t>Global</a:t>
            </a:r>
            <a:r>
              <a:rPr lang="en-US" altLang="tr-TR" smtClean="0"/>
              <a:t> variables are declared outside of all blocks.</a:t>
            </a:r>
            <a:endParaRPr lang="tr-TR" altLang="tr-TR" smtClean="0"/>
          </a:p>
          <a:p>
            <a:pPr>
              <a:lnSpc>
                <a:spcPct val="80000"/>
              </a:lnSpc>
            </a:pPr>
            <a:endParaRPr lang="en-US" altLang="tr-TR" sz="800" smtClean="0"/>
          </a:p>
          <a:p>
            <a:pPr>
              <a:lnSpc>
                <a:spcPct val="80000"/>
              </a:lnSpc>
            </a:pPr>
            <a:r>
              <a:rPr lang="tr-TR" altLang="tr-TR" smtClean="0">
                <a:solidFill>
                  <a:srgbClr val="CC0000"/>
                </a:solidFill>
              </a:rPr>
              <a:t>The </a:t>
            </a:r>
            <a:r>
              <a:rPr lang="tr-TR" altLang="tr-TR" b="1" smtClean="0">
                <a:solidFill>
                  <a:srgbClr val="CC0000"/>
                </a:solidFill>
              </a:rPr>
              <a:t>scope</a:t>
            </a:r>
            <a:r>
              <a:rPr lang="tr-TR" altLang="tr-TR" smtClean="0">
                <a:solidFill>
                  <a:srgbClr val="CC0000"/>
                </a:solidFill>
              </a:rPr>
              <a:t> of a local variable is the block in which the variable is declared</a:t>
            </a:r>
            <a:r>
              <a:rPr lang="tr-TR" altLang="tr-TR" smtClean="0"/>
              <a:t>.</a:t>
            </a:r>
          </a:p>
          <a:p>
            <a:pPr>
              <a:lnSpc>
                <a:spcPct val="80000"/>
              </a:lnSpc>
            </a:pPr>
            <a:endParaRPr lang="en-US" altLang="tr-TR" sz="800" smtClean="0"/>
          </a:p>
          <a:p>
            <a:pPr>
              <a:lnSpc>
                <a:spcPct val="80000"/>
              </a:lnSpc>
            </a:pPr>
            <a:r>
              <a:rPr lang="en-US" altLang="tr-TR" smtClean="0"/>
              <a:t>A global variable is NOT limited in scope. This type of variable is visible to every module in the project. </a:t>
            </a:r>
            <a:endParaRPr lang="tr-TR" altLang="tr-TR" smtClean="0"/>
          </a:p>
          <a:p>
            <a:pPr lvl="1">
              <a:lnSpc>
                <a:spcPct val="80000"/>
              </a:lnSpc>
            </a:pPr>
            <a:r>
              <a:rPr lang="en-US" altLang="tr-TR" smtClean="0"/>
              <a:t>A commonly </a:t>
            </a:r>
            <a:r>
              <a:rPr lang="tr-TR" altLang="tr-TR" smtClean="0"/>
              <a:t>complained</a:t>
            </a:r>
            <a:r>
              <a:rPr lang="en-US" altLang="tr-TR" smtClean="0"/>
              <a:t> shortcoming of C++ is the exposure created by using global variables. </a:t>
            </a:r>
            <a:endParaRPr lang="tr-TR" altLang="tr-TR" smtClean="0"/>
          </a:p>
          <a:p>
            <a:pPr lvl="1">
              <a:lnSpc>
                <a:spcPct val="80000"/>
              </a:lnSpc>
            </a:pPr>
            <a:r>
              <a:rPr lang="en-US" altLang="tr-TR" smtClean="0"/>
              <a:t>This situation is usually avoided by prohibiting the use of global variables and instead passing information between modules in the form of function/method parameters.</a:t>
            </a:r>
            <a:br>
              <a:rPr lang="en-US" altLang="tr-TR" smtClean="0"/>
            </a:br>
            <a:endParaRPr lang="en-US" altLang="tr-TR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tr-TR" dirty="0" err="1" smtClean="0"/>
              <a:t>Extern</a:t>
            </a:r>
            <a:r>
              <a:rPr lang="tr-TR" dirty="0" smtClean="0"/>
              <a:t> </a:t>
            </a:r>
            <a:r>
              <a:rPr lang="tr-TR" dirty="0" err="1" smtClean="0"/>
              <a:t>variables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75" y="1143000"/>
            <a:ext cx="8732838" cy="542925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 smtClean="0"/>
              <a:t>We said that a global variable is visible to every module in the project</a:t>
            </a:r>
          </a:p>
          <a:p>
            <a:pPr lvl="1">
              <a:defRPr/>
            </a:pPr>
            <a:r>
              <a:rPr lang="en-US" dirty="0" smtClean="0"/>
              <a:t>But this is not automatic; you cannot directly use a global variable defined in say student.cpp in another </a:t>
            </a:r>
            <a:r>
              <a:rPr lang="en-US" dirty="0" err="1" smtClean="0"/>
              <a:t>cpp</a:t>
            </a:r>
            <a:r>
              <a:rPr lang="en-US" dirty="0" smtClean="0"/>
              <a:t> (say courses.cpp) of the same project (</a:t>
            </a:r>
            <a:r>
              <a:rPr lang="en-US" dirty="0" err="1" smtClean="0"/>
              <a:t>CmakeLists</a:t>
            </a:r>
            <a:r>
              <a:rPr lang="en-US" dirty="0" smtClean="0"/>
              <a:t> file)</a:t>
            </a:r>
          </a:p>
          <a:p>
            <a:pPr>
              <a:defRPr/>
            </a:pPr>
            <a:r>
              <a:rPr lang="en-US" dirty="0" smtClean="0"/>
              <a:t>There is a mechanism to reach a global variable declared in another </a:t>
            </a:r>
            <a:r>
              <a:rPr lang="en-US" dirty="0" err="1" smtClean="0"/>
              <a:t>cpp</a:t>
            </a:r>
            <a:r>
              <a:rPr lang="en-US" dirty="0" smtClean="0"/>
              <a:t> file; using </a:t>
            </a:r>
            <a:r>
              <a:rPr lang="en-US" i="1" dirty="0" smtClean="0"/>
              <a:t>extern</a:t>
            </a:r>
            <a:r>
              <a:rPr lang="en-US" dirty="0" smtClean="0"/>
              <a:t> variable.</a:t>
            </a:r>
          </a:p>
          <a:p>
            <a:pPr>
              <a:defRPr/>
            </a:pPr>
            <a:r>
              <a:rPr lang="en-US" dirty="0" smtClean="0"/>
              <a:t>The actual definition of the global variable remains as is</a:t>
            </a:r>
          </a:p>
          <a:p>
            <a:pPr lvl="1">
              <a:defRPr/>
            </a:pPr>
            <a:r>
              <a:rPr lang="en-US" b="1" dirty="0" smtClean="0"/>
              <a:t>This is where the memory is allocated for that variable</a:t>
            </a:r>
          </a:p>
          <a:p>
            <a:pPr>
              <a:defRPr/>
            </a:pPr>
            <a:r>
              <a:rPr lang="en-US" dirty="0" smtClean="0"/>
              <a:t>In the </a:t>
            </a:r>
            <a:r>
              <a:rPr lang="en-US" dirty="0" err="1" smtClean="0"/>
              <a:t>cpp</a:t>
            </a:r>
            <a:r>
              <a:rPr lang="en-US" dirty="0" smtClean="0"/>
              <a:t> file that you will reach the global variable defined outside of this </a:t>
            </a:r>
            <a:r>
              <a:rPr lang="en-US" dirty="0" err="1" smtClean="0"/>
              <a:t>cpp</a:t>
            </a:r>
            <a:r>
              <a:rPr lang="en-US" dirty="0" smtClean="0"/>
              <a:t>:</a:t>
            </a:r>
          </a:p>
          <a:p>
            <a:pPr lvl="1">
              <a:defRPr/>
            </a:pPr>
            <a:r>
              <a:rPr lang="en-US" dirty="0" smtClean="0"/>
              <a:t>You have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redefine the same global variable with </a:t>
            </a:r>
            <a:r>
              <a:rPr lang="en-US" dirty="0" err="1" smtClean="0"/>
              <a:t>preceeding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extern</a:t>
            </a:r>
            <a:r>
              <a:rPr lang="en-US" dirty="0" smtClean="0"/>
              <a:t> keyword.</a:t>
            </a:r>
          </a:p>
          <a:p>
            <a:pPr lvl="1">
              <a:defRPr/>
            </a:pPr>
            <a:r>
              <a:rPr lang="en-US" dirty="0" smtClean="0"/>
              <a:t>In this way, you do not allocate a new memory location, but inform the compiler that the actual definition of the variable is outside of that </a:t>
            </a:r>
            <a:r>
              <a:rPr lang="en-US" dirty="0" err="1" smtClean="0"/>
              <a:t>cpp</a:t>
            </a:r>
            <a:r>
              <a:rPr lang="en-US" dirty="0" smtClean="0"/>
              <a:t> file. </a:t>
            </a:r>
          </a:p>
          <a:p>
            <a:pPr>
              <a:defRPr/>
            </a:pPr>
            <a:r>
              <a:rPr lang="en-US" dirty="0" smtClean="0"/>
              <a:t>See externdemo1.cpp and externdemo2.cpp</a:t>
            </a:r>
            <a:endParaRPr lang="en-US" dirty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A071FB-9B27-42BB-BC03-375435004A9E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157F5A-199C-4BA4-899C-AC04BA75763C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82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tr-TR" smtClean="0"/>
              <a:t>Static variables</a:t>
            </a:r>
            <a:endParaRPr lang="en-US" smtClean="0"/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000125"/>
            <a:ext cx="8839200" cy="545306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tr-TR" sz="2200" b="1" dirty="0" smtClean="0"/>
              <a:t>Static Local Variables</a:t>
            </a:r>
          </a:p>
          <a:p>
            <a:pPr>
              <a:lnSpc>
                <a:spcPct val="80000"/>
              </a:lnSpc>
            </a:pPr>
            <a:r>
              <a:rPr lang="en-US" altLang="tr-TR" sz="2200" dirty="0" smtClean="0"/>
              <a:t>A variant of the 'normal' local variable is the </a:t>
            </a:r>
            <a:r>
              <a:rPr lang="en-US" altLang="tr-TR" sz="2200" i="1" dirty="0" smtClean="0"/>
              <a:t>static </a:t>
            </a:r>
            <a:r>
              <a:rPr lang="en-US" altLang="tr-TR" sz="2200" dirty="0" smtClean="0"/>
              <a:t>local. </a:t>
            </a:r>
            <a:r>
              <a:rPr lang="tr-TR" altLang="tr-TR" sz="2200" dirty="0" err="1" smtClean="0"/>
              <a:t>When</a:t>
            </a:r>
            <a:r>
              <a:rPr lang="tr-TR" altLang="tr-TR" sz="2200" dirty="0" smtClean="0"/>
              <a:t> </a:t>
            </a:r>
            <a:r>
              <a:rPr lang="en-US" altLang="tr-TR" sz="2200" dirty="0" smtClean="0"/>
              <a:t>the keyword </a:t>
            </a:r>
            <a:r>
              <a:rPr lang="en-US" altLang="tr-TR" sz="2200" b="1" dirty="0" smtClean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tr-TR" altLang="tr-TR" sz="2200" dirty="0" smtClean="0">
                <a:solidFill>
                  <a:srgbClr val="CC0000"/>
                </a:solidFill>
              </a:rPr>
              <a:t> </a:t>
            </a:r>
            <a:r>
              <a:rPr lang="tr-TR" altLang="tr-TR" sz="2200" dirty="0" err="1" smtClean="0"/>
              <a:t>preceeds</a:t>
            </a:r>
            <a:r>
              <a:rPr lang="en-US" altLang="tr-TR" sz="2200" dirty="0" smtClean="0"/>
              <a:t> to the variable declaration, </a:t>
            </a:r>
            <a:r>
              <a:rPr lang="en-US" altLang="tr-TR" sz="2200" dirty="0" smtClean="0">
                <a:solidFill>
                  <a:srgbClr val="FF0000"/>
                </a:solidFill>
              </a:rPr>
              <a:t>the lifetime of the variable</a:t>
            </a:r>
            <a:r>
              <a:rPr lang="tr-TR" altLang="tr-TR" sz="2200" dirty="0" smtClean="0">
                <a:solidFill>
                  <a:srgbClr val="FF0000"/>
                </a:solidFill>
              </a:rPr>
              <a:t> </a:t>
            </a:r>
            <a:r>
              <a:rPr lang="en-US" altLang="tr-TR" sz="2200" dirty="0" smtClean="0">
                <a:solidFill>
                  <a:srgbClr val="FF0000"/>
                </a:solidFill>
              </a:rPr>
              <a:t>becomes the entire execution of the program</a:t>
            </a:r>
            <a:r>
              <a:rPr lang="en-US" altLang="tr-TR" sz="2200" dirty="0" smtClean="0"/>
              <a:t>. </a:t>
            </a:r>
            <a:endParaRPr lang="tr-TR" altLang="tr-TR" sz="2200" dirty="0" smtClean="0"/>
          </a:p>
          <a:p>
            <a:pPr lvl="1">
              <a:lnSpc>
                <a:spcPct val="80000"/>
              </a:lnSpc>
            </a:pPr>
            <a:r>
              <a:rPr lang="en-US" altLang="tr-TR" sz="1900" dirty="0" smtClean="0"/>
              <a:t>To preserve the value of the variable even when it goes out of scope</a:t>
            </a:r>
            <a:r>
              <a:rPr lang="tr-TR" altLang="tr-TR" sz="1900" dirty="0" smtClean="0"/>
              <a:t>.</a:t>
            </a:r>
          </a:p>
          <a:p>
            <a:pPr lvl="1">
              <a:lnSpc>
                <a:spcPct val="80000"/>
              </a:lnSpc>
            </a:pPr>
            <a:r>
              <a:rPr lang="en-US" altLang="tr-TR" sz="1900" dirty="0" smtClean="0"/>
              <a:t>When program execution reenters the block in which the variable is declared, the variable has the value it had when execution last left that block.</a:t>
            </a:r>
            <a:br>
              <a:rPr lang="en-US" altLang="tr-TR" sz="1900" dirty="0" smtClean="0"/>
            </a:br>
            <a:endParaRPr lang="en-US" altLang="tr-TR" sz="1900" b="1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2200" b="1" dirty="0" smtClean="0"/>
              <a:t>Static Global Variables</a:t>
            </a:r>
          </a:p>
          <a:p>
            <a:pPr>
              <a:lnSpc>
                <a:spcPct val="80000"/>
              </a:lnSpc>
            </a:pPr>
            <a:r>
              <a:rPr lang="en-US" altLang="tr-TR" sz="2200" dirty="0" smtClean="0"/>
              <a:t>A variant of the 'normal' global variable is the </a:t>
            </a:r>
            <a:r>
              <a:rPr lang="en-US" altLang="tr-TR" sz="2200" i="1" dirty="0" smtClean="0"/>
              <a:t>static global</a:t>
            </a:r>
            <a:r>
              <a:rPr lang="en-US" altLang="tr-TR" sz="2200" dirty="0" smtClean="0"/>
              <a:t>. Static global variables are visible to all methods/functions in the module</a:t>
            </a:r>
            <a:r>
              <a:rPr lang="tr-TR" altLang="tr-TR" sz="2200" dirty="0" smtClean="0"/>
              <a:t> (</a:t>
            </a:r>
            <a:r>
              <a:rPr lang="tr-TR" altLang="tr-TR" sz="2200" dirty="0" err="1" smtClean="0"/>
              <a:t>i.e</a:t>
            </a:r>
            <a:r>
              <a:rPr lang="tr-TR" altLang="tr-TR" sz="2200" dirty="0" smtClean="0"/>
              <a:t>. .</a:t>
            </a:r>
            <a:r>
              <a:rPr lang="tr-TR" altLang="tr-TR" sz="2200" dirty="0" err="1" smtClean="0"/>
              <a:t>cpp</a:t>
            </a:r>
            <a:r>
              <a:rPr lang="tr-TR" altLang="tr-TR" sz="2200" dirty="0" smtClean="0"/>
              <a:t> </a:t>
            </a:r>
            <a:r>
              <a:rPr lang="tr-TR" altLang="tr-TR" sz="2200" dirty="0" err="1" smtClean="0"/>
              <a:t>or</a:t>
            </a:r>
            <a:r>
              <a:rPr lang="tr-TR" altLang="tr-TR" sz="2200" dirty="0" smtClean="0"/>
              <a:t> .h file </a:t>
            </a:r>
            <a:r>
              <a:rPr lang="tr-TR" altLang="tr-TR" sz="2200" dirty="0" err="1" smtClean="0"/>
              <a:t>or</a:t>
            </a:r>
            <a:r>
              <a:rPr lang="tr-TR" altLang="tr-TR" sz="2200" dirty="0" smtClean="0"/>
              <a:t> </a:t>
            </a:r>
            <a:r>
              <a:rPr lang="tr-TR" altLang="tr-TR" sz="2200" dirty="0" err="1" smtClean="0"/>
              <a:t>the</a:t>
            </a:r>
            <a:r>
              <a:rPr lang="tr-TR" altLang="tr-TR" sz="2200" dirty="0" smtClean="0"/>
              <a:t> </a:t>
            </a:r>
            <a:r>
              <a:rPr lang="tr-TR" altLang="tr-TR" sz="2200" dirty="0" err="1" smtClean="0"/>
              <a:t>files</a:t>
            </a:r>
            <a:r>
              <a:rPr lang="tr-TR" altLang="tr-TR" sz="2200" dirty="0" smtClean="0"/>
              <a:t> </a:t>
            </a:r>
            <a:r>
              <a:rPr lang="tr-TR" altLang="tr-TR" sz="2200" dirty="0" err="1" smtClean="0"/>
              <a:t>that</a:t>
            </a:r>
            <a:r>
              <a:rPr lang="tr-TR" altLang="tr-TR" sz="2200" dirty="0" smtClean="0"/>
              <a:t> </a:t>
            </a:r>
            <a:r>
              <a:rPr lang="tr-TR" altLang="tr-TR" sz="2200" dirty="0" err="1" smtClean="0"/>
              <a:t>include</a:t>
            </a:r>
            <a:r>
              <a:rPr lang="tr-TR" altLang="tr-TR" sz="2200" dirty="0" smtClean="0"/>
              <a:t> it)</a:t>
            </a:r>
            <a:r>
              <a:rPr lang="en-US" altLang="tr-TR" sz="2200" dirty="0" smtClean="0"/>
              <a:t> where the variable is declared, </a:t>
            </a:r>
            <a:r>
              <a:rPr lang="en-US" altLang="tr-TR" sz="2200" dirty="0" smtClean="0">
                <a:solidFill>
                  <a:srgbClr val="CC0000"/>
                </a:solidFill>
              </a:rPr>
              <a:t>but not visible to any other modules in the project</a:t>
            </a:r>
            <a:r>
              <a:rPr lang="en-US" altLang="tr-TR" sz="2200" dirty="0" smtClean="0"/>
              <a:t>. This strategy greatly reduces the op</a:t>
            </a:r>
            <a:r>
              <a:rPr lang="tr-TR" altLang="tr-TR" sz="2200" dirty="0" smtClean="0"/>
              <a:t>p</a:t>
            </a:r>
            <a:r>
              <a:rPr lang="en-US" altLang="tr-TR" sz="2200" dirty="0" smtClean="0"/>
              <a:t>ort</a:t>
            </a:r>
            <a:r>
              <a:rPr lang="tr-TR" altLang="tr-TR" sz="2200" dirty="0" smtClean="0"/>
              <a:t>u</a:t>
            </a:r>
            <a:r>
              <a:rPr lang="en-US" altLang="tr-TR" sz="2200" dirty="0" err="1" smtClean="0"/>
              <a:t>nities</a:t>
            </a:r>
            <a:r>
              <a:rPr lang="en-US" altLang="tr-TR" sz="2200" dirty="0" smtClean="0"/>
              <a:t> for logic errors in larger programs. By doing this</a:t>
            </a:r>
            <a:r>
              <a:rPr lang="tr-TR" altLang="tr-TR" sz="2200" dirty="0" smtClean="0"/>
              <a:t>,</a:t>
            </a:r>
            <a:r>
              <a:rPr lang="en-US" altLang="tr-TR" sz="2200" dirty="0" smtClean="0"/>
              <a:t> sharing information within a module is still </a:t>
            </a:r>
            <a:r>
              <a:rPr lang="tr-TR" altLang="tr-TR" sz="2200" dirty="0" err="1" smtClean="0"/>
              <a:t>possible</a:t>
            </a:r>
            <a:r>
              <a:rPr lang="en-US" altLang="tr-TR" sz="2200" dirty="0" smtClean="0"/>
              <a:t>. As long as modules are kept small and manageable, this strategy </a:t>
            </a:r>
            <a:r>
              <a:rPr lang="tr-TR" altLang="tr-TR" sz="2200" dirty="0" smtClean="0"/>
              <a:t>is </a:t>
            </a:r>
            <a:r>
              <a:rPr lang="en-US" altLang="tr-TR" sz="2200" dirty="0" smtClean="0"/>
              <a:t>useful.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B0F446-F019-44BE-98FC-928479BF2EEB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68421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Heap/Stack: usage overview</a:t>
            </a: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836613"/>
            <a:ext cx="8821738" cy="59055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altLang="tr-TR" sz="1800" dirty="0" smtClean="0">
              <a:solidFill>
                <a:srgbClr val="CC0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 smtClean="0"/>
              <a:t>Stack (also called as </a:t>
            </a:r>
            <a:r>
              <a:rPr lang="en-US" altLang="tr-TR" sz="1800" b="1" i="1" dirty="0" smtClean="0"/>
              <a:t>runtime stack</a:t>
            </a:r>
            <a:r>
              <a:rPr lang="en-US" altLang="tr-TR" sz="1800" b="1" dirty="0" smtClean="0"/>
              <a:t>)</a:t>
            </a:r>
          </a:p>
          <a:p>
            <a:pPr>
              <a:lnSpc>
                <a:spcPct val="80000"/>
              </a:lnSpc>
            </a:pPr>
            <a:r>
              <a:rPr lang="en-US" altLang="tr-TR" sz="1800" dirty="0" smtClean="0"/>
              <a:t>All </a:t>
            </a:r>
            <a:r>
              <a:rPr lang="tr-TR" altLang="tr-TR" sz="1800" dirty="0" err="1" smtClean="0"/>
              <a:t>automatic</a:t>
            </a:r>
            <a:r>
              <a:rPr lang="tr-TR" altLang="tr-TR" sz="1800" dirty="0" smtClean="0"/>
              <a:t>  (</a:t>
            </a:r>
            <a:r>
              <a:rPr lang="tr-TR" altLang="tr-TR" sz="1800" dirty="0" err="1" smtClean="0"/>
              <a:t>ordinary</a:t>
            </a:r>
            <a:r>
              <a:rPr lang="tr-TR" altLang="tr-TR" sz="1800" dirty="0" smtClean="0"/>
              <a:t>) </a:t>
            </a:r>
            <a:r>
              <a:rPr lang="en-US" altLang="tr-TR" sz="1800" dirty="0" smtClean="0"/>
              <a:t>variables use a special part of memory called</a:t>
            </a:r>
            <a:r>
              <a:rPr lang="tr-TR" altLang="tr-TR" sz="1800" dirty="0" smtClean="0"/>
              <a:t> </a:t>
            </a:r>
            <a:r>
              <a:rPr lang="tr-TR" altLang="tr-TR" sz="1800" dirty="0" err="1" smtClean="0"/>
              <a:t>the</a:t>
            </a:r>
            <a:r>
              <a:rPr lang="en-US" altLang="tr-TR" sz="1800" dirty="0" smtClean="0"/>
              <a:t> </a:t>
            </a:r>
            <a:r>
              <a:rPr lang="en-US" altLang="tr-TR" sz="1800" i="1" dirty="0" smtClean="0"/>
              <a:t>runtime stack</a:t>
            </a:r>
          </a:p>
          <a:p>
            <a:pPr>
              <a:lnSpc>
                <a:spcPct val="80000"/>
              </a:lnSpc>
            </a:pPr>
            <a:r>
              <a:rPr lang="en-US" altLang="tr-TR" sz="1800" dirty="0" smtClean="0"/>
              <a:t>The stack is used for storing context during function calls, which is performed automatically </a:t>
            </a:r>
            <a:r>
              <a:rPr lang="tr-TR" altLang="tr-TR" sz="1800" dirty="0" err="1" smtClean="0"/>
              <a:t>and</a:t>
            </a:r>
            <a:r>
              <a:rPr lang="tr-TR" altLang="tr-TR" sz="1800" dirty="0" smtClean="0"/>
              <a:t> </a:t>
            </a:r>
            <a:r>
              <a:rPr lang="en-US" altLang="tr-TR" sz="1800" dirty="0" smtClean="0"/>
              <a:t>transparent to the programmer.  </a:t>
            </a:r>
          </a:p>
          <a:p>
            <a:pPr lvl="1"/>
            <a:r>
              <a:rPr lang="en-US" altLang="tr-TR" sz="1600" dirty="0" smtClean="0"/>
              <a:t>When a function</a:t>
            </a:r>
            <a:r>
              <a:rPr lang="tr-TR" altLang="tr-TR" sz="1600" dirty="0" smtClean="0"/>
              <a:t>,</a:t>
            </a:r>
            <a:r>
              <a:rPr lang="en-US" altLang="tr-TR" sz="1600" dirty="0" smtClean="0"/>
              <a:t> </a:t>
            </a:r>
            <a:r>
              <a:rPr lang="tr-TR" altLang="tr-TR" sz="1600" dirty="0" smtClean="0"/>
              <a:t>say </a:t>
            </a:r>
            <a:r>
              <a:rPr lang="en-US" altLang="tr-TR" sz="1600" i="1" dirty="0" err="1" smtClean="0"/>
              <a:t>dothis</a:t>
            </a:r>
            <a:r>
              <a:rPr lang="tr-TR" altLang="tr-TR" sz="1600" dirty="0" smtClean="0"/>
              <a:t>,</a:t>
            </a:r>
            <a:r>
              <a:rPr lang="en-US" altLang="tr-TR" sz="1600" dirty="0" smtClean="0"/>
              <a:t> is called in another function</a:t>
            </a:r>
            <a:r>
              <a:rPr lang="tr-TR" altLang="tr-TR" sz="1600" dirty="0" smtClean="0"/>
              <a:t>, say</a:t>
            </a:r>
            <a:r>
              <a:rPr lang="en-US" altLang="tr-TR" sz="1600" dirty="0" smtClean="0"/>
              <a:t> </a:t>
            </a:r>
            <a:r>
              <a:rPr lang="en-US" altLang="tr-TR" sz="1600" i="1" dirty="0" err="1" smtClean="0"/>
              <a:t>dothat</a:t>
            </a:r>
            <a:r>
              <a:rPr lang="en-US" altLang="tr-TR" sz="1600" dirty="0" smtClean="0"/>
              <a:t>, the function </a:t>
            </a:r>
            <a:r>
              <a:rPr lang="en-US" altLang="tr-TR" sz="1600" i="1" dirty="0" err="1" smtClean="0"/>
              <a:t>dothat</a:t>
            </a:r>
            <a:r>
              <a:rPr lang="en-US" altLang="tr-TR" sz="1600" dirty="0" smtClean="0"/>
              <a:t> simply pushes all its local variables (its context) onto the stack before passing the control to </a:t>
            </a:r>
            <a:r>
              <a:rPr lang="en-US" altLang="tr-TR" sz="1600" i="1" dirty="0" err="1" smtClean="0"/>
              <a:t>dothis</a:t>
            </a:r>
            <a:r>
              <a:rPr lang="en-US" altLang="tr-TR" sz="1600" dirty="0" smtClean="0"/>
              <a:t>. When the function </a:t>
            </a:r>
            <a:r>
              <a:rPr lang="en-US" altLang="tr-TR" sz="1600" i="1" dirty="0" err="1" smtClean="0"/>
              <a:t>dothis</a:t>
            </a:r>
            <a:r>
              <a:rPr lang="en-US" altLang="tr-TR" sz="1600" dirty="0" smtClean="0"/>
              <a:t> is completed, control returns to </a:t>
            </a:r>
            <a:r>
              <a:rPr lang="en-US" altLang="tr-TR" sz="1600" i="1" dirty="0" err="1" smtClean="0"/>
              <a:t>dothat</a:t>
            </a:r>
            <a:r>
              <a:rPr lang="en-US" altLang="tr-TR" sz="1600" dirty="0" smtClean="0"/>
              <a:t> </a:t>
            </a:r>
            <a:r>
              <a:rPr lang="tr-TR" altLang="tr-TR" sz="1600" dirty="0" smtClean="0"/>
              <a:t>but </a:t>
            </a:r>
            <a:r>
              <a:rPr lang="en-US" altLang="tr-TR" sz="1600" dirty="0" smtClean="0"/>
              <a:t>before</a:t>
            </a:r>
            <a:r>
              <a:rPr lang="tr-TR" altLang="tr-TR" sz="1600" dirty="0" err="1" smtClean="0"/>
              <a:t>hand</a:t>
            </a:r>
            <a:r>
              <a:rPr lang="tr-TR" altLang="tr-TR" sz="1600" dirty="0" smtClean="0"/>
              <a:t>,</a:t>
            </a:r>
            <a:r>
              <a:rPr lang="en-US" altLang="tr-TR" sz="1600" dirty="0" smtClean="0"/>
              <a:t> </a:t>
            </a:r>
            <a:r>
              <a:rPr lang="en-US" altLang="tr-TR" sz="1600" i="1" dirty="0" err="1" smtClean="0"/>
              <a:t>dothat</a:t>
            </a:r>
            <a:r>
              <a:rPr lang="en-US" altLang="tr-TR" sz="1600" dirty="0" smtClean="0"/>
              <a:t> pops the context off the stack. </a:t>
            </a:r>
            <a:r>
              <a:rPr lang="en-US" altLang="tr-TR" sz="1800" dirty="0" smtClean="0">
                <a:solidFill>
                  <a:srgbClr val="CC0000"/>
                </a:solidFill>
              </a:rPr>
              <a:t/>
            </a:r>
            <a:br>
              <a:rPr lang="en-US" altLang="tr-TR" sz="1800" dirty="0" smtClean="0">
                <a:solidFill>
                  <a:srgbClr val="CC0000"/>
                </a:solidFill>
              </a:rPr>
            </a:br>
            <a:r>
              <a:rPr lang="en-US" altLang="tr-TR" sz="1800" dirty="0" smtClean="0"/>
              <a:t> 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800" b="1" dirty="0" smtClean="0"/>
              <a:t>Heap</a:t>
            </a:r>
          </a:p>
          <a:p>
            <a:pPr>
              <a:lnSpc>
                <a:spcPct val="80000"/>
              </a:lnSpc>
            </a:pPr>
            <a:r>
              <a:rPr lang="en-US" altLang="tr-TR" sz="1800" dirty="0" smtClean="0"/>
              <a:t>The heap is basically rest of memory </a:t>
            </a:r>
            <a:r>
              <a:rPr lang="tr-TR" altLang="tr-TR" sz="1800" dirty="0" err="1" smtClean="0"/>
              <a:t>that</a:t>
            </a:r>
            <a:r>
              <a:rPr lang="tr-TR" altLang="tr-TR" sz="1800" dirty="0" smtClean="0"/>
              <a:t> </a:t>
            </a:r>
            <a:r>
              <a:rPr lang="en-US" altLang="tr-TR" sz="1800" dirty="0" smtClean="0"/>
              <a:t>the program has.  In that sense, it is often the largest segment in a program.    </a:t>
            </a:r>
            <a:endParaRPr lang="tr-TR" altLang="tr-TR" sz="1800" dirty="0" smtClean="0"/>
          </a:p>
          <a:p>
            <a:pPr>
              <a:lnSpc>
                <a:spcPct val="80000"/>
              </a:lnSpc>
            </a:pPr>
            <a:r>
              <a:rPr lang="en-US" altLang="tr-TR" sz="1800" dirty="0" smtClean="0">
                <a:cs typeface="Times New Roman" panose="02020603050405020304" pitchFamily="18" charset="0"/>
              </a:rPr>
              <a:t>Dynamic variables are allocated on the heap and memory allocated for them stays until explicitly freed</a:t>
            </a:r>
            <a:r>
              <a:rPr lang="tr-TR" altLang="tr-TR" sz="1800" dirty="0" smtClean="0">
                <a:cs typeface="Times New Roman" panose="02020603050405020304" pitchFamily="18" charset="0"/>
              </a:rPr>
              <a:t> (</a:t>
            </a:r>
            <a:r>
              <a:rPr lang="tr-TR" altLang="tr-TR" sz="1800" dirty="0" err="1" smtClean="0">
                <a:cs typeface="Times New Roman" panose="02020603050405020304" pitchFamily="18" charset="0"/>
              </a:rPr>
              <a:t>deleted</a:t>
            </a:r>
            <a:r>
              <a:rPr lang="tr-TR" altLang="tr-TR" sz="1800" dirty="0" smtClean="0">
                <a:cs typeface="Times New Roman" panose="02020603050405020304" pitchFamily="18" charset="0"/>
              </a:rPr>
              <a:t>)</a:t>
            </a:r>
            <a:r>
              <a:rPr lang="en-US" altLang="tr-TR" sz="1800" dirty="0" smtClean="0">
                <a:cs typeface="Times New Roman" panose="02020603050405020304" pitchFamily="18" charset="0"/>
              </a:rPr>
              <a:t>.</a:t>
            </a:r>
            <a:endParaRPr lang="tr-TR" altLang="tr-TR" sz="1800" dirty="0" smtClean="0"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tr-TR" altLang="tr-TR" sz="1800" dirty="0" smtClean="0"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tr-TR" sz="1800" dirty="0" smtClean="0">
                <a:cs typeface="Times New Roman" panose="02020603050405020304" pitchFamily="18" charset="0"/>
              </a:rPr>
              <a:t>The memory area used for static and global variable allocation is basically part of heap, but mostly the area used for dynamically allocated variables is separated from static/global</a:t>
            </a:r>
          </a:p>
          <a:p>
            <a:pPr lvl="1">
              <a:lnSpc>
                <a:spcPct val="80000"/>
              </a:lnSpc>
            </a:pPr>
            <a:r>
              <a:rPr lang="en-US" altLang="tr-TR" sz="1600" dirty="0" smtClean="0">
                <a:cs typeface="Times New Roman" panose="02020603050405020304" pitchFamily="18" charset="0"/>
              </a:rPr>
              <a:t>This is compiler dependent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tr-TR" sz="1800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altLang="tr-TR" sz="1800" dirty="0" smtClean="0"/>
          </a:p>
        </p:txBody>
      </p:sp>
      <p:sp>
        <p:nvSpPr>
          <p:cNvPr id="5" name="Rectangle 4"/>
          <p:cNvSpPr/>
          <p:nvPr/>
        </p:nvSpPr>
        <p:spPr bwMode="auto">
          <a:xfrm>
            <a:off x="4284663" y="5815013"/>
            <a:ext cx="3816350" cy="400050"/>
          </a:xfrm>
          <a:prstGeom prst="rect">
            <a:avLst/>
          </a:prstGeom>
          <a:noFill/>
          <a:ln w="9525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tr-TR" sz="2000" dirty="0" err="1">
                <a:latin typeface="+mj-lt"/>
              </a:rPr>
              <a:t>See</a:t>
            </a:r>
            <a:r>
              <a:rPr lang="tr-TR" sz="2000" dirty="0">
                <a:latin typeface="+mj-lt"/>
              </a:rPr>
              <a:t> </a:t>
            </a:r>
            <a:r>
              <a:rPr lang="tr-TR" sz="2000" dirty="0" err="1">
                <a:latin typeface="+mj-lt"/>
              </a:rPr>
              <a:t>stackheapaddress</a:t>
            </a:r>
            <a:r>
              <a:rPr lang="tr-TR" sz="2000" dirty="0">
                <a:latin typeface="+mj-lt"/>
              </a:rPr>
              <a:t>.</a:t>
            </a:r>
            <a:r>
              <a:rPr lang="tr-TR" sz="2000" dirty="0" err="1">
                <a:latin typeface="+mj-lt"/>
              </a:rPr>
              <a:t>cpp</a:t>
            </a:r>
            <a:endParaRPr lang="tr-TR" sz="20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32E9CB-7F9B-44BA-A48C-CB27A2B59AC7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Heap/Stack </a:t>
            </a:r>
            <a:endParaRPr lang="en-US" dirty="0" smtClean="0"/>
          </a:p>
        </p:txBody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439863"/>
            <a:ext cx="8318500" cy="47148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smtClean="0">
                <a:solidFill>
                  <a:srgbClr val="CC0000"/>
                </a:solidFill>
              </a:rPr>
              <a:t>Where are pointer variables stored, stack or heap?</a:t>
            </a:r>
          </a:p>
          <a:p>
            <a:pPr>
              <a:buFontTx/>
              <a:buNone/>
            </a:pPr>
            <a:endParaRPr lang="en-US" altLang="tr-TR" smtClean="0">
              <a:solidFill>
                <a:srgbClr val="CC0000"/>
              </a:solidFill>
            </a:endParaRPr>
          </a:p>
          <a:p>
            <a:pPr>
              <a:buFontTx/>
              <a:buNone/>
            </a:pPr>
            <a:r>
              <a:rPr lang="en-US" altLang="tr-TR" smtClean="0"/>
              <a:t>Pointer variables (themselves), just like the normal built-in variables and objects (int, double, string, vector, etc.), also use up memory, but not from the heap</a:t>
            </a:r>
          </a:p>
          <a:p>
            <a:pPr lvl="1"/>
            <a:r>
              <a:rPr lang="en-US" altLang="tr-TR" smtClean="0"/>
              <a:t>they use the </a:t>
            </a:r>
            <a:r>
              <a:rPr lang="en-US" altLang="tr-TR" smtClean="0">
                <a:solidFill>
                  <a:srgbClr val="CC0000"/>
                </a:solidFill>
              </a:rPr>
              <a:t>run-time stack</a:t>
            </a:r>
          </a:p>
          <a:p>
            <a:pPr lvl="1"/>
            <a:endParaRPr lang="en-US" altLang="tr-TR" sz="1800" smtClean="0"/>
          </a:p>
          <a:p>
            <a:pPr lvl="1"/>
            <a:endParaRPr lang="en-US" altLang="tr-TR" sz="18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171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88D7B3A-61C3-404B-B2BA-31C401A803D0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540296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Pointers:</a:t>
            </a:r>
            <a:r>
              <a:rPr lang="en-US" dirty="0" smtClean="0">
                <a:solidFill>
                  <a:srgbClr val="CC0000"/>
                </a:solidFill>
              </a:rPr>
              <a:t> Delete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4" y="692696"/>
            <a:ext cx="8750174" cy="576064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r>
              <a:rPr lang="en-US" altLang="tr-TR" dirty="0" smtClean="0"/>
              <a:t>The statement to de-allocate a memory location and return back to the heap is:</a:t>
            </a:r>
          </a:p>
          <a:p>
            <a:pPr lvl="1">
              <a:buFontTx/>
              <a:buNone/>
              <a:defRPr/>
            </a:pPr>
            <a:r>
              <a:rPr lang="en-US" altLang="tr-TR" sz="18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delete</a:t>
            </a:r>
            <a:r>
              <a:rPr lang="en-US" altLang="tr-TR" sz="1800" b="1" dirty="0" smtClean="0">
                <a:solidFill>
                  <a:srgbClr val="CC0000"/>
                </a:solidFill>
              </a:rPr>
              <a:t> </a:t>
            </a:r>
            <a:r>
              <a:rPr lang="en-US" altLang="tr-TR" sz="1800" b="1" i="1" dirty="0" err="1" smtClean="0">
                <a:solidFill>
                  <a:srgbClr val="CC0000"/>
                </a:solidFill>
              </a:rPr>
              <a:t>PointerVariable</a:t>
            </a:r>
            <a:r>
              <a:rPr lang="en-US" altLang="tr-TR" sz="1800" b="1" dirty="0" smtClean="0">
                <a:solidFill>
                  <a:srgbClr val="CC0000"/>
                </a:solidFill>
                <a:latin typeface="Courier New" panose="02070309020205020404" pitchFamily="49" charset="0"/>
              </a:rPr>
              <a:t>;</a:t>
            </a:r>
          </a:p>
          <a:p>
            <a:pPr lvl="1">
              <a:defRPr/>
            </a:pPr>
            <a:r>
              <a:rPr lang="en-US" altLang="tr-TR" dirty="0" smtClean="0"/>
              <a:t>the memory location pointed by </a:t>
            </a:r>
            <a:r>
              <a:rPr lang="en-US" altLang="tr-TR" i="1" dirty="0" err="1" smtClean="0"/>
              <a:t>PointerVariable</a:t>
            </a:r>
            <a:r>
              <a:rPr lang="en-US" altLang="tr-TR" dirty="0" smtClean="0"/>
              <a:t> is now returned back to the heap; </a:t>
            </a:r>
          </a:p>
          <a:p>
            <a:pPr lvl="1">
              <a:defRPr/>
            </a:pPr>
            <a:r>
              <a:rPr lang="en-US" altLang="tr-TR" dirty="0" smtClean="0"/>
              <a:t>this area now may be reallocated with a </a:t>
            </a:r>
            <a:r>
              <a:rPr lang="en-US" altLang="tr-T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tr-TR" dirty="0" smtClean="0"/>
              <a:t> statement </a:t>
            </a:r>
          </a:p>
          <a:p>
            <a:pPr lvl="1">
              <a:defRPr/>
            </a:pPr>
            <a:endParaRPr lang="en-US" altLang="tr-TR" dirty="0" smtClean="0"/>
          </a:p>
          <a:p>
            <a:pPr lvl="1">
              <a:defRPr/>
            </a:pPr>
            <a:r>
              <a:rPr lang="en-US" altLang="tr-TR" dirty="0" smtClean="0">
                <a:solidFill>
                  <a:srgbClr val="CC0000"/>
                </a:solidFill>
              </a:rPr>
              <a:t>Careful</a:t>
            </a:r>
            <a:r>
              <a:rPr lang="en-US" altLang="tr-TR" dirty="0" smtClean="0">
                <a:solidFill>
                  <a:srgbClr val="C00000"/>
                </a:solidFill>
              </a:rPr>
              <a:t>:</a:t>
            </a:r>
            <a:r>
              <a:rPr lang="en-US" altLang="tr-TR" i="1" dirty="0" smtClean="0"/>
              <a:t> </a:t>
            </a:r>
            <a:r>
              <a:rPr lang="en-US" altLang="tr-TR" i="1" dirty="0" err="1" smtClean="0"/>
              <a:t>PointerVariable</a:t>
            </a:r>
            <a:r>
              <a:rPr lang="en-US" altLang="tr-TR" dirty="0" smtClean="0"/>
              <a:t> still points to the same location, but that location is no longer </a:t>
            </a:r>
            <a:r>
              <a:rPr lang="tr-TR" altLang="tr-TR" dirty="0" smtClean="0"/>
              <a:t>in </a:t>
            </a:r>
            <a:r>
              <a:rPr lang="tr-TR" altLang="tr-TR" dirty="0" err="1" smtClean="0"/>
              <a:t>use</a:t>
            </a:r>
            <a:r>
              <a:rPr lang="en-US" altLang="tr-TR" dirty="0" smtClean="0"/>
              <a:t>. </a:t>
            </a:r>
          </a:p>
          <a:p>
            <a:pPr lvl="2">
              <a:defRPr/>
            </a:pPr>
            <a:r>
              <a:rPr lang="en-US" altLang="tr-TR" dirty="0" smtClean="0"/>
              <a:t>This may cause confusion, each compiler may behave differently when you try to reach the content a deleted memory location (even debug and release versions may act differently).</a:t>
            </a:r>
          </a:p>
          <a:p>
            <a:pPr lvl="2">
              <a:defRPr/>
            </a:pPr>
            <a:r>
              <a:rPr lang="en-US" altLang="tr-TR" b="1" dirty="0" smtClean="0">
                <a:solidFill>
                  <a:srgbClr val="FF0000"/>
                </a:solidFill>
              </a:rPr>
              <a:t>If you access a deleted memory location, your program either </a:t>
            </a:r>
            <a:r>
              <a:rPr lang="en-US" altLang="tr-TR" b="1" u="sng" dirty="0" smtClean="0">
                <a:solidFill>
                  <a:srgbClr val="FF0000"/>
                </a:solidFill>
              </a:rPr>
              <a:t>crashes</a:t>
            </a:r>
            <a:r>
              <a:rPr lang="en-US" altLang="tr-TR" b="1" dirty="0" smtClean="0">
                <a:solidFill>
                  <a:srgbClr val="FF0000"/>
                </a:solidFill>
              </a:rPr>
              <a:t> or </a:t>
            </a:r>
            <a:r>
              <a:rPr lang="en-US" altLang="tr-TR" b="1" u="sng" dirty="0" smtClean="0">
                <a:solidFill>
                  <a:srgbClr val="FF0000"/>
                </a:solidFill>
              </a:rPr>
              <a:t>behaves unexpectedly </a:t>
            </a:r>
            <a:r>
              <a:rPr lang="en-US" altLang="tr-TR" b="1" dirty="0" smtClean="0">
                <a:solidFill>
                  <a:srgbClr val="FF0000"/>
                </a:solidFill>
              </a:rPr>
              <a:t>in VS and g++; however Clang (</a:t>
            </a:r>
            <a:r>
              <a:rPr lang="en-US" altLang="tr-TR" b="1" dirty="0" err="1" smtClean="0">
                <a:solidFill>
                  <a:srgbClr val="FF0000"/>
                </a:solidFill>
              </a:rPr>
              <a:t>c++</a:t>
            </a:r>
            <a:r>
              <a:rPr lang="en-US" altLang="tr-TR" b="1" dirty="0" smtClean="0">
                <a:solidFill>
                  <a:srgbClr val="FF0000"/>
                </a:solidFill>
              </a:rPr>
              <a:t> compiler of </a:t>
            </a:r>
            <a:r>
              <a:rPr lang="en-US" altLang="tr-TR" b="1" dirty="0" err="1" smtClean="0">
                <a:solidFill>
                  <a:srgbClr val="FF0000"/>
                </a:solidFill>
              </a:rPr>
              <a:t>MacOS</a:t>
            </a:r>
            <a:r>
              <a:rPr lang="en-US" altLang="tr-TR" b="1" dirty="0" smtClean="0">
                <a:solidFill>
                  <a:srgbClr val="FF0000"/>
                </a:solidFill>
              </a:rPr>
              <a:t>) continues to reach the deleted area!!!!! (this is bad and this is why </a:t>
            </a:r>
            <a:r>
              <a:rPr lang="en-US" altLang="tr-TR" b="1" dirty="0" err="1" smtClean="0">
                <a:solidFill>
                  <a:srgbClr val="FF0000"/>
                </a:solidFill>
              </a:rPr>
              <a:t>MacOS</a:t>
            </a:r>
            <a:r>
              <a:rPr lang="en-US" altLang="tr-TR" b="1" dirty="0" smtClean="0">
                <a:solidFill>
                  <a:srgbClr val="FF0000"/>
                </a:solidFill>
              </a:rPr>
              <a:t> is forgiving)</a:t>
            </a:r>
            <a:endParaRPr lang="en-US" altLang="tr-TR" b="1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tr-TR" dirty="0" smtClean="0"/>
              <a:t>So it is a good idea to reset the pointer to NULL (zero) after deleting. </a:t>
            </a:r>
          </a:p>
          <a:p>
            <a:pPr lvl="3">
              <a:buFontTx/>
              <a:buNone/>
              <a:defRPr/>
            </a:pPr>
            <a:r>
              <a:rPr lang="en-US" altLang="tr-TR" sz="1800" dirty="0" smtClean="0"/>
              <a:t>e.g.</a:t>
            </a:r>
            <a:r>
              <a:rPr lang="tr-TR" altLang="tr-TR" sz="1800" dirty="0" smtClean="0"/>
              <a:t> </a:t>
            </a:r>
            <a:r>
              <a:rPr lang="en-US" altLang="tr-TR" sz="1800" dirty="0" smtClean="0"/>
              <a:t>   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en-US" altLang="tr-TR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p;</a:t>
            </a:r>
            <a:r>
              <a:rPr lang="tr-TR" altLang="tr-TR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tr-TR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3">
              <a:buFontTx/>
              <a:buNone/>
              <a:defRPr/>
            </a:pP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p = NULL;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AD90F7-02DC-4937-8A92-39F7D1138FE5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Freeing allocated memory with </a:t>
            </a:r>
            <a:r>
              <a:rPr lang="en-US" smtClean="0">
                <a:solidFill>
                  <a:srgbClr val="FF0000"/>
                </a:solidFill>
              </a:rPr>
              <a:t>delete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143000"/>
            <a:ext cx="8821738" cy="52562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dirty="0" smtClean="0"/>
              <a:t>Date *p1 = new Date();</a:t>
            </a:r>
            <a:r>
              <a:rPr lang="en-US" altLang="tr-TR" dirty="0" smtClean="0">
                <a:latin typeface="Arial Unicode MS" pitchFamily="34" charset="-128"/>
              </a:rPr>
              <a:t>	</a:t>
            </a:r>
            <a:r>
              <a:rPr lang="en-US" altLang="tr-TR" sz="1800" dirty="0" smtClean="0">
                <a:solidFill>
                  <a:srgbClr val="0000CC"/>
                </a:solidFill>
              </a:rPr>
              <a:t>p1</a:t>
            </a:r>
            <a:endParaRPr lang="en-US" altLang="tr-TR" dirty="0" smtClean="0"/>
          </a:p>
          <a:p>
            <a:pPr>
              <a:buFontTx/>
              <a:buNone/>
            </a:pPr>
            <a:r>
              <a:rPr lang="en-US" altLang="tr-TR" dirty="0" smtClean="0"/>
              <a:t>Date *p2 = p1;		</a:t>
            </a:r>
            <a:r>
              <a:rPr lang="en-US" altLang="tr-TR" sz="1800" dirty="0" smtClean="0">
                <a:solidFill>
                  <a:srgbClr val="0000CC"/>
                </a:solidFill>
              </a:rPr>
              <a:t>p2</a:t>
            </a:r>
          </a:p>
          <a:p>
            <a:pPr>
              <a:buFontTx/>
              <a:buNone/>
            </a:pPr>
            <a:endParaRPr lang="en-US" altLang="tr-TR" sz="1800" dirty="0" smtClean="0">
              <a:solidFill>
                <a:srgbClr val="0000CC"/>
              </a:solidFill>
              <a:latin typeface="Arial Unicode MS" pitchFamily="34" charset="-128"/>
            </a:endParaRPr>
          </a:p>
          <a:p>
            <a:pPr>
              <a:buFontTx/>
              <a:buNone/>
            </a:pPr>
            <a:r>
              <a:rPr lang="en-US" altLang="tr-TR" sz="3200" dirty="0" smtClean="0"/>
              <a:t>...</a:t>
            </a:r>
          </a:p>
          <a:p>
            <a:pPr>
              <a:buFontTx/>
              <a:buNone/>
            </a:pPr>
            <a:endParaRPr lang="en-US" altLang="tr-TR" dirty="0" smtClean="0">
              <a:solidFill>
                <a:srgbClr val="C81002"/>
              </a:solidFill>
              <a:latin typeface="Arial Unicode MS" pitchFamily="34" charset="-128"/>
            </a:endParaRPr>
          </a:p>
          <a:p>
            <a:pPr>
              <a:buFontTx/>
              <a:buNone/>
            </a:pPr>
            <a:r>
              <a:rPr lang="tr-TR" altLang="tr-TR" b="1" dirty="0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tr-TR" b="1" dirty="0" err="1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elete</a:t>
            </a:r>
            <a:r>
              <a:rPr lang="en-US" altLang="tr-TR" b="1" dirty="0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p1;</a:t>
            </a:r>
            <a:r>
              <a:rPr lang="tr-TR" altLang="tr-TR" b="1" dirty="0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tr-TR" dirty="0" smtClean="0"/>
              <a:t>//We need to delete memory allocated with new</a:t>
            </a:r>
          </a:p>
          <a:p>
            <a:pPr>
              <a:buFontTx/>
              <a:buNone/>
            </a:pPr>
            <a:r>
              <a:rPr lang="tr-TR" altLang="tr-TR" b="1" dirty="0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tr-TR" b="1" dirty="0" err="1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elete</a:t>
            </a:r>
            <a:r>
              <a:rPr lang="en-US" altLang="tr-TR" b="1" dirty="0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p2;</a:t>
            </a:r>
            <a:r>
              <a:rPr lang="tr-TR" altLang="tr-TR" b="1" dirty="0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FontTx/>
              <a:buNone/>
            </a:pPr>
            <a:r>
              <a:rPr lang="tr-TR" altLang="tr-TR" b="1" dirty="0" smtClean="0">
                <a:solidFill>
                  <a:srgbClr val="C8100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tr-TR" dirty="0" smtClean="0"/>
              <a:t>//Deleting (freeing) previously freed memory </a:t>
            </a:r>
            <a:r>
              <a:rPr lang="tr-TR" altLang="tr-TR" dirty="0" err="1" smtClean="0"/>
              <a:t>possibly</a:t>
            </a:r>
            <a:r>
              <a:rPr lang="tr-TR" altLang="tr-TR" dirty="0" smtClean="0"/>
              <a:t> </a:t>
            </a:r>
          </a:p>
          <a:p>
            <a:pPr>
              <a:buFontTx/>
              <a:buNone/>
            </a:pPr>
            <a:r>
              <a:rPr lang="tr-TR" altLang="tr-TR" dirty="0" smtClean="0"/>
              <a:t>		//</a:t>
            </a:r>
            <a:r>
              <a:rPr lang="en-US" altLang="tr-TR" dirty="0" smtClean="0"/>
              <a:t>causes a crash</a:t>
            </a:r>
            <a:r>
              <a:rPr lang="tr-TR" altLang="tr-TR" dirty="0" smtClean="0"/>
              <a:t> </a:t>
            </a:r>
            <a:r>
              <a:rPr lang="tr-TR" altLang="tr-TR" dirty="0" err="1" smtClean="0"/>
              <a:t>or</a:t>
            </a:r>
            <a:r>
              <a:rPr lang="tr-TR" altLang="tr-TR" dirty="0" smtClean="0"/>
              <a:t> a </a:t>
            </a:r>
            <a:r>
              <a:rPr lang="tr-TR" altLang="tr-TR" dirty="0" err="1" smtClean="0"/>
              <a:t>corrupt</a:t>
            </a:r>
            <a:r>
              <a:rPr lang="tr-TR" altLang="tr-TR" dirty="0" smtClean="0"/>
              <a:t> program </a:t>
            </a:r>
            <a:r>
              <a:rPr lang="tr-TR" altLang="tr-TR" dirty="0" err="1" smtClean="0"/>
              <a:t>depending</a:t>
            </a:r>
            <a:r>
              <a:rPr lang="tr-TR" altLang="tr-TR" dirty="0" smtClean="0"/>
              <a:t> on </a:t>
            </a:r>
            <a:r>
              <a:rPr lang="tr-TR" altLang="tr-TR" dirty="0" err="1" smtClean="0"/>
              <a:t>the</a:t>
            </a:r>
            <a:endParaRPr lang="tr-TR" altLang="tr-TR" dirty="0" smtClean="0"/>
          </a:p>
          <a:p>
            <a:pPr>
              <a:buFontTx/>
              <a:buNone/>
            </a:pPr>
            <a:r>
              <a:rPr lang="tr-TR" altLang="tr-TR" dirty="0" smtClean="0"/>
              <a:t>		// </a:t>
            </a:r>
            <a:r>
              <a:rPr lang="tr-TR" altLang="tr-TR" dirty="0" err="1" smtClean="0"/>
              <a:t>compiler</a:t>
            </a:r>
            <a:r>
              <a:rPr lang="tr-TR" altLang="tr-TR" dirty="0" smtClean="0"/>
              <a:t> </a:t>
            </a:r>
            <a:r>
              <a:rPr lang="tr-TR" altLang="tr-TR" dirty="0" err="1" smtClean="0"/>
              <a:t>and</a:t>
            </a:r>
            <a:r>
              <a:rPr lang="tr-TR" altLang="tr-TR" dirty="0" smtClean="0"/>
              <a:t> platform</a:t>
            </a:r>
            <a:endParaRPr lang="en-US" altLang="tr-TR" dirty="0" smtClean="0"/>
          </a:p>
        </p:txBody>
      </p:sp>
      <p:sp>
        <p:nvSpPr>
          <p:cNvPr id="98309" name="Line 4"/>
          <p:cNvSpPr>
            <a:spLocks noChangeShapeType="1"/>
          </p:cNvSpPr>
          <p:nvPr/>
        </p:nvSpPr>
        <p:spPr bwMode="white">
          <a:xfrm flipV="1">
            <a:off x="4286250" y="1557338"/>
            <a:ext cx="1400175" cy="46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8310" name="Line 5"/>
          <p:cNvSpPr>
            <a:spLocks noChangeShapeType="1"/>
          </p:cNvSpPr>
          <p:nvPr/>
        </p:nvSpPr>
        <p:spPr bwMode="white">
          <a:xfrm flipV="1">
            <a:off x="4357688" y="1628775"/>
            <a:ext cx="1293812" cy="300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8311" name="Text Box 6"/>
          <p:cNvSpPr txBox="1">
            <a:spLocks noChangeArrowheads="1"/>
          </p:cNvSpPr>
          <p:nvPr/>
        </p:nvSpPr>
        <p:spPr bwMode="white">
          <a:xfrm>
            <a:off x="5651500" y="1412875"/>
            <a:ext cx="15017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tr-TR" dirty="0" smtClean="0">
                <a:latin typeface="Times New Roman" panose="02020603050405020304" pitchFamily="18" charset="0"/>
              </a:rPr>
              <a:t>02</a:t>
            </a:r>
            <a:r>
              <a:rPr lang="tr-TR" altLang="tr-TR" dirty="0" smtClean="0">
                <a:latin typeface="Times New Roman" panose="02020603050405020304" pitchFamily="18" charset="0"/>
              </a:rPr>
              <a:t>/0</a:t>
            </a:r>
            <a:r>
              <a:rPr lang="en-US" altLang="tr-TR" dirty="0" smtClean="0">
                <a:latin typeface="Times New Roman" panose="02020603050405020304" pitchFamily="18" charset="0"/>
              </a:rPr>
              <a:t>3</a:t>
            </a:r>
            <a:r>
              <a:rPr lang="tr-TR" altLang="tr-TR" dirty="0" smtClean="0">
                <a:latin typeface="Times New Roman" panose="02020603050405020304" pitchFamily="18" charset="0"/>
              </a:rPr>
              <a:t>/20</a:t>
            </a:r>
            <a:r>
              <a:rPr lang="en-US" altLang="tr-TR" dirty="0" smtClean="0">
                <a:latin typeface="Times New Roman" panose="02020603050405020304" pitchFamily="18" charset="0"/>
              </a:rPr>
              <a:t>26</a:t>
            </a:r>
            <a:endParaRPr lang="en-US" altLang="tr-TR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0FA106B-9AD2-4E39-9470-638F5ED49941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Pointers to variables on the </a:t>
            </a:r>
            <a:r>
              <a:rPr lang="en-US" smtClean="0">
                <a:solidFill>
                  <a:srgbClr val="CC0000"/>
                </a:solidFill>
              </a:rPr>
              <a:t>stack</a:t>
            </a:r>
            <a:endParaRPr lang="en-US" dirty="0" smtClean="0">
              <a:solidFill>
                <a:srgbClr val="CC0000"/>
              </a:solidFill>
            </a:endParaRPr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850" y="1439863"/>
            <a:ext cx="7840663" cy="47402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dirty="0" smtClean="0"/>
              <a:t>Can we have a  pointer to point a variable that is not dynamically allocated?</a:t>
            </a:r>
          </a:p>
          <a:p>
            <a:pPr lvl="1">
              <a:buFontTx/>
              <a:buNone/>
            </a:pPr>
            <a:r>
              <a:rPr lang="en-US" altLang="tr-TR" sz="1800" b="1" dirty="0" smtClean="0"/>
              <a:t>- using the </a:t>
            </a:r>
            <a:r>
              <a:rPr lang="en-US" altLang="tr-TR" sz="1800" b="1" dirty="0" smtClean="0">
                <a:latin typeface="Courier New" panose="02070309020205020404" pitchFamily="49" charset="0"/>
              </a:rPr>
              <a:t>&amp; </a:t>
            </a:r>
            <a:r>
              <a:rPr lang="en-US" altLang="tr-TR" sz="1800" b="1" dirty="0" smtClean="0"/>
              <a:t>(address of) operator</a:t>
            </a:r>
          </a:p>
          <a:p>
            <a:pPr lvl="1">
              <a:buFontTx/>
              <a:buNone/>
            </a:pPr>
            <a:r>
              <a:rPr lang="en-US" altLang="tr-TR" sz="1800" b="1" dirty="0" smtClean="0"/>
              <a:t>- such variables are not allocated from heap!</a:t>
            </a:r>
          </a:p>
          <a:p>
            <a:pPr lvl="2"/>
            <a:r>
              <a:rPr lang="en-US" altLang="tr-TR" b="1" dirty="0" smtClean="0"/>
              <a:t>that is why their addresses are not close to dynamically allocated variables</a:t>
            </a:r>
            <a:endParaRPr lang="en-US" altLang="tr-TR" b="1" dirty="0" smtClean="0">
              <a:solidFill>
                <a:srgbClr val="EBE7FF"/>
              </a:solidFill>
            </a:endParaRPr>
          </a:p>
          <a:p>
            <a:pPr lvl="2"/>
            <a:endParaRPr lang="en-US" altLang="tr-TR" b="1" dirty="0" smtClean="0">
              <a:solidFill>
                <a:srgbClr val="EBE7FF"/>
              </a:solidFill>
            </a:endParaRPr>
          </a:p>
          <a:p>
            <a:pPr lvl="1">
              <a:buFontTx/>
              <a:buNone/>
            </a:pP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num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*</a:t>
            </a: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num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=5;</a:t>
            </a:r>
          </a:p>
          <a:p>
            <a:pPr lvl="1">
              <a:buFontTx/>
              <a:buNone/>
            </a:pP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= &amp;</a:t>
            </a: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num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    //</a:t>
            </a: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contains the address of </a:t>
            </a: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num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cout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&lt;&lt; *</a:t>
            </a: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&lt;&lt; </a:t>
            </a:r>
            <a:r>
              <a:rPr lang="en-US" altLang="tr-TR" sz="18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endl</a:t>
            </a:r>
            <a:r>
              <a:rPr lang="en-US" altLang="tr-TR" sz="1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 </a:t>
            </a:r>
          </a:p>
          <a:p>
            <a:pPr lvl="1">
              <a:buFontTx/>
              <a:buNone/>
            </a:pPr>
            <a:endParaRPr lang="en-US" altLang="tr-TR" sz="1800" b="1" dirty="0" smtClean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tr-TR" sz="1800" b="1" dirty="0" smtClean="0">
                <a:solidFill>
                  <a:schemeClr val="tx1"/>
                </a:solidFill>
              </a:rPr>
              <a:t>What is output?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76DE01-0B7E-4A09-A8C4-95DCF8C5E077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Question</a:t>
            </a:r>
            <a:endParaRPr lang="en-US" dirty="0" smtClean="0"/>
          </a:p>
        </p:txBody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143000"/>
            <a:ext cx="8732838" cy="52562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smtClean="0">
                <a:solidFill>
                  <a:schemeClr val="tx2"/>
                </a:solidFill>
              </a:rPr>
              <a:t>int n;</a:t>
            </a:r>
          </a:p>
          <a:p>
            <a:pPr>
              <a:buFontTx/>
              <a:buNone/>
            </a:pPr>
            <a:r>
              <a:rPr lang="en-US" altLang="tr-TR" smtClean="0">
                <a:solidFill>
                  <a:schemeClr val="tx2"/>
                </a:solidFill>
              </a:rPr>
              <a:t>int * p_temp = &amp;n;</a:t>
            </a:r>
            <a:r>
              <a:rPr lang="en-US" altLang="tr-TR" smtClean="0"/>
              <a:t>		</a:t>
            </a:r>
          </a:p>
          <a:p>
            <a:pPr>
              <a:buFontTx/>
              <a:buNone/>
            </a:pPr>
            <a:endParaRPr lang="en-US" altLang="tr-TR" smtClean="0"/>
          </a:p>
          <a:p>
            <a:pPr>
              <a:buFontTx/>
              <a:buNone/>
            </a:pPr>
            <a:endParaRPr lang="en-US" altLang="tr-TR" smtClean="0"/>
          </a:p>
          <a:p>
            <a:pPr>
              <a:buFontTx/>
              <a:buNone/>
            </a:pPr>
            <a:r>
              <a:rPr lang="en-US" altLang="tr-TR" smtClean="0"/>
              <a:t>Do we need to delete p_temp?</a:t>
            </a:r>
          </a:p>
          <a:p>
            <a:pPr>
              <a:buFontTx/>
              <a:buNone/>
            </a:pPr>
            <a:r>
              <a:rPr lang="en-US" altLang="tr-TR" smtClean="0"/>
              <a:t>      </a:t>
            </a:r>
            <a:r>
              <a:rPr lang="en-US" altLang="tr-TR" smtClean="0">
                <a:solidFill>
                  <a:srgbClr val="0000CC"/>
                </a:solidFill>
              </a:rPr>
              <a:t>No. It points to a stack variable.</a:t>
            </a:r>
          </a:p>
          <a:p>
            <a:pPr>
              <a:buFontTx/>
              <a:buNone/>
            </a:pPr>
            <a:endParaRPr lang="en-US" altLang="tr-TR" smtClean="0">
              <a:solidFill>
                <a:srgbClr val="0000CC"/>
              </a:solidFill>
            </a:endParaRPr>
          </a:p>
          <a:p>
            <a:pPr>
              <a:buFontTx/>
              <a:buNone/>
            </a:pPr>
            <a:r>
              <a:rPr lang="en-US" altLang="tr-TR" smtClean="0"/>
              <a:t>What happens if we delete?</a:t>
            </a:r>
          </a:p>
          <a:p>
            <a:pPr>
              <a:buFontTx/>
              <a:buNone/>
            </a:pPr>
            <a:r>
              <a:rPr lang="en-US" altLang="tr-TR" smtClean="0"/>
              <a:t>      </a:t>
            </a:r>
            <a:r>
              <a:rPr lang="en-US" altLang="tr-TR" smtClean="0">
                <a:solidFill>
                  <a:srgbClr val="0000CC"/>
                </a:solidFill>
              </a:rPr>
              <a:t>Most likely a crash or corrupt program, depending on the compiler.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336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E32A33C-25E5-4AAA-A5F9-2721F85DD924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Memory allocation with the </a:t>
            </a:r>
            <a:r>
              <a:rPr lang="en-US" smtClean="0">
                <a:solidFill>
                  <a:srgbClr val="FF0000"/>
                </a:solidFill>
              </a:rPr>
              <a:t>new</a:t>
            </a:r>
            <a:r>
              <a:rPr lang="en-US" smtClean="0"/>
              <a:t> operator</a:t>
            </a:r>
            <a:br>
              <a:rPr lang="en-US" smtClean="0"/>
            </a:br>
            <a:r>
              <a:rPr lang="en-US" smtClean="0">
                <a:solidFill>
                  <a:srgbClr val="DC2A00"/>
                </a:solidFill>
              </a:rPr>
              <a:t>Points to be careful for</a:t>
            </a:r>
            <a:endParaRPr lang="en-US" dirty="0" smtClean="0">
              <a:solidFill>
                <a:srgbClr val="DC2A00"/>
              </a:solidFill>
            </a:endParaRP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 bwMode="white">
          <a:xfrm>
            <a:off x="196850" y="1341438"/>
            <a:ext cx="8686800" cy="4800600"/>
          </a:xfrm>
          <a:noFill/>
        </p:spPr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600" smtClean="0">
              <a:latin typeface="Arial Unicode MS" pitchFamily="34" charset="-128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200" smtClean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200" smtClean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800" b="1" smtClean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Dice * MakeDie(int n)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//return pointer to n sided object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	Dice nSided(n);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	return &amp;nSided;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800" b="1" smtClean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Dice * cube = MakeDie (4);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Dice * tetra = MakeDie (6);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cout &lt;&lt; cube-&gt;NumSides();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800" b="1" smtClean="0"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20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53" name="Text Box 4"/>
          <p:cNvSpPr txBox="1">
            <a:spLocks noChangeArrowheads="1"/>
          </p:cNvSpPr>
          <p:nvPr/>
        </p:nvSpPr>
        <p:spPr bwMode="white">
          <a:xfrm>
            <a:off x="179388" y="1341438"/>
            <a:ext cx="58324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>
                <a:solidFill>
                  <a:srgbClr val="FF0000"/>
                </a:solidFill>
              </a:rPr>
              <a:t>Warning message: address of local variable returned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tr-TR" altLang="tr-TR">
                <a:solidFill>
                  <a:srgbClr val="3333CC"/>
                </a:solidFill>
              </a:rPr>
              <a:t>What is the problem here?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solidFill>
                <a:srgbClr val="3333CC"/>
              </a:solidFill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tr-TR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CAF1A6B-55B2-44B8-90D7-A4D214296FE9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79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Memory allocation with the </a:t>
            </a:r>
            <a:r>
              <a:rPr lang="en-US" smtClean="0">
                <a:solidFill>
                  <a:srgbClr val="FF0000"/>
                </a:solidFill>
              </a:rPr>
              <a:t>new</a:t>
            </a:r>
            <a:r>
              <a:rPr lang="en-US" smtClean="0"/>
              <a:t> operator</a:t>
            </a:r>
            <a:endParaRPr lang="en-US" dirty="0" smtClean="0"/>
          </a:p>
        </p:txBody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 bwMode="white">
          <a:xfrm>
            <a:off x="196850" y="1341438"/>
            <a:ext cx="8686800" cy="4800600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mtClean="0">
                <a:solidFill>
                  <a:srgbClr val="3333CC"/>
                </a:solidFill>
              </a:rPr>
              <a:t>What is the problem?</a:t>
            </a:r>
            <a:endParaRPr lang="en-US" altLang="tr-TR" smtClean="0"/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mtClean="0">
              <a:latin typeface="Arial Unicode MS" pitchFamily="34" charset="-128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Dice * MakeDie(int n)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//return pointer to n sided object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	Dice nSided(n);	</a:t>
            </a:r>
            <a:r>
              <a:rPr lang="en-US" altLang="tr-TR" sz="1800" b="1" smtClean="0">
                <a:latin typeface="Times New Roman" panose="02020603050405020304" pitchFamily="18" charset="0"/>
              </a:rPr>
              <a:t>	</a:t>
            </a:r>
            <a:r>
              <a:rPr lang="tr-TR" altLang="tr-TR" sz="1800" b="1" smtClean="0">
                <a:latin typeface="Times New Roman" panose="02020603050405020304" pitchFamily="18" charset="0"/>
              </a:rPr>
              <a:t>	</a:t>
            </a:r>
            <a:r>
              <a:rPr lang="en-US" altLang="tr-TR" sz="1800" b="1" smtClean="0">
                <a:latin typeface="Times New Roman" panose="02020603050405020304" pitchFamily="18" charset="0"/>
              </a:rPr>
              <a:t>	nsided		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&amp;nSided;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800" b="1" smtClean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Dice * cube = MakeDie (4);	</a:t>
            </a:r>
            <a:r>
              <a:rPr lang="en-US" altLang="tr-TR" sz="1800" b="1" smtClean="0">
                <a:latin typeface="Times New Roman" panose="02020603050405020304" pitchFamily="18" charset="0"/>
              </a:rPr>
              <a:t>	   cube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Dice * tetra = MakeDie (6);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 &lt;&lt; cube-&gt;NumSides();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800" smtClean="0">
              <a:latin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80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501" name="Rectangle 4"/>
          <p:cNvSpPr>
            <a:spLocks noChangeArrowheads="1"/>
          </p:cNvSpPr>
          <p:nvPr/>
        </p:nvSpPr>
        <p:spPr bwMode="white">
          <a:xfrm>
            <a:off x="6443663" y="340836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06502" name="Line 5"/>
          <p:cNvSpPr>
            <a:spLocks noChangeShapeType="1"/>
          </p:cNvSpPr>
          <p:nvPr/>
        </p:nvSpPr>
        <p:spPr bwMode="white">
          <a:xfrm flipV="1">
            <a:off x="5486400" y="38100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6503" name="Text Box 6"/>
          <p:cNvSpPr txBox="1">
            <a:spLocks noChangeArrowheads="1"/>
          </p:cNvSpPr>
          <p:nvPr/>
        </p:nvSpPr>
        <p:spPr bwMode="white">
          <a:xfrm>
            <a:off x="4799013" y="1525588"/>
            <a:ext cx="3887787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Returning</a:t>
            </a:r>
            <a:r>
              <a:rPr lang="tr-TR" altLang="tr-T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a </a:t>
            </a:r>
            <a:r>
              <a:rPr lang="tr-TR" altLang="tr-TR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pointer</a:t>
            </a:r>
            <a:r>
              <a:rPr lang="tr-TR" altLang="tr-T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tr-TR" altLang="tr-TR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to</a:t>
            </a:r>
            <a:r>
              <a:rPr lang="tr-TR" altLang="tr-T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a </a:t>
            </a:r>
            <a:r>
              <a:rPr lang="tr-TR" altLang="tr-TR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variable</a:t>
            </a:r>
            <a:r>
              <a:rPr lang="tr-TR" altLang="tr-T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on </a:t>
            </a:r>
            <a:r>
              <a:rPr lang="tr-TR" altLang="tr-TR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the</a:t>
            </a:r>
            <a:r>
              <a:rPr lang="tr-TR" altLang="tr-T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tr-TR" altLang="tr-TR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stack</a:t>
            </a:r>
            <a:r>
              <a:rPr lang="tr-TR" altLang="tr-T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tr-TR" altLang="tr-TR" sz="1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tr-TR" sz="1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obtained via</a:t>
            </a:r>
            <a:r>
              <a:rPr lang="tr-TR" altLang="tr-TR" sz="1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tr-TR" altLang="tr-TR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the</a:t>
            </a:r>
            <a:r>
              <a:rPr lang="tr-TR" altLang="tr-T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&amp; </a:t>
            </a:r>
            <a:r>
              <a:rPr lang="tr-TR" altLang="tr-TR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operator</a:t>
            </a:r>
            <a:r>
              <a:rPr lang="tr-TR" altLang="tr-T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),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tr-TR" altLang="tr-T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is </a:t>
            </a:r>
            <a:r>
              <a:rPr lang="tr-TR" altLang="tr-TR" sz="1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wrong</a:t>
            </a:r>
            <a:r>
              <a:rPr lang="tr-TR" altLang="tr-T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!  </a:t>
            </a:r>
            <a:endParaRPr lang="en-US" altLang="tr-TR" sz="1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504" name="Line 7"/>
          <p:cNvSpPr>
            <a:spLocks noChangeShapeType="1"/>
          </p:cNvSpPr>
          <p:nvPr/>
        </p:nvSpPr>
        <p:spPr bwMode="white">
          <a:xfrm>
            <a:off x="6227763" y="3213100"/>
            <a:ext cx="838200" cy="7620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6505" name="Line 8"/>
          <p:cNvSpPr>
            <a:spLocks noChangeShapeType="1"/>
          </p:cNvSpPr>
          <p:nvPr/>
        </p:nvSpPr>
        <p:spPr bwMode="white">
          <a:xfrm flipH="1">
            <a:off x="6227763" y="3167063"/>
            <a:ext cx="762000" cy="8382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6506" name="Text Box 9"/>
          <p:cNvSpPr txBox="1">
            <a:spLocks noChangeArrowheads="1"/>
          </p:cNvSpPr>
          <p:nvPr/>
        </p:nvSpPr>
        <p:spPr bwMode="white">
          <a:xfrm>
            <a:off x="7308850" y="3068638"/>
            <a:ext cx="1655763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tr-TR" sz="1800">
                <a:solidFill>
                  <a:srgbClr val="CC0000"/>
                </a:solidFill>
                <a:latin typeface="Times New Roman" panose="02020603050405020304" pitchFamily="18" charset="0"/>
              </a:rPr>
              <a:t>no longer exists after the function returns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419374-6794-4F88-A401-7CB110F4CD0D}" type="slidenum">
              <a:rPr lang="en-US" altLang="tr-T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tr-TR" sz="1400" smtClean="0">
              <a:latin typeface="Times New Roman" panose="02020603050405020304" pitchFamily="18" charset="0"/>
            </a:endParaRPr>
          </a:p>
        </p:txBody>
      </p:sp>
      <p:sp>
        <p:nvSpPr>
          <p:cNvPr id="80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52400"/>
            <a:ext cx="8929687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Memory allocation with the </a:t>
            </a:r>
            <a:r>
              <a:rPr lang="en-US" smtClean="0">
                <a:solidFill>
                  <a:srgbClr val="FF0000"/>
                </a:solidFill>
              </a:rPr>
              <a:t>new</a:t>
            </a:r>
            <a:r>
              <a:rPr lang="en-US" smtClean="0"/>
              <a:t> operator</a:t>
            </a:r>
            <a:endParaRPr lang="en-US" dirty="0" smtClean="0"/>
          </a:p>
        </p:txBody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 bwMode="white">
          <a:xfrm>
            <a:off x="196850" y="1341438"/>
            <a:ext cx="8686800" cy="4800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mtClean="0">
              <a:solidFill>
                <a:srgbClr val="0000CC"/>
              </a:solidFill>
              <a:latin typeface="Arial Unicode MS" pitchFamily="34" charset="-128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b="1" smtClean="0">
                <a:solidFill>
                  <a:srgbClr val="0000CC"/>
                </a:solidFill>
                <a:latin typeface="Courier New" panose="02070309020205020404" pitchFamily="49" charset="0"/>
              </a:rPr>
              <a:t>Solution: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Dice * MakeDie(int n)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//return pointer to n sided object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	Dice * dice_ptr = new Dice (n);		    dice_ptr 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	return dice_ptr;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Dice * cube = MakeDie (4);			cube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Dice * tetra = MakeDie (6);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latin typeface="Courier New" panose="02070309020205020404" pitchFamily="49" charset="0"/>
              </a:rPr>
              <a:t>cout &lt;&lt; cube-&gt;NumSides();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tr-TR" sz="1800" b="1" smtClean="0">
                <a:solidFill>
                  <a:srgbClr val="0000CC"/>
                </a:solidFill>
                <a:latin typeface="Courier New" panose="02070309020205020404" pitchFamily="49" charset="0"/>
              </a:rPr>
              <a:t>//Is there any problem left?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800" b="1" smtClean="0">
              <a:solidFill>
                <a:srgbClr val="0000CC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en-US" altLang="tr-TR" sz="160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49" name="Rectangle 4"/>
          <p:cNvSpPr>
            <a:spLocks noChangeArrowheads="1"/>
          </p:cNvSpPr>
          <p:nvPr/>
        </p:nvSpPr>
        <p:spPr bwMode="white">
          <a:xfrm>
            <a:off x="6227763" y="3284538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rgbClr val="3333C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rgbClr val="3333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600">
                <a:solidFill>
                  <a:srgbClr val="3333CC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08550" name="Line 5"/>
          <p:cNvSpPr>
            <a:spLocks noChangeShapeType="1"/>
          </p:cNvSpPr>
          <p:nvPr/>
        </p:nvSpPr>
        <p:spPr bwMode="white">
          <a:xfrm flipV="1">
            <a:off x="6215063" y="3789363"/>
            <a:ext cx="220662" cy="925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551" name="Line 6"/>
          <p:cNvSpPr>
            <a:spLocks noChangeShapeType="1"/>
          </p:cNvSpPr>
          <p:nvPr/>
        </p:nvSpPr>
        <p:spPr bwMode="auto">
          <a:xfrm flipH="1">
            <a:off x="6659563" y="350043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ulse">
  <a:themeElements>
    <a:clrScheme name="Pulse 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000000"/>
      </a:accent4>
      <a:accent5>
        <a:srgbClr val="FFFFFF"/>
      </a:accent5>
      <a:accent6>
        <a:srgbClr val="E7E7E7"/>
      </a:accent6>
      <a:hlink>
        <a:srgbClr val="4D4D4D"/>
      </a:hlink>
      <a:folHlink>
        <a:srgbClr val="868686"/>
      </a:folHlink>
    </a:clrScheme>
    <a:fontScheme name="Puls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ulse 1">
        <a:dk1>
          <a:srgbClr val="000000"/>
        </a:dk1>
        <a:lt1>
          <a:srgbClr val="CCECFF"/>
        </a:lt1>
        <a:dk2>
          <a:srgbClr val="000066"/>
        </a:dk2>
        <a:lt2>
          <a:srgbClr val="6699FF"/>
        </a:lt2>
        <a:accent1>
          <a:srgbClr val="33CCCC"/>
        </a:accent1>
        <a:accent2>
          <a:srgbClr val="0099FF"/>
        </a:accent2>
        <a:accent3>
          <a:srgbClr val="E2F4FF"/>
        </a:accent3>
        <a:accent4>
          <a:srgbClr val="000000"/>
        </a:accent4>
        <a:accent5>
          <a:srgbClr val="ADE2E2"/>
        </a:accent5>
        <a:accent6>
          <a:srgbClr val="008AE7"/>
        </a:accent6>
        <a:hlink>
          <a:srgbClr val="FFFFFF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ulse 2">
        <a:dk1>
          <a:srgbClr val="000000"/>
        </a:dk1>
        <a:lt1>
          <a:srgbClr val="FFFFFF"/>
        </a:lt1>
        <a:dk2>
          <a:srgbClr val="000066"/>
        </a:dk2>
        <a:lt2>
          <a:srgbClr val="FFCC66"/>
        </a:lt2>
        <a:accent1>
          <a:srgbClr val="FF9900"/>
        </a:accent1>
        <a:accent2>
          <a:srgbClr val="000044"/>
        </a:accent2>
        <a:accent3>
          <a:srgbClr val="AAAAB8"/>
        </a:accent3>
        <a:accent4>
          <a:srgbClr val="DADADA"/>
        </a:accent4>
        <a:accent5>
          <a:srgbClr val="FFCAAA"/>
        </a:accent5>
        <a:accent6>
          <a:srgbClr val="00003D"/>
        </a:accent6>
        <a:hlink>
          <a:srgbClr val="3366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uls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AEAEAE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ulse 4">
        <a:dk1>
          <a:srgbClr val="000000"/>
        </a:dk1>
        <a:lt1>
          <a:srgbClr val="FFFFFF"/>
        </a:lt1>
        <a:dk2>
          <a:srgbClr val="660033"/>
        </a:dk2>
        <a:lt2>
          <a:srgbClr val="FFCC66"/>
        </a:lt2>
        <a:accent1>
          <a:srgbClr val="FF9900"/>
        </a:accent1>
        <a:accent2>
          <a:srgbClr val="440022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3D001E"/>
        </a:accent6>
        <a:hlink>
          <a:srgbClr val="B20059"/>
        </a:hlink>
        <a:folHlink>
          <a:srgbClr val="FF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ulse 5">
        <a:dk1>
          <a:srgbClr val="000000"/>
        </a:dk1>
        <a:lt1>
          <a:srgbClr val="FFFFFF"/>
        </a:lt1>
        <a:dk2>
          <a:srgbClr val="663300"/>
        </a:dk2>
        <a:lt2>
          <a:srgbClr val="FFCC66"/>
        </a:lt2>
        <a:accent1>
          <a:srgbClr val="FF9900"/>
        </a:accent1>
        <a:accent2>
          <a:srgbClr val="361B00"/>
        </a:accent2>
        <a:accent3>
          <a:srgbClr val="B8ADAA"/>
        </a:accent3>
        <a:accent4>
          <a:srgbClr val="DADADA"/>
        </a:accent4>
        <a:accent5>
          <a:srgbClr val="FFCAAA"/>
        </a:accent5>
        <a:accent6>
          <a:srgbClr val="301700"/>
        </a:accent6>
        <a:hlink>
          <a:srgbClr val="996633"/>
        </a:hlink>
        <a:folHlink>
          <a:srgbClr val="FF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ulse 6">
        <a:dk1>
          <a:srgbClr val="000000"/>
        </a:dk1>
        <a:lt1>
          <a:srgbClr val="FFFFFF"/>
        </a:lt1>
        <a:dk2>
          <a:srgbClr val="003300"/>
        </a:dk2>
        <a:lt2>
          <a:srgbClr val="FFCC66"/>
        </a:lt2>
        <a:accent1>
          <a:srgbClr val="CC9900"/>
        </a:accent1>
        <a:accent2>
          <a:srgbClr val="001600"/>
        </a:accent2>
        <a:accent3>
          <a:srgbClr val="AAADAA"/>
        </a:accent3>
        <a:accent4>
          <a:srgbClr val="DADADA"/>
        </a:accent4>
        <a:accent5>
          <a:srgbClr val="E2CAAA"/>
        </a:accent5>
        <a:accent6>
          <a:srgbClr val="001300"/>
        </a:accent6>
        <a:hlink>
          <a:srgbClr val="0066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ulse 7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FDFDFD"/>
        </a:accent1>
        <a:accent2>
          <a:srgbClr val="FFFFFF"/>
        </a:accent2>
        <a:accent3>
          <a:srgbClr val="FFFFFF"/>
        </a:accent3>
        <a:accent4>
          <a:srgbClr val="000000"/>
        </a:accent4>
        <a:accent5>
          <a:srgbClr val="FEFEFE"/>
        </a:accent5>
        <a:accent6>
          <a:srgbClr val="E7E7E7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ulse 8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FFFF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E7E7E7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Designs\Artsy.pot</Template>
  <TotalTime>25401</TotalTime>
  <Words>2854</Words>
  <Application>Microsoft Office PowerPoint</Application>
  <PresentationFormat>On-screen Show (4:3)</PresentationFormat>
  <Paragraphs>1003</Paragraphs>
  <Slides>52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Arial Unicode MS</vt:lpstr>
      <vt:lpstr>Consolas</vt:lpstr>
      <vt:lpstr>Courier New</vt:lpstr>
      <vt:lpstr>Symbol</vt:lpstr>
      <vt:lpstr>Times New Roman</vt:lpstr>
      <vt:lpstr>Wingdings</vt:lpstr>
      <vt:lpstr>Pulse</vt:lpstr>
      <vt:lpstr>  CS204 – Advanced Programming   Pointers and Linked Lists Part 1: Basics</vt:lpstr>
      <vt:lpstr>Representation of Data</vt:lpstr>
      <vt:lpstr>Hex Numbers </vt:lpstr>
      <vt:lpstr>Hex Numbers: ctd.</vt:lpstr>
      <vt:lpstr>Memory</vt:lpstr>
      <vt:lpstr>Pointers</vt:lpstr>
      <vt:lpstr>Overview</vt:lpstr>
      <vt:lpstr>Pointers: definition</vt:lpstr>
      <vt:lpstr>Pointers: “address of” operator (&amp;)</vt:lpstr>
      <vt:lpstr>Pointers: dereferencing</vt:lpstr>
      <vt:lpstr>Pointers: assignment</vt:lpstr>
      <vt:lpstr>Pointers: definition (what happens behind the scenes)</vt:lpstr>
      <vt:lpstr>Pointers: address of a variable  (what happens behind the scenes)</vt:lpstr>
      <vt:lpstr>Pointers: dereferencing  (what happens behind the scenes)</vt:lpstr>
      <vt:lpstr>Some Remarks</vt:lpstr>
      <vt:lpstr>Dynamic memory allocation with new</vt:lpstr>
      <vt:lpstr>Pointers and Dynamic Allocation for user-defined types/classes</vt:lpstr>
      <vt:lpstr>Pointer to Class Members</vt:lpstr>
      <vt:lpstr>Dynamic memory allocation with new – Allocating Multiple Variables </vt:lpstr>
      <vt:lpstr>Allocation of multiple variables with new</vt:lpstr>
      <vt:lpstr>Allocation of multiple variables with new</vt:lpstr>
      <vt:lpstr>Manipulation using pointers</vt:lpstr>
      <vt:lpstr>Pointers for Implementing  Linked Data Structures</vt:lpstr>
      <vt:lpstr>Linked Lists</vt:lpstr>
      <vt:lpstr>Linked Lists</vt:lpstr>
      <vt:lpstr>Introduction to linked lists: definition</vt:lpstr>
      <vt:lpstr>Reminder: structs: as data aggregates  see Tapestry Chp. 7 pp. 329-334</vt:lpstr>
      <vt:lpstr>  Structs with constructors </vt:lpstr>
      <vt:lpstr>Introduction to linked lists: adding a node</vt:lpstr>
      <vt:lpstr>Updated node struct with constructor</vt:lpstr>
      <vt:lpstr>Introduction to linked lists: adding a new node</vt:lpstr>
      <vt:lpstr>Introduction to linked lists</vt:lpstr>
      <vt:lpstr>Introduction to linked lists</vt:lpstr>
      <vt:lpstr>Introduction to linked lists</vt:lpstr>
      <vt:lpstr>Linked Lists: Typical Functions</vt:lpstr>
      <vt:lpstr>Linked Lists: Typical Functions</vt:lpstr>
      <vt:lpstr>Linked Lists: building</vt:lpstr>
      <vt:lpstr>Linked Lists: building</vt:lpstr>
      <vt:lpstr>Stack and Heap Scope and Lifetime Extern and Static Variables Freeing Memory Allocated by New</vt:lpstr>
      <vt:lpstr>Static vs. Dynamic Memory Allocation</vt:lpstr>
      <vt:lpstr>Local Variables vs Global Variables</vt:lpstr>
      <vt:lpstr>Extern variables</vt:lpstr>
      <vt:lpstr>Static variables</vt:lpstr>
      <vt:lpstr>Heap/Stack: usage overview</vt:lpstr>
      <vt:lpstr>Heap/Stack </vt:lpstr>
      <vt:lpstr>Pointers: Delete</vt:lpstr>
      <vt:lpstr>Freeing allocated memory with delete</vt:lpstr>
      <vt:lpstr>Pointers to variables on the stack</vt:lpstr>
      <vt:lpstr>Question</vt:lpstr>
      <vt:lpstr>Memory allocation with the new operator Points to be careful for</vt:lpstr>
      <vt:lpstr>Memory allocation with the new operator</vt:lpstr>
      <vt:lpstr>Memory allocation with the new operator</vt:lpstr>
    </vt:vector>
  </TitlesOfParts>
  <Company>SABANCI_UNIV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CS204 – Advanced Programming   Pointers and Linked Lists</dc:title>
  <dc:creator>Albert LEVI</dc:creator>
  <cp:lastModifiedBy>Levi,Albert</cp:lastModifiedBy>
  <cp:revision>943</cp:revision>
  <cp:lastPrinted>2001-03-12T17:10:36Z</cp:lastPrinted>
  <dcterms:created xsi:type="dcterms:W3CDTF">2001-03-12T07:10:52Z</dcterms:created>
  <dcterms:modified xsi:type="dcterms:W3CDTF">2026-03-03T16:46:08Z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2</vt:i4>
  </property>
  <property fmtid="{D5CDD505-2E9C-101B-9397-08002B2CF9AE}" pid="21" name="OutputDir">
    <vt:lpwstr>C:\Cs515public\html</vt:lpwstr>
  </property>
</Properties>
</file>